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requirements.html(HTML 요구사항 명세)과 동일한 3건을 PPT로 재구성한 버전입니다.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REQ-01. requirements.html 의 동일 섹션과 같은 내용(요청 원문·AS-IS/TO-BE·상세 스펙·체크리스트)을 슬라이드 한 장으로 압축했습니다.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REQ-02. requirements.html 의 동일 섹션과 같은 내용(요청 원문·AS-IS/TO-BE·상세 스펙·체크리스트)을 슬라이드 한 장으로 압축했습니다.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REQ-03. requirements.html 의 동일 섹션과 같은 내용(요청 원문·AS-IS/TO-BE·상세 스펙·체크리스트)을 슬라이드 한 장으로 압축했습니다.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종합. 3건의 영향도를 비교하고, 다음 단계와 우선순위(협의 후 기입)를 안내합니다.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68680"/>
            <a:ext cx="4354830" cy="329184"/>
          </a:xfrm>
          <a:prstGeom prst="roundRect">
            <a:avLst>
              <a:gd name="adj" fmla="val 50000"/>
            </a:avLst>
          </a:prstGeom>
          <a:solidFill>
            <a:srgbClr val="142A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868680"/>
            <a:ext cx="43548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제조AI특화 스마트공장 구축지원사업 · 킥오프 회의 논의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고려솔더 제조AI 추가업무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C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요구사항 3건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18211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B9C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킥오프 회의에서 고려솔더가 요청한 신규 업무 3가지를, 요구사항 명세(REQ-01~03) 형태로 정리합니다.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B9C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요구사항은 요청 원문 → AS-IS/TO-BE → 상세 스펙(안) → 확인·결정 필요 사항 순으로 구성됩니다.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617720"/>
            <a:ext cx="3502152" cy="1051560"/>
          </a:xfrm>
          <a:prstGeom prst="roundRect">
            <a:avLst>
              <a:gd name="adj" fmla="val 782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4617720"/>
            <a:ext cx="45720" cy="1051560"/>
          </a:xfrm>
          <a:prstGeom prst="rect">
            <a:avLst/>
          </a:prstGeom>
          <a:solidFill>
            <a:srgbClr val="8FC0E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474573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REQ-01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8096" y="50932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배합비율·재고 현황판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8096" y="536752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C0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영향도 중간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33672" y="4617720"/>
            <a:ext cx="3502152" cy="1051560"/>
          </a:xfrm>
          <a:prstGeom prst="roundRect">
            <a:avLst>
              <a:gd name="adj" fmla="val 782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33672" y="4617720"/>
            <a:ext cx="45720" cy="1051560"/>
          </a:xfrm>
          <a:prstGeom prst="rect">
            <a:avLst/>
          </a:prstGeom>
          <a:solidFill>
            <a:srgbClr val="E2A8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53128" y="474573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REQ-02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53128" y="50932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작업지시서 화면 게시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53128" y="536752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A89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영향도 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18704" y="4617720"/>
            <a:ext cx="3502152" cy="1051560"/>
          </a:xfrm>
          <a:prstGeom prst="roundRect">
            <a:avLst>
              <a:gd name="adj" fmla="val 782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18704" y="4617720"/>
            <a:ext cx="45720" cy="1051560"/>
          </a:xfrm>
          <a:prstGeom prst="rect">
            <a:avLst/>
          </a:prstGeom>
          <a:solidFill>
            <a:srgbClr val="7FDC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474573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REQ-03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38160" y="50932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출고서류 자동 발행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138160" y="536752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FDCC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영향도 작음~중간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0533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6D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08.   |   근거 : 킥오프 회의 논의 · 회의록 4-3 / 5장(5-1~5-3)   |   도입기업 고려솔더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2628900" cy="292608"/>
          </a:xfrm>
          <a:prstGeom prst="roundRect">
            <a:avLst>
              <a:gd name="adj" fmla="val 50000"/>
            </a:avLst>
          </a:prstGeom>
          <a:solidFill>
            <a:srgbClr val="F6E3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9184"/>
            <a:ext cx="2628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요구사항 · 킥오프 회의 논의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859975" y="310896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DBE9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59975" y="3108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50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영향도 중간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94944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REQ-01</a:t>
            </a: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</a:t>
            </a:r>
            <a:pPr indent="0" marL="0">
              <a:buNone/>
            </a:pPr>
            <a:r>
              <a:rPr lang="en-US" sz="2200" b="1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배합비율 모니터링·재고현황 현황판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11094415" cy="621792"/>
          </a:xfrm>
          <a:prstGeom prst="roundRect">
            <a:avLst>
              <a:gd name="adj" fmla="val 13235"/>
            </a:avLst>
          </a:prstGeom>
          <a:solidFill>
            <a:srgbClr val="F4F7FA"/>
          </a:solidFill>
          <a:ln w="9525">
            <a:solidFill>
              <a:srgbClr val="E7EC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261872"/>
            <a:ext cx="54864" cy="621792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71455" y="969264"/>
            <a:ext cx="1188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E0A03A">
                    <a:alpha val="1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841248" y="1344168"/>
            <a:ext cx="105457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고려솔더 요청 원문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1536192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“배합비율 모니터링 및 재고현황을 현황판에 보여줬으면 좋겠다.”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029968"/>
            <a:ext cx="5410048" cy="1481328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9525">
            <a:solidFill>
              <a:srgbClr val="E7EC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29968"/>
            <a:ext cx="54864" cy="1481328"/>
          </a:xfrm>
          <a:prstGeom prst="rect">
            <a:avLst/>
          </a:prstGeom>
          <a:solidFill>
            <a:srgbClr val="8A9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157984"/>
            <a:ext cx="491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99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· 현재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2468880"/>
            <a:ext cx="491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배합비율 추천 결과는 담당자 개별 조회 용도로만 설계되어 있고, 공용 대형화면 게시 기능은 없음</a:t>
            </a:r>
            <a:endParaRPr lang="en-US" sz="100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재고현황은 개별 조회는 가능하나 상시 게시판 형태의 화면은 없음</a:t>
            </a:r>
            <a:endParaRPr lang="en-US" sz="100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원자재 재고 임계치(안전재고 경고 기준) 개념이 현재 설계서에 없음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1481328"/>
          </a:xfrm>
          <a:prstGeom prst="roundRect">
            <a:avLst>
              <a:gd name="adj" fmla="val 5556"/>
            </a:avLst>
          </a:prstGeom>
          <a:solidFill>
            <a:srgbClr val="0E2237"/>
          </a:solidFill>
          <a:ln w="12700">
            <a:solidFill>
              <a:srgbClr val="0E22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3008" y="2029968"/>
            <a:ext cx="54864" cy="1481328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7328" y="2157984"/>
            <a:ext cx="491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· 개선 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07328" y="2468880"/>
            <a:ext cx="491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대시보드 모듈에 “배합·재고 현황판” 전용 화면을 신설해 55″ LCD에 상시 게시</a:t>
            </a:r>
            <a:endParaRPr lang="en-US" sz="100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배합비율·신뢰도, 원자재별 실시간 재고·임계재고 경고, 최근 배합 이력을 표시</a:t>
            </a:r>
            <a:endParaRPr lang="en-US" sz="100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부족으로 인한 생산 차질을 사전에 방지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11094415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B9C6D2"/>
            </a:solidFill>
            <a:prstDash val="solid"/>
          </a:ln>
          <a:effectLst>
            <a:outerShdw sx="100000" sy="100000" kx="0" ky="0" algn="bl" rotWithShape="0" blurRad="127000" dist="38100" dir="5400000">
              <a:srgbClr val="5A6B7D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657600"/>
            <a:ext cx="11094415" cy="329184"/>
          </a:xfrm>
          <a:prstGeom prst="roundRect">
            <a:avLst>
              <a:gd name="adj" fmla="val 25000"/>
            </a:avLst>
          </a:prstGeom>
          <a:solidFill>
            <a:srgbClr val="0E22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904488"/>
            <a:ext cx="11094415" cy="82296"/>
          </a:xfrm>
          <a:prstGeom prst="rect">
            <a:avLst/>
          </a:prstGeom>
          <a:solidFill>
            <a:srgbClr val="0E22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365760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3438144" y="3657600"/>
            <a:ext cx="6144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내용(안)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9838944" y="3657600"/>
            <a:ext cx="16943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9692640" y="3986784"/>
            <a:ext cx="1950415" cy="310896"/>
          </a:xfrm>
          <a:prstGeom prst="rect">
            <a:avLst/>
          </a:prstGeom>
          <a:solidFill>
            <a:srgbClr val="F6E3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" y="398678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현황판 설치 위치·대수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3438144" y="3986784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 : 생산현장 입구 1대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9784080" y="3986784"/>
            <a:ext cx="1767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B85C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694944" y="4297680"/>
            <a:ext cx="10801807" cy="0"/>
          </a:xfrm>
          <a:prstGeom prst="line">
            <a:avLst/>
          </a:prstGeom>
          <a:noFill/>
          <a:ln w="6350">
            <a:solidFill>
              <a:srgbClr val="E7EC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92640" y="4297680"/>
            <a:ext cx="1950415" cy="310896"/>
          </a:xfrm>
          <a:prstGeom prst="rect">
            <a:avLst/>
          </a:prstGeom>
          <a:solidFill>
            <a:srgbClr val="F6E3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" y="429768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갱신 주기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3438144" y="4297680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 : 실시간 또는 1분 주기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9784080" y="4297680"/>
            <a:ext cx="1767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B85C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694944" y="4608576"/>
            <a:ext cx="10801807" cy="0"/>
          </a:xfrm>
          <a:prstGeom prst="line">
            <a:avLst/>
          </a:prstGeom>
          <a:noFill/>
          <a:ln w="6350">
            <a:solidFill>
              <a:srgbClr val="E7ECF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92640" y="4608576"/>
            <a:ext cx="1950415" cy="310896"/>
          </a:xfrm>
          <a:prstGeom prst="rect">
            <a:avLst/>
          </a:prstGeom>
          <a:solidFill>
            <a:srgbClr val="F6E3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" y="460857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표시 원자재 범위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3438144" y="4608576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Sn·Pb·Ag·Cu 4종 전체 게시(안)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9784080" y="4608576"/>
            <a:ext cx="1767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B85C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694944" y="4919472"/>
            <a:ext cx="10801807" cy="0"/>
          </a:xfrm>
          <a:prstGeom prst="line">
            <a:avLst/>
          </a:prstGeom>
          <a:noFill/>
          <a:ln w="6350">
            <a:solidFill>
              <a:srgbClr val="E7ECF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92640" y="4919472"/>
            <a:ext cx="1950415" cy="310896"/>
          </a:xfrm>
          <a:prstGeom prst="rect">
            <a:avLst/>
          </a:prstGeom>
          <a:solidFill>
            <a:srgbClr val="F6E3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" y="491947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경고 기준(임계치)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3438144" y="4919472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원자재별 안전재고 수량 정의 필요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9784080" y="4919472"/>
            <a:ext cx="1767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B85C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3291840" y="3986784"/>
            <a:ext cx="0" cy="1243584"/>
          </a:xfrm>
          <a:prstGeom prst="line">
            <a:avLst/>
          </a:prstGeom>
          <a:noFill/>
          <a:ln w="6350">
            <a:solidFill>
              <a:srgbClr val="E7ECF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92640" y="3986784"/>
            <a:ext cx="0" cy="1243584"/>
          </a:xfrm>
          <a:prstGeom prst="line">
            <a:avLst/>
          </a:prstGeom>
          <a:noFill/>
          <a:ln w="6350">
            <a:solidFill>
              <a:srgbClr val="E7ECF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" y="5376672"/>
            <a:ext cx="11094415" cy="841248"/>
          </a:xfrm>
          <a:prstGeom prst="roundRect">
            <a:avLst>
              <a:gd name="adj" fmla="val 9783"/>
            </a:avLst>
          </a:prstGeom>
          <a:solidFill>
            <a:srgbClr val="F6E3C0"/>
          </a:solidFill>
          <a:ln w="9525">
            <a:solidFill>
              <a:srgbClr val="E0A0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4672" y="5449824"/>
            <a:ext cx="105823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결정 필요 사항</a:t>
            </a:r>
            <a:endParaRPr lang="en-US" sz="1080" dirty="0"/>
          </a:p>
        </p:txBody>
      </p:sp>
      <p:sp>
        <p:nvSpPr>
          <p:cNvPr id="49" name="Text 47"/>
          <p:cNvSpPr/>
          <p:nvPr/>
        </p:nvSpPr>
        <p:spPr>
          <a:xfrm>
            <a:off x="804672" y="5614416"/>
            <a:ext cx="5154016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현황판 설치 위치·대수 확정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4672" y="5791200"/>
            <a:ext cx="5154016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갱신 주기 확정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04672" y="5967984"/>
            <a:ext cx="5154016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재고 임계치(안전재고) 기준 확정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33008" y="5614416"/>
            <a:ext cx="5154016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화면 레이아웃(좌우/상하) 확정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33008" y="5791200"/>
            <a:ext cx="5154016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사업비 산출내역서 FP산정리스트 반영 여부 확인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48640" y="6318504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연계 모듈  </a:t>
            </a:r>
            <a:pPr indent="0" marL="0">
              <a:buNone/>
            </a:pPr>
            <a:r>
              <a:rPr lang="en-US" sz="88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대시보드(신규 화면) · 성분분석관리 · 입고보관관리 · 데이터 허브관리</a:t>
            </a:r>
            <a:endParaRPr lang="en-US" sz="880" dirty="0"/>
          </a:p>
        </p:txBody>
      </p:sp>
      <p:sp>
        <p:nvSpPr>
          <p:cNvPr id="55" name="Text 53"/>
          <p:cNvSpPr/>
          <p:nvPr/>
        </p:nvSpPr>
        <p:spPr>
          <a:xfrm>
            <a:off x="1118585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2628900" cy="292608"/>
          </a:xfrm>
          <a:prstGeom prst="roundRect">
            <a:avLst>
              <a:gd name="adj" fmla="val 50000"/>
            </a:avLst>
          </a:prstGeom>
          <a:solidFill>
            <a:srgbClr val="F6E3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9184"/>
            <a:ext cx="2628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요구사항 · 킥오프 회의 논의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859975" y="310896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F6DD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59975" y="3108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2F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영향도 큼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94944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REQ-02</a:t>
            </a: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</a:t>
            </a:r>
            <a:pPr indent="0" marL="0">
              <a:buNone/>
            </a:pPr>
            <a:r>
              <a:rPr lang="en-US" sz="2200" b="1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일일 작업지시서 화면 게시 (역할별)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11094415" cy="621792"/>
          </a:xfrm>
          <a:prstGeom prst="roundRect">
            <a:avLst>
              <a:gd name="adj" fmla="val 13235"/>
            </a:avLst>
          </a:prstGeom>
          <a:solidFill>
            <a:srgbClr val="F4F7FA"/>
          </a:solidFill>
          <a:ln w="9525">
            <a:solidFill>
              <a:srgbClr val="E7EC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261872"/>
            <a:ext cx="54864" cy="621792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71455" y="969264"/>
            <a:ext cx="1188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E0A03A">
                    <a:alpha val="1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841248" y="1344168"/>
            <a:ext cx="105457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고려솔더 요청 원문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1536192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“매일 작업지시서를 화면에 띄워줘. 각 역할별로 보여주면 좋겠다.”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029968"/>
            <a:ext cx="5410048" cy="1481328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9525">
            <a:solidFill>
              <a:srgbClr val="E7EC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29968"/>
            <a:ext cx="54864" cy="1481328"/>
          </a:xfrm>
          <a:prstGeom prst="rect">
            <a:avLst/>
          </a:prstGeom>
          <a:solidFill>
            <a:srgbClr val="8A9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157984"/>
            <a:ext cx="491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99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· 현재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2468880"/>
            <a:ext cx="491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작업지시는 시스템화되어 있지 않고, 현장에서 구두·수기 문서로 전달되는 것으로 추정(확인 필요)</a:t>
            </a:r>
            <a:endParaRPr lang="en-US" sz="100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작업조건관리 기능은 “공정 조건 기준”을 다루지만, “오늘 무엇을 얼마나 생산하는지”를 지시하는 기능은 없음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1481328"/>
          </a:xfrm>
          <a:prstGeom prst="roundRect">
            <a:avLst>
              <a:gd name="adj" fmla="val 5556"/>
            </a:avLst>
          </a:prstGeom>
          <a:solidFill>
            <a:srgbClr val="0E2237"/>
          </a:solidFill>
          <a:ln w="12700">
            <a:solidFill>
              <a:srgbClr val="0E22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3008" y="2029968"/>
            <a:ext cx="54864" cy="1481328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7328" y="2157984"/>
            <a:ext cx="491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· 개선 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07328" y="2468880"/>
            <a:ext cx="491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공정관리 모듈에 “작업지시관리”(가칭) 기능 신설</a:t>
            </a:r>
            <a:endParaRPr lang="en-US" sz="100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생성되는 작업지시서를 역할(공정)별로 구분해 현장 화면에 자동 게시</a:t>
            </a:r>
            <a:endParaRPr lang="en-US" sz="100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담당자는 로그인한 화면에서 본인 담당 공정의 작업지시만 확인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11094415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B9C6D2"/>
            </a:solidFill>
            <a:prstDash val="solid"/>
          </a:ln>
          <a:effectLst>
            <a:outerShdw sx="100000" sy="100000" kx="0" ky="0" algn="bl" rotWithShape="0" blurRad="127000" dist="38100" dir="5400000">
              <a:srgbClr val="5A6B7D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657600"/>
            <a:ext cx="11094415" cy="329184"/>
          </a:xfrm>
          <a:prstGeom prst="roundRect">
            <a:avLst>
              <a:gd name="adj" fmla="val 25000"/>
            </a:avLst>
          </a:prstGeom>
          <a:solidFill>
            <a:srgbClr val="0E22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904488"/>
            <a:ext cx="11094415" cy="82296"/>
          </a:xfrm>
          <a:prstGeom prst="rect">
            <a:avLst/>
          </a:prstGeom>
          <a:solidFill>
            <a:srgbClr val="0E22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365760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3438144" y="3657600"/>
            <a:ext cx="6144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내용(안)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9838944" y="3657600"/>
            <a:ext cx="16943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9692640" y="3986784"/>
            <a:ext cx="1950415" cy="310896"/>
          </a:xfrm>
          <a:prstGeom prst="rect">
            <a:avLst/>
          </a:prstGeom>
          <a:solidFill>
            <a:srgbClr val="F6E3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" y="398678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작업지시서 생성 주체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3438144" y="3986784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 입력 또는 ERP 생산계획 연계 자동 생성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9784080" y="3986784"/>
            <a:ext cx="1767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B85C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694944" y="4297680"/>
            <a:ext cx="10801807" cy="0"/>
          </a:xfrm>
          <a:prstGeom prst="line">
            <a:avLst/>
          </a:prstGeom>
          <a:noFill/>
          <a:ln w="6350">
            <a:solidFill>
              <a:srgbClr val="E7EC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92640" y="4297680"/>
            <a:ext cx="1950415" cy="310896"/>
          </a:xfrm>
          <a:prstGeom prst="rect">
            <a:avLst/>
          </a:prstGeom>
          <a:solidFill>
            <a:srgbClr val="F6E3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" y="429768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작업지시서 포함 항목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3438144" y="4297680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 품목·목표 수량·배합비율·담당 공정·작업조건 기준 등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9784080" y="4297680"/>
            <a:ext cx="1767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B85C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694944" y="4608576"/>
            <a:ext cx="10801807" cy="0"/>
          </a:xfrm>
          <a:prstGeom prst="line">
            <a:avLst/>
          </a:prstGeom>
          <a:noFill/>
          <a:ln w="6350">
            <a:solidFill>
              <a:srgbClr val="E7ECF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92640" y="4608576"/>
            <a:ext cx="1950415" cy="310896"/>
          </a:xfrm>
          <a:prstGeom prst="rect">
            <a:avLst/>
          </a:prstGeom>
          <a:solidFill>
            <a:srgbClr val="F6E3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" y="460857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 구분 기준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3438144" y="4608576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8개 공정별 또는 직무별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9784080" y="4608576"/>
            <a:ext cx="1767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B85C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694944" y="4919472"/>
            <a:ext cx="10801807" cy="0"/>
          </a:xfrm>
          <a:prstGeom prst="line">
            <a:avLst/>
          </a:prstGeom>
          <a:noFill/>
          <a:ln w="6350">
            <a:solidFill>
              <a:srgbClr val="E7ECF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92640" y="4919472"/>
            <a:ext cx="1950415" cy="310896"/>
          </a:xfrm>
          <a:prstGeom prst="rect">
            <a:avLst/>
          </a:prstGeom>
          <a:solidFill>
            <a:srgbClr val="F6E3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" y="491947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 화면(단말)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3438144" y="4919472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Panel PC / Smart Pad / 관리자 Web 중 선정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9784080" y="4919472"/>
            <a:ext cx="1767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B85C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3291840" y="3986784"/>
            <a:ext cx="0" cy="1243584"/>
          </a:xfrm>
          <a:prstGeom prst="line">
            <a:avLst/>
          </a:prstGeom>
          <a:noFill/>
          <a:ln w="6350">
            <a:solidFill>
              <a:srgbClr val="E7ECF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92640" y="3986784"/>
            <a:ext cx="0" cy="1243584"/>
          </a:xfrm>
          <a:prstGeom prst="line">
            <a:avLst/>
          </a:prstGeom>
          <a:noFill/>
          <a:ln w="6350">
            <a:solidFill>
              <a:srgbClr val="E7ECF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" y="5376672"/>
            <a:ext cx="11094415" cy="841248"/>
          </a:xfrm>
          <a:prstGeom prst="roundRect">
            <a:avLst>
              <a:gd name="adj" fmla="val 9783"/>
            </a:avLst>
          </a:prstGeom>
          <a:solidFill>
            <a:srgbClr val="F6E3C0"/>
          </a:solidFill>
          <a:ln w="9525">
            <a:solidFill>
              <a:srgbClr val="E0A0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4672" y="5449824"/>
            <a:ext cx="105823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결정 필요 사항</a:t>
            </a:r>
            <a:endParaRPr lang="en-US" sz="1080" dirty="0"/>
          </a:p>
        </p:txBody>
      </p:sp>
      <p:sp>
        <p:nvSpPr>
          <p:cNvPr id="49" name="Text 47"/>
          <p:cNvSpPr/>
          <p:nvPr/>
        </p:nvSpPr>
        <p:spPr>
          <a:xfrm>
            <a:off x="804672" y="5614416"/>
            <a:ext cx="5154016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작업지시서 생성 방식(수동/자동) 확정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4672" y="5791200"/>
            <a:ext cx="5154016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포함 항목 확정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04672" y="5967984"/>
            <a:ext cx="5154016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역할 구분 기준 확정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33008" y="5614416"/>
            <a:ext cx="5154016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게시 화면(단말) 확정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33008" y="5791200"/>
            <a:ext cx="5154016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신규 FP 산정 및 추가 계약 범위 협의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48640" y="6318504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연계 모듈  </a:t>
            </a:r>
            <a:pPr indent="0" marL="0">
              <a:buNone/>
            </a:pPr>
            <a:r>
              <a:rPr lang="en-US" sz="88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공정관리(신규) · 기준정보관리 · 사용자/시스템관리 · AI Agent 통합관리</a:t>
            </a:r>
            <a:endParaRPr lang="en-US" sz="880" dirty="0"/>
          </a:p>
        </p:txBody>
      </p:sp>
      <p:sp>
        <p:nvSpPr>
          <p:cNvPr id="55" name="Text 53"/>
          <p:cNvSpPr/>
          <p:nvPr/>
        </p:nvSpPr>
        <p:spPr>
          <a:xfrm>
            <a:off x="1118585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2628900" cy="292608"/>
          </a:xfrm>
          <a:prstGeom prst="roundRect">
            <a:avLst>
              <a:gd name="adj" fmla="val 50000"/>
            </a:avLst>
          </a:prstGeom>
          <a:solidFill>
            <a:srgbClr val="F6E3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9184"/>
            <a:ext cx="26289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요구사항 · 킥오프 회의 논의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859975" y="310896"/>
            <a:ext cx="1783080" cy="329184"/>
          </a:xfrm>
          <a:prstGeom prst="roundRect">
            <a:avLst>
              <a:gd name="adj" fmla="val 50000"/>
            </a:avLst>
          </a:prstGeom>
          <a:solidFill>
            <a:srgbClr val="DCF1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59975" y="3108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F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영향도 작음~중간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94944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REQ-03</a:t>
            </a:r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</a:t>
            </a:r>
            <a:pPr indent="0" marL="0">
              <a:buNone/>
            </a:pPr>
            <a:r>
              <a:rPr lang="en-US" sz="2200" b="1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출하 시 출고서류 자동 발행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261872"/>
            <a:ext cx="11094415" cy="621792"/>
          </a:xfrm>
          <a:prstGeom prst="roundRect">
            <a:avLst>
              <a:gd name="adj" fmla="val 13235"/>
            </a:avLst>
          </a:prstGeom>
          <a:solidFill>
            <a:srgbClr val="F4F7FA"/>
          </a:solidFill>
          <a:ln w="9525">
            <a:solidFill>
              <a:srgbClr val="E7EC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261872"/>
            <a:ext cx="54864" cy="621792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71455" y="969264"/>
            <a:ext cx="1188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E0A03A">
                    <a:alpha val="18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”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841248" y="1344168"/>
            <a:ext cx="105457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고려솔더 요청 원문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1536192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“출하 시 출고서류를 자동으로 뽑아주면 좋겠다.”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029968"/>
            <a:ext cx="5410048" cy="1481328"/>
          </a:xfrm>
          <a:prstGeom prst="roundRect">
            <a:avLst>
              <a:gd name="adj" fmla="val 5556"/>
            </a:avLst>
          </a:prstGeom>
          <a:solidFill>
            <a:srgbClr val="F4F7FA"/>
          </a:solidFill>
          <a:ln w="9525">
            <a:solidFill>
              <a:srgbClr val="E7EC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29968"/>
            <a:ext cx="54864" cy="1481328"/>
          </a:xfrm>
          <a:prstGeom prst="rect">
            <a:avLst/>
          </a:prstGeom>
          <a:solidFill>
            <a:srgbClr val="8A9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157984"/>
            <a:ext cx="491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99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· 현재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2468880"/>
            <a:ext cx="491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출하 정보는 수기·Excel로 관리되며, 출고서류도 수작업으로 작성되는 것으로 추정(확인 필요)</a:t>
            </a:r>
            <a:endParaRPr lang="en-US" sz="100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연계 방식(API/DB연동/Excel)이 아직 미확정 — 서류 자동화와 직결되는 선행 사안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1481328"/>
          </a:xfrm>
          <a:prstGeom prst="roundRect">
            <a:avLst>
              <a:gd name="adj" fmla="val 5556"/>
            </a:avLst>
          </a:prstGeom>
          <a:solidFill>
            <a:srgbClr val="0E2237"/>
          </a:solidFill>
          <a:ln w="12700">
            <a:solidFill>
              <a:srgbClr val="0E22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33008" y="2029968"/>
            <a:ext cx="54864" cy="1481328"/>
          </a:xfrm>
          <a:prstGeom prst="rect">
            <a:avLst/>
          </a:prstGeom>
          <a:solidFill>
            <a:srgbClr val="E0A0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7328" y="2157984"/>
            <a:ext cx="491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· 개선 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07328" y="2468880"/>
            <a:ext cx="491627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출하 승인이 완료되는 시점에 시스템이 출고서류를 자동 생성</a:t>
            </a:r>
            <a:endParaRPr lang="en-US" sz="1000" dirty="0"/>
          </a:p>
          <a:p>
            <a:pPr marL="342900" indent="-342900">
              <a:lnSpc>
                <a:spcPts val="1350"/>
              </a:lnSpc>
              <a:spcAft>
                <a:spcPts val="500"/>
              </a:spcAft>
              <a:buSzPct val="100000"/>
              <a:buChar char="–"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포장 시점의 바코드·중량 데이터가 출고서류에 자동 반영되는 구조를 지향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11094415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9525">
            <a:solidFill>
              <a:srgbClr val="B9C6D2"/>
            </a:solidFill>
            <a:prstDash val="solid"/>
          </a:ln>
          <a:effectLst>
            <a:outerShdw sx="100000" sy="100000" kx="0" ky="0" algn="bl" rotWithShape="0" blurRad="127000" dist="38100" dir="5400000">
              <a:srgbClr val="5A6B7D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657600"/>
            <a:ext cx="11094415" cy="329184"/>
          </a:xfrm>
          <a:prstGeom prst="roundRect">
            <a:avLst>
              <a:gd name="adj" fmla="val 25000"/>
            </a:avLst>
          </a:prstGeom>
          <a:solidFill>
            <a:srgbClr val="0E22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904488"/>
            <a:ext cx="11094415" cy="82296"/>
          </a:xfrm>
          <a:prstGeom prst="rect">
            <a:avLst/>
          </a:prstGeom>
          <a:solidFill>
            <a:srgbClr val="0E22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365760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3438144" y="3657600"/>
            <a:ext cx="6144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내용(안)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9838944" y="3657600"/>
            <a:ext cx="169438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9692640" y="3986784"/>
            <a:ext cx="1950415" cy="310896"/>
          </a:xfrm>
          <a:prstGeom prst="rect">
            <a:avLst/>
          </a:prstGeom>
          <a:solidFill>
            <a:srgbClr val="F6E3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" y="398678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출고서류 종류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3438144" y="3986784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거래명세서 / 출하증명서 / 품질성적서 등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9784080" y="3986784"/>
            <a:ext cx="1767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B85C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694944" y="4297680"/>
            <a:ext cx="10801807" cy="0"/>
          </a:xfrm>
          <a:prstGeom prst="line">
            <a:avLst/>
          </a:prstGeom>
          <a:noFill/>
          <a:ln w="6350">
            <a:solidFill>
              <a:srgbClr val="E7EC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92640" y="4297680"/>
            <a:ext cx="1950415" cy="310896"/>
          </a:xfrm>
          <a:prstGeom prst="rect">
            <a:avLst/>
          </a:prstGeom>
          <a:solidFill>
            <a:srgbClr val="F6E3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" y="429768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서류 양식</a:t>
            </a:r>
            <a:endParaRPr lang="en-US" sz="980" dirty="0"/>
          </a:p>
        </p:txBody>
      </p:sp>
      <p:sp>
        <p:nvSpPr>
          <p:cNvPr id="33" name="Text 31"/>
          <p:cNvSpPr/>
          <p:nvPr/>
        </p:nvSpPr>
        <p:spPr>
          <a:xfrm>
            <a:off x="3438144" y="4297680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ERP 양식 재사용 여부(ERP 연계 방식 확정과 연동)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9784080" y="4297680"/>
            <a:ext cx="1767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B85C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694944" y="4608576"/>
            <a:ext cx="10801807" cy="0"/>
          </a:xfrm>
          <a:prstGeom prst="line">
            <a:avLst/>
          </a:prstGeom>
          <a:noFill/>
          <a:ln w="6350">
            <a:solidFill>
              <a:srgbClr val="E7ECF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92640" y="4608576"/>
            <a:ext cx="1950415" cy="310896"/>
          </a:xfrm>
          <a:prstGeom prst="rect">
            <a:avLst/>
          </a:prstGeom>
          <a:solidFill>
            <a:srgbClr val="F6E3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" y="460857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발행 방식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3438144" y="4608576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인쇄 / PDF 다운로드 / 이메일 발송</a:t>
            </a:r>
            <a:endParaRPr lang="en-US" sz="980" dirty="0"/>
          </a:p>
        </p:txBody>
      </p:sp>
      <p:sp>
        <p:nvSpPr>
          <p:cNvPr id="39" name="Text 37"/>
          <p:cNvSpPr/>
          <p:nvPr/>
        </p:nvSpPr>
        <p:spPr>
          <a:xfrm>
            <a:off x="9784080" y="4608576"/>
            <a:ext cx="1767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B85C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694944" y="4919472"/>
            <a:ext cx="10801807" cy="0"/>
          </a:xfrm>
          <a:prstGeom prst="line">
            <a:avLst/>
          </a:prstGeom>
          <a:noFill/>
          <a:ln w="6350">
            <a:solidFill>
              <a:srgbClr val="E7ECF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92640" y="4919472"/>
            <a:ext cx="1950415" cy="310896"/>
          </a:xfrm>
          <a:prstGeom prst="rect">
            <a:avLst/>
          </a:prstGeom>
          <a:solidFill>
            <a:srgbClr val="F6E3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" y="491947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바코드·중량 연동 범위</a:t>
            </a:r>
            <a:endParaRPr lang="en-US" sz="980" dirty="0"/>
          </a:p>
        </p:txBody>
      </p:sp>
      <p:sp>
        <p:nvSpPr>
          <p:cNvPr id="43" name="Text 41"/>
          <p:cNvSpPr/>
          <p:nvPr/>
        </p:nvSpPr>
        <p:spPr>
          <a:xfrm>
            <a:off x="3438144" y="4919472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포장 시점 바코드·중량 데이터를 서류에 자동 반영하는 범위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9784080" y="4919472"/>
            <a:ext cx="1767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B85C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3291840" y="3986784"/>
            <a:ext cx="0" cy="1243584"/>
          </a:xfrm>
          <a:prstGeom prst="line">
            <a:avLst/>
          </a:prstGeom>
          <a:noFill/>
          <a:ln w="6350">
            <a:solidFill>
              <a:srgbClr val="E7ECF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92640" y="3986784"/>
            <a:ext cx="0" cy="1243584"/>
          </a:xfrm>
          <a:prstGeom prst="line">
            <a:avLst/>
          </a:prstGeom>
          <a:noFill/>
          <a:ln w="6350">
            <a:solidFill>
              <a:srgbClr val="E7ECF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" y="5376672"/>
            <a:ext cx="11094415" cy="841248"/>
          </a:xfrm>
          <a:prstGeom prst="roundRect">
            <a:avLst>
              <a:gd name="adj" fmla="val 9783"/>
            </a:avLst>
          </a:prstGeom>
          <a:solidFill>
            <a:srgbClr val="F6E3C0"/>
          </a:solidFill>
          <a:ln w="9525">
            <a:solidFill>
              <a:srgbClr val="E0A0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4672" y="5449824"/>
            <a:ext cx="105823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· 결정 필요 사항</a:t>
            </a:r>
            <a:endParaRPr lang="en-US" sz="1080" dirty="0"/>
          </a:p>
        </p:txBody>
      </p:sp>
      <p:sp>
        <p:nvSpPr>
          <p:cNvPr id="49" name="Text 47"/>
          <p:cNvSpPr/>
          <p:nvPr/>
        </p:nvSpPr>
        <p:spPr>
          <a:xfrm>
            <a:off x="804672" y="5614416"/>
            <a:ext cx="5154016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출고서류 종류·양식 확정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04672" y="5791200"/>
            <a:ext cx="5154016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ERP 연계 방식 확정(선행 과제)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04672" y="5967984"/>
            <a:ext cx="5154016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서류 포함 데이터 항목 확정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233008" y="5614416"/>
            <a:ext cx="5154016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발행 방식(인쇄/PDF/이메일) 확정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33008" y="5791200"/>
            <a:ext cx="5154016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 바코드·중량 연동 범위 확정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48640" y="6318504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연계 모듈  </a:t>
            </a:r>
            <a:pPr indent="0" marL="0">
              <a:buNone/>
            </a:pPr>
            <a:r>
              <a:rPr lang="en-US" sz="88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포장출하관리(확장) · 데이터 허브관리 · 시스템 연계(ERP 연계 인터페이스)</a:t>
            </a:r>
            <a:endParaRPr lang="en-US" sz="880" dirty="0"/>
          </a:p>
        </p:txBody>
      </p:sp>
      <p:sp>
        <p:nvSpPr>
          <p:cNvPr id="55" name="Text 53"/>
          <p:cNvSpPr/>
          <p:nvPr/>
        </p:nvSpPr>
        <p:spPr>
          <a:xfrm>
            <a:off x="1118585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1257300" cy="292608"/>
          </a:xfrm>
          <a:prstGeom prst="roundRect">
            <a:avLst>
              <a:gd name="adj" fmla="val 50000"/>
            </a:avLst>
          </a:prstGeom>
          <a:solidFill>
            <a:srgbClr val="F6E3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9184"/>
            <a:ext cx="12573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9174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· 다음 단계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298448"/>
            <a:ext cx="11094415" cy="170078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9525">
            <a:solidFill>
              <a:srgbClr val="B9C6D2"/>
            </a:solidFill>
            <a:prstDash val="solid"/>
          </a:ln>
          <a:effectLst>
            <a:outerShdw sx="100000" sy="100000" kx="0" ky="0" algn="bl" rotWithShape="0" blurRad="127000" dist="38100" dir="5400000">
              <a:srgbClr val="5A6B7D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98448"/>
            <a:ext cx="11094415" cy="384048"/>
          </a:xfrm>
          <a:prstGeom prst="roundRect">
            <a:avLst>
              <a:gd name="adj" fmla="val 21429"/>
            </a:avLst>
          </a:prstGeom>
          <a:solidFill>
            <a:srgbClr val="0E22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11094415" cy="82296"/>
          </a:xfrm>
          <a:prstGeom prst="rect">
            <a:avLst/>
          </a:prstGeom>
          <a:solidFill>
            <a:srgbClr val="0E22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29844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2267712" y="1298448"/>
            <a:ext cx="4736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설계 대비 성격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296912" y="1298448"/>
            <a:ext cx="42181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영향도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713232" y="1682496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REQ-01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267712" y="1682496"/>
            <a:ext cx="4736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배합비율·재고 현황판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8519008" y="17556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DBE9F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19008" y="17556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450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영향도 중간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13232" y="2121408"/>
            <a:ext cx="10765231" cy="0"/>
          </a:xfrm>
          <a:prstGeom prst="line">
            <a:avLst/>
          </a:prstGeom>
          <a:noFill/>
          <a:ln w="6350">
            <a:solidFill>
              <a:srgbClr val="E7EC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2121408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REQ-02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2267712" y="2121408"/>
            <a:ext cx="4736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작업지시서 화면 게시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8519008" y="219456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6DD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19008" y="21945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2F2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영향도 큼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3232" y="2560320"/>
            <a:ext cx="10765231" cy="0"/>
          </a:xfrm>
          <a:prstGeom prst="line">
            <a:avLst/>
          </a:prstGeom>
          <a:noFill/>
          <a:ln w="6350">
            <a:solidFill>
              <a:srgbClr val="E7EC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2560320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REQ-03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2267712" y="2560320"/>
            <a:ext cx="4736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출고서류 자동 발행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8519008" y="263347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DCF1E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19008" y="26334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F6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영향도 작음~중간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103120" y="1682496"/>
            <a:ext cx="0" cy="1316736"/>
          </a:xfrm>
          <a:prstGeom prst="line">
            <a:avLst/>
          </a:prstGeom>
          <a:noFill/>
          <a:ln w="6350">
            <a:solidFill>
              <a:srgbClr val="E7EC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0" y="1682496"/>
            <a:ext cx="0" cy="1316736"/>
          </a:xfrm>
          <a:prstGeom prst="line">
            <a:avLst/>
          </a:prstGeom>
          <a:noFill/>
          <a:ln w="6350">
            <a:solidFill>
              <a:srgbClr val="E7EC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291840"/>
            <a:ext cx="5486400" cy="3108960"/>
          </a:xfrm>
          <a:prstGeom prst="roundRect">
            <a:avLst>
              <a:gd name="adj" fmla="val 2647"/>
            </a:avLst>
          </a:prstGeom>
          <a:solidFill>
            <a:srgbClr val="0E2237"/>
          </a:solidFill>
          <a:ln w="12700">
            <a:solidFill>
              <a:srgbClr val="0E2237"/>
            </a:solidFill>
            <a:prstDash val="solid"/>
          </a:ln>
          <a:effectLst>
            <a:outerShdw sx="100000" sy="100000" kx="0" ky="0" algn="bl" rotWithShape="0" blurRad="127000" dist="38100" dir="5400000">
              <a:srgbClr val="5A6B7D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34564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22960" y="3785616"/>
            <a:ext cx="310896" cy="310896"/>
          </a:xfrm>
          <a:prstGeom prst="ellipse">
            <a:avLst/>
          </a:prstGeom>
          <a:solidFill>
            <a:srgbClr val="071522"/>
          </a:solidFill>
          <a:ln w="15875">
            <a:solidFill>
              <a:srgbClr val="E0A03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25296" y="3758184"/>
            <a:ext cx="453542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필요 항목을 고려솔더·공급기업 협의로 확정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2960" y="4430268"/>
            <a:ext cx="310896" cy="310896"/>
          </a:xfrm>
          <a:prstGeom prst="ellipse">
            <a:avLst/>
          </a:prstGeom>
          <a:solidFill>
            <a:srgbClr val="071522"/>
          </a:solidFill>
          <a:ln w="15875">
            <a:solidFill>
              <a:srgbClr val="E0A0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4302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25296" y="4402836"/>
            <a:ext cx="453542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 내용을 SF-AD2 요구사항정의서에 신규 요구사항으로 추가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2960" y="5074920"/>
            <a:ext cx="310896" cy="310896"/>
          </a:xfrm>
          <a:prstGeom prst="ellipse">
            <a:avLst/>
          </a:prstGeom>
          <a:solidFill>
            <a:srgbClr val="071522"/>
          </a:solidFill>
          <a:ln w="15875">
            <a:solidFill>
              <a:srgbClr val="E0A0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074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25296" y="5047488"/>
            <a:ext cx="453542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SF-AD3 기능대비표에 신규·변경 항목 반영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2960" y="5719572"/>
            <a:ext cx="310896" cy="310896"/>
          </a:xfrm>
          <a:prstGeom prst="ellipse">
            <a:avLst/>
          </a:prstGeom>
          <a:solidFill>
            <a:srgbClr val="071522"/>
          </a:solidFill>
          <a:ln w="15875">
            <a:solidFill>
              <a:srgbClr val="E0A03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57195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A0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225296" y="5692140"/>
            <a:ext cx="4535424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FP 산정 및 사업비 영향 협의 (REQ-02 영향 가장 큼)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45936" y="3291840"/>
            <a:ext cx="5297119" cy="3108960"/>
          </a:xfrm>
          <a:prstGeom prst="roundRect">
            <a:avLst>
              <a:gd name="adj" fmla="val 2647"/>
            </a:avLst>
          </a:prstGeom>
          <a:solidFill>
            <a:srgbClr val="F6E3C0"/>
          </a:solidFill>
          <a:ln w="9525">
            <a:solidFill>
              <a:srgbClr val="E0A0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3438144"/>
            <a:ext cx="4821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(협의 후 기입)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583680" y="3803904"/>
            <a:ext cx="48216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1순위  —  ________________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583680" y="4187952"/>
            <a:ext cx="48216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2순위  —  ________________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583680" y="4572000"/>
            <a:ext cx="48216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3순위  —  ________________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583680" y="6016752"/>
            <a:ext cx="482163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E22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관련 상세 문서 : 고려솔더_추가업무_분석기획서_v0.1.docx / 요구사항 명세(HTML)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48640" y="6528816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: 2026-08 고려솔더 제조AI 킥오프 회의 논의(요청사항 3가지) · 킥오프 회의록 4-3 / 5장(5-1~5-3)  ※ “확인 필요” 항목은 협의로 확정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1185855" y="6528816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8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고려솔더 제조AI 추가업무 — 신규 요구사항 3건</dc:title>
  <dc:subject>PptxGenJS Presentation</dc:subject>
  <dc:creator>고려솔더 제조AI 구축 TF</dc:creator>
  <cp:lastModifiedBy>고려솔더 제조AI 구축 TF</cp:lastModifiedBy>
  <cp:revision>1</cp:revision>
  <dcterms:created xsi:type="dcterms:W3CDTF">2026-08-30T07:41:57Z</dcterms:created>
  <dcterms:modified xsi:type="dcterms:W3CDTF">2026-08-30T07:41:57Z</dcterms:modified>
</cp:coreProperties>
</file>