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10058400" cy="274320"/>
          </a:xfrm>
          <a:prstGeom prst="rect">
            <a:avLst/>
          </a:prstGeom>
          <a:noFill/>
        </p:spPr>
        <p:txBody>
          <a:bodyPr wrap="square" lIns="0" rIns="0" tIns="0" bIns="0" anchor="t">
            <a:spAutoFit/>
          </a:bodyPr>
          <a:lstStyle/>
          <a:p>
            <a:pPr algn="l">
              <a:spcAft>
                <a:spcPts val="0"/>
              </a:spcAft>
            </a:pPr>
            <a:r>
              <a:rPr sz="1200" b="1">
                <a:solidFill>
                  <a:srgbClr val="FFFFFF"/>
                </a:solidFill>
                <a:latin typeface="맑은 고딕"/>
                <a:ea typeface="맑은 고딕"/>
                <a:cs typeface="맑은 고딕"/>
              </a:rPr>
              <a:t>제조AI특화 스마트공장 구축지원사업(AI공장 구축)  |  과제번호 미확인 — 담당자 확인 필요 (사업계획서 표지 '과제번호' 공란)</a:t>
            </a:r>
          </a:p>
        </p:txBody>
      </p:sp>
      <p:sp>
        <p:nvSpPr>
          <p:cNvPr id="6" name="TextBox 5"/>
          <p:cNvSpPr txBox="1"/>
          <p:nvPr/>
        </p:nvSpPr>
        <p:spPr>
          <a:xfrm>
            <a:off x="822960" y="1810512"/>
            <a:ext cx="10515600" cy="384048"/>
          </a:xfrm>
          <a:prstGeom prst="rect">
            <a:avLst/>
          </a:prstGeom>
          <a:noFill/>
        </p:spPr>
        <p:txBody>
          <a:bodyPr wrap="square" lIns="0" rIns="0" tIns="0" bIns="0" anchor="t">
            <a:spAutoFit/>
          </a:bodyPr>
          <a:lstStyle/>
          <a:p>
            <a:pPr algn="l">
              <a:spcAft>
                <a:spcPts val="0"/>
              </a:spcAft>
            </a:pPr>
            <a:r>
              <a:rPr sz="2200" b="0">
                <a:solidFill>
                  <a:srgbClr val="C3D8F3"/>
                </a:solidFill>
                <a:latin typeface="맑은 고딕"/>
                <a:ea typeface="맑은 고딕"/>
                <a:cs typeface="맑은 고딕"/>
              </a:rPr>
              <a:t>고려솔더</a:t>
            </a:r>
          </a:p>
        </p:txBody>
      </p:sp>
      <p:sp>
        <p:nvSpPr>
          <p:cNvPr id="7" name="TextBox 6"/>
          <p:cNvSpPr txBox="1"/>
          <p:nvPr/>
        </p:nvSpPr>
        <p:spPr>
          <a:xfrm>
            <a:off x="822960" y="2331720"/>
            <a:ext cx="10789920" cy="1005840"/>
          </a:xfrm>
          <a:prstGeom prst="rect">
            <a:avLst/>
          </a:prstGeom>
          <a:noFill/>
        </p:spPr>
        <p:txBody>
          <a:bodyPr wrap="square" lIns="0" rIns="0" tIns="0" bIns="0" anchor="t">
            <a:spAutoFit/>
          </a:bodyPr>
          <a:lstStyle/>
          <a:p>
            <a:pPr algn="l">
              <a:spcAft>
                <a:spcPts val="0"/>
              </a:spcAft>
            </a:pPr>
            <a:r>
              <a:rPr sz="4600" b="1">
                <a:solidFill>
                  <a:srgbClr val="FFFFFF"/>
                </a:solidFill>
                <a:latin typeface="맑은 고딕"/>
                <a:ea typeface="맑은 고딕"/>
                <a:cs typeface="맑은 고딕"/>
              </a:rPr>
              <a:t>제조AI 시스템 화면정의서</a:t>
            </a:r>
          </a:p>
        </p:txBody>
      </p:sp>
      <p:sp>
        <p:nvSpPr>
          <p:cNvPr id="8" name="Rectangle 7"/>
          <p:cNvSpPr/>
          <p:nvPr/>
        </p:nvSpPr>
        <p:spPr>
          <a:xfrm>
            <a:off x="868680" y="3611880"/>
            <a:ext cx="2011680" cy="36576"/>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31920"/>
            <a:ext cx="10058400" cy="914400"/>
          </a:xfrm>
          <a:prstGeom prst="rect">
            <a:avLst/>
          </a:prstGeom>
          <a:noFill/>
        </p:spPr>
        <p:txBody>
          <a:bodyPr wrap="square" lIns="0" rIns="0" tIns="0" bIns="0" anchor="t">
            <a:spAutoFit/>
          </a:bodyPr>
          <a:lstStyle/>
          <a:p>
            <a:pPr algn="l">
              <a:lnSpc>
                <a:spcPct val="150000"/>
              </a:lnSpc>
              <a:spcAft>
                <a:spcPts val="0"/>
              </a:spcAft>
            </a:pPr>
            <a:r>
              <a:rPr sz="1300" b="0">
                <a:solidFill>
                  <a:srgbClr val="B6C4DA"/>
                </a:solidFill>
                <a:latin typeface="맑은 고딕"/>
                <a:ea typeface="맑은 고딕"/>
                <a:cs typeface="맑은 고딕"/>
              </a:rPr>
              <a:t>업무화면 3건 · 공통화면 0건 · 업무영역 1개</a:t>
            </a:r>
          </a:p>
          <a:p>
            <a:pPr algn="l">
              <a:lnSpc>
                <a:spcPct val="150000"/>
              </a:lnSpc>
              <a:spcAft>
                <a:spcPts val="0"/>
              </a:spcAft>
            </a:pPr>
            <a:r>
              <a:rPr sz="1300" b="0">
                <a:solidFill>
                  <a:srgbClr val="B6C4DA"/>
                </a:solidFill>
                <a:latin typeface="맑은 고딕"/>
                <a:ea typeface="맑은 고딕"/>
                <a:cs typeface="맑은 고딕"/>
              </a:rPr>
              <a:t>근거 : SF-AD1·AD2·AD3 분석서 3종 / SF-TD1~TD5 설계서 5종</a:t>
            </a:r>
          </a:p>
        </p:txBody>
      </p:sp>
      <p:sp>
        <p:nvSpPr>
          <p:cNvPr id="10" name="TextBox 9"/>
          <p:cNvSpPr txBox="1"/>
          <p:nvPr/>
        </p:nvSpPr>
        <p:spPr>
          <a:xfrm>
            <a:off x="868680" y="5349240"/>
            <a:ext cx="5486400" cy="1005840"/>
          </a:xfrm>
          <a:prstGeom prst="rect">
            <a:avLst/>
          </a:prstGeom>
          <a:noFill/>
        </p:spPr>
        <p:txBody>
          <a:bodyPr wrap="square" lIns="0" rIns="0" tIns="0" bIns="0" anchor="t">
            <a:spAutoFit/>
          </a:bodyPr>
          <a:lstStyle/>
          <a:p>
            <a:pPr algn="l">
              <a:lnSpc>
                <a:spcPct val="145000"/>
              </a:lnSpc>
              <a:spcAft>
                <a:spcPts val="0"/>
              </a:spcAft>
            </a:pPr>
            <a:r>
              <a:rPr sz="1100" b="0">
                <a:solidFill>
                  <a:srgbClr val="7A8598"/>
                </a:solidFill>
                <a:latin typeface="맑은 고딕"/>
                <a:ea typeface="맑은 고딕"/>
                <a:cs typeface="맑은 고딕"/>
              </a:rPr>
              <a:t>도입기업  고려솔더</a:t>
            </a:r>
          </a:p>
          <a:p>
            <a:pPr algn="l">
              <a:lnSpc>
                <a:spcPct val="145000"/>
              </a:lnSpc>
              <a:spcAft>
                <a:spcPts val="0"/>
              </a:spcAft>
            </a:pPr>
            <a:r>
              <a:rPr sz="1100" b="0">
                <a:solidFill>
                  <a:srgbClr val="7A8598"/>
                </a:solidFill>
                <a:latin typeface="맑은 고딕"/>
                <a:ea typeface="맑은 고딕"/>
                <a:cs typeface="맑은 고딕"/>
              </a:rPr>
              <a:t>공급기업  미확인 — 담당자 확인 필요 (사업계획서 표지 '공급기업명' 공란)</a:t>
            </a:r>
          </a:p>
          <a:p>
            <a:pPr algn="l">
              <a:lnSpc>
                <a:spcPct val="145000"/>
              </a:lnSpc>
              <a:spcAft>
                <a:spcPts val="0"/>
              </a:spcAft>
            </a:pPr>
            <a:r>
              <a:rPr sz="1100" b="0">
                <a:solidFill>
                  <a:srgbClr val="7A8598"/>
                </a:solidFill>
                <a:latin typeface="맑은 고딕"/>
                <a:ea typeface="맑은 고딕"/>
                <a:cs typeface="맑은 고딕"/>
              </a:rPr>
              <a:t>v1.0  (2026. 08.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화면정의서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문서 개요</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87552"/>
            <a:ext cx="2688336" cy="9601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987552"/>
            <a:ext cx="2688336" cy="32004"/>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170432"/>
            <a:ext cx="2377440" cy="201168"/>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업무 화면</a:t>
            </a:r>
          </a:p>
        </p:txBody>
      </p:sp>
      <p:sp>
        <p:nvSpPr>
          <p:cNvPr id="10" name="TextBox 9"/>
          <p:cNvSpPr txBox="1"/>
          <p:nvPr/>
        </p:nvSpPr>
        <p:spPr>
          <a:xfrm>
            <a:off x="621792" y="1353312"/>
            <a:ext cx="2377440" cy="347472"/>
          </a:xfrm>
          <a:prstGeom prst="rect">
            <a:avLst/>
          </a:prstGeom>
          <a:noFill/>
        </p:spPr>
        <p:txBody>
          <a:bodyPr wrap="square" lIns="0" rIns="0" tIns="0" bIns="0" anchor="t">
            <a:spAutoFit/>
          </a:bodyPr>
          <a:lstStyle/>
          <a:p>
            <a:pPr algn="l">
              <a:spcAft>
                <a:spcPts val="0"/>
              </a:spcAft>
            </a:pPr>
            <a:r>
              <a:rPr sz="2000" b="1">
                <a:solidFill>
                  <a:srgbClr val="1F3864"/>
                </a:solidFill>
                <a:latin typeface="맑은 고딕"/>
                <a:ea typeface="맑은 고딕"/>
                <a:cs typeface="맑은 고딕"/>
              </a:rPr>
              <a:t>3건</a:t>
            </a:r>
          </a:p>
        </p:txBody>
      </p:sp>
      <p:sp>
        <p:nvSpPr>
          <p:cNvPr id="11" name="TextBox 10"/>
          <p:cNvSpPr txBox="1"/>
          <p:nvPr/>
        </p:nvSpPr>
        <p:spPr>
          <a:xfrm>
            <a:off x="621792" y="1700784"/>
            <a:ext cx="2377440" cy="219456"/>
          </a:xfrm>
          <a:prstGeom prst="rect">
            <a:avLst/>
          </a:prstGeom>
          <a:noFill/>
        </p:spPr>
        <p:txBody>
          <a:bodyPr wrap="square" lIns="0" rIns="0" tIns="0" bIns="0" anchor="t">
            <a:spAutoFit/>
          </a:bodyPr>
          <a:lstStyle/>
          <a:p>
            <a:pPr algn="l">
              <a:lnSpc>
                <a:spcPct val="120000"/>
              </a:lnSpc>
              <a:spcAft>
                <a:spcPts val="0"/>
              </a:spcAft>
            </a:pPr>
            <a:r>
              <a:rPr sz="850" b="0">
                <a:solidFill>
                  <a:srgbClr val="7A8598"/>
                </a:solidFill>
                <a:latin typeface="맑은 고딕"/>
                <a:ea typeface="맑은 고딕"/>
                <a:cs typeface="맑은 고딕"/>
              </a:rPr>
              <a:t>업무영역 1개</a:t>
            </a:r>
          </a:p>
        </p:txBody>
      </p:sp>
      <p:sp>
        <p:nvSpPr>
          <p:cNvPr id="12" name="Rectangle 11"/>
          <p:cNvSpPr/>
          <p:nvPr/>
        </p:nvSpPr>
        <p:spPr>
          <a:xfrm>
            <a:off x="3328416" y="987552"/>
            <a:ext cx="2688336" cy="9601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28416" y="987552"/>
            <a:ext cx="2688336" cy="32004"/>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3008" y="1170432"/>
            <a:ext cx="2377440" cy="201168"/>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신규 추가</a:t>
            </a:r>
          </a:p>
        </p:txBody>
      </p:sp>
      <p:sp>
        <p:nvSpPr>
          <p:cNvPr id="15" name="TextBox 14"/>
          <p:cNvSpPr txBox="1"/>
          <p:nvPr/>
        </p:nvSpPr>
        <p:spPr>
          <a:xfrm>
            <a:off x="3493008" y="1353312"/>
            <a:ext cx="2377440" cy="347472"/>
          </a:xfrm>
          <a:prstGeom prst="rect">
            <a:avLst/>
          </a:prstGeom>
          <a:noFill/>
        </p:spPr>
        <p:txBody>
          <a:bodyPr wrap="square" lIns="0" rIns="0" tIns="0" bIns="0" anchor="t">
            <a:spAutoFit/>
          </a:bodyPr>
          <a:lstStyle/>
          <a:p>
            <a:pPr algn="l">
              <a:spcAft>
                <a:spcPts val="0"/>
              </a:spcAft>
            </a:pPr>
            <a:r>
              <a:rPr sz="2000" b="1">
                <a:solidFill>
                  <a:srgbClr val="1F3864"/>
                </a:solidFill>
                <a:latin typeface="맑은 고딕"/>
                <a:ea typeface="맑은 고딕"/>
                <a:cs typeface="맑은 고딕"/>
              </a:rPr>
              <a:t>2건</a:t>
            </a:r>
          </a:p>
        </p:txBody>
      </p:sp>
      <p:sp>
        <p:nvSpPr>
          <p:cNvPr id="16" name="TextBox 15"/>
          <p:cNvSpPr txBox="1"/>
          <p:nvPr/>
        </p:nvSpPr>
        <p:spPr>
          <a:xfrm>
            <a:off x="3493008" y="1700784"/>
            <a:ext cx="2377440" cy="219456"/>
          </a:xfrm>
          <a:prstGeom prst="rect">
            <a:avLst/>
          </a:prstGeom>
          <a:noFill/>
        </p:spPr>
        <p:txBody>
          <a:bodyPr wrap="square" lIns="0" rIns="0" tIns="0" bIns="0" anchor="t">
            <a:spAutoFit/>
          </a:bodyPr>
          <a:lstStyle/>
          <a:p>
            <a:pPr algn="l">
              <a:lnSpc>
                <a:spcPct val="120000"/>
              </a:lnSpc>
              <a:spcAft>
                <a:spcPts val="0"/>
              </a:spcAft>
            </a:pPr>
            <a:r>
              <a:rPr sz="850" b="0">
                <a:solidFill>
                  <a:srgbClr val="7A8598"/>
                </a:solidFill>
                <a:latin typeface="맑은 고딕"/>
                <a:ea typeface="맑은 고딕"/>
                <a:cs typeface="맑은 고딕"/>
              </a:rPr>
              <a:t>변경 1 · 기존 0</a:t>
            </a:r>
          </a:p>
        </p:txBody>
      </p:sp>
      <p:sp>
        <p:nvSpPr>
          <p:cNvPr id="17" name="Rectangle 16"/>
          <p:cNvSpPr/>
          <p:nvPr/>
        </p:nvSpPr>
        <p:spPr>
          <a:xfrm>
            <a:off x="6199632" y="987552"/>
            <a:ext cx="2688336" cy="9601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987552"/>
            <a:ext cx="2688336" cy="32004"/>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170432"/>
            <a:ext cx="2377440" cy="201168"/>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공통 화면</a:t>
            </a:r>
          </a:p>
        </p:txBody>
      </p:sp>
      <p:sp>
        <p:nvSpPr>
          <p:cNvPr id="20" name="TextBox 19"/>
          <p:cNvSpPr txBox="1"/>
          <p:nvPr/>
        </p:nvSpPr>
        <p:spPr>
          <a:xfrm>
            <a:off x="6364224" y="1353312"/>
            <a:ext cx="2377440" cy="347472"/>
          </a:xfrm>
          <a:prstGeom prst="rect">
            <a:avLst/>
          </a:prstGeom>
          <a:noFill/>
        </p:spPr>
        <p:txBody>
          <a:bodyPr wrap="square" lIns="0" rIns="0" tIns="0" bIns="0" anchor="t">
            <a:spAutoFit/>
          </a:bodyPr>
          <a:lstStyle/>
          <a:p>
            <a:pPr algn="l">
              <a:spcAft>
                <a:spcPts val="0"/>
              </a:spcAft>
            </a:pPr>
            <a:r>
              <a:rPr sz="2000" b="1">
                <a:solidFill>
                  <a:srgbClr val="1F3864"/>
                </a:solidFill>
                <a:latin typeface="맑은 고딕"/>
                <a:ea typeface="맑은 고딕"/>
                <a:cs typeface="맑은 고딕"/>
              </a:rPr>
              <a:t>0건</a:t>
            </a:r>
          </a:p>
        </p:txBody>
      </p:sp>
      <p:sp>
        <p:nvSpPr>
          <p:cNvPr id="21" name="TextBox 20"/>
          <p:cNvSpPr txBox="1"/>
          <p:nvPr/>
        </p:nvSpPr>
        <p:spPr>
          <a:xfrm>
            <a:off x="6364224" y="1700784"/>
            <a:ext cx="2377440" cy="219456"/>
          </a:xfrm>
          <a:prstGeom prst="rect">
            <a:avLst/>
          </a:prstGeom>
          <a:noFill/>
        </p:spPr>
        <p:txBody>
          <a:bodyPr wrap="square" lIns="0" rIns="0" tIns="0" bIns="0" anchor="t">
            <a:spAutoFit/>
          </a:bodyPr>
          <a:lstStyle/>
          <a:p>
            <a:pPr algn="l">
              <a:lnSpc>
                <a:spcPct val="120000"/>
              </a:lnSpc>
              <a:spcAft>
                <a:spcPts val="0"/>
              </a:spcAft>
            </a:pPr>
            <a:r>
              <a:rPr sz="850" b="0">
                <a:solidFill>
                  <a:srgbClr val="7A8598"/>
                </a:solidFill>
                <a:latin typeface="맑은 고딕"/>
                <a:ea typeface="맑은 고딕"/>
                <a:cs typeface="맑은 고딕"/>
              </a:rPr>
              <a:t>메인·로그인·팝업·대시보드</a:t>
            </a:r>
          </a:p>
        </p:txBody>
      </p:sp>
      <p:sp>
        <p:nvSpPr>
          <p:cNvPr id="22" name="Rectangle 21"/>
          <p:cNvSpPr/>
          <p:nvPr/>
        </p:nvSpPr>
        <p:spPr>
          <a:xfrm>
            <a:off x="9070848" y="987552"/>
            <a:ext cx="2688336" cy="9601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70848" y="987552"/>
            <a:ext cx="2688336" cy="32004"/>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170432"/>
            <a:ext cx="2377440" cy="201168"/>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목표 수준</a:t>
            </a:r>
          </a:p>
        </p:txBody>
      </p:sp>
      <p:sp>
        <p:nvSpPr>
          <p:cNvPr id="25" name="TextBox 24"/>
          <p:cNvSpPr txBox="1"/>
          <p:nvPr/>
        </p:nvSpPr>
        <p:spPr>
          <a:xfrm>
            <a:off x="9235440" y="1353312"/>
            <a:ext cx="2377440" cy="347472"/>
          </a:xfrm>
          <a:prstGeom prst="rect">
            <a:avLst/>
          </a:prstGeom>
          <a:noFill/>
        </p:spPr>
        <p:txBody>
          <a:bodyPr wrap="square" lIns="0" rIns="0" tIns="0" bIns="0" anchor="t">
            <a:spAutoFit/>
          </a:bodyPr>
          <a:lstStyle/>
          <a:p>
            <a:pPr algn="l">
              <a:spcAft>
                <a:spcPts val="0"/>
              </a:spcAft>
            </a:pPr>
            <a:r>
              <a:rPr sz="2000" b="1">
                <a:solidFill>
                  <a:srgbClr val="1F3864"/>
                </a:solidFill>
                <a:latin typeface="맑은 고딕"/>
                <a:ea typeface="맑은 고딕"/>
                <a:cs typeface="맑은 고딕"/>
              </a:rPr>
              <a:t>기초 → 중간1</a:t>
            </a:r>
          </a:p>
        </p:txBody>
      </p:sp>
      <p:sp>
        <p:nvSpPr>
          <p:cNvPr id="26" name="TextBox 25"/>
          <p:cNvSpPr txBox="1"/>
          <p:nvPr/>
        </p:nvSpPr>
        <p:spPr>
          <a:xfrm>
            <a:off x="9235440" y="1700784"/>
            <a:ext cx="2377440" cy="219456"/>
          </a:xfrm>
          <a:prstGeom prst="rect">
            <a:avLst/>
          </a:prstGeom>
          <a:noFill/>
        </p:spPr>
        <p:txBody>
          <a:bodyPr wrap="square" lIns="0" rIns="0" tIns="0" bIns="0" anchor="t">
            <a:spAutoFit/>
          </a:bodyPr>
          <a:lstStyle/>
          <a:p>
            <a:pPr algn="l">
              <a:lnSpc>
                <a:spcPct val="120000"/>
              </a:lnSpc>
              <a:spcAft>
                <a:spcPts val="0"/>
              </a:spcAft>
            </a:pPr>
            <a:r>
              <a:rPr sz="850" b="0">
                <a:solidFill>
                  <a:srgbClr val="7A8598"/>
                </a:solidFill>
                <a:latin typeface="맑은 고딕"/>
                <a:ea typeface="맑은 고딕"/>
                <a:cs typeface="맑은 고딕"/>
              </a:rPr>
              <a:t>중간산출물 초안</a:t>
            </a:r>
          </a:p>
        </p:txBody>
      </p:sp>
      <p:sp>
        <p:nvSpPr>
          <p:cNvPr id="27" name="TextBox 26"/>
          <p:cNvSpPr txBox="1"/>
          <p:nvPr/>
        </p:nvSpPr>
        <p:spPr>
          <a:xfrm>
            <a:off x="457200" y="2212848"/>
            <a:ext cx="3657600" cy="237744"/>
          </a:xfrm>
          <a:prstGeom prst="rect">
            <a:avLst/>
          </a:prstGeom>
          <a:noFill/>
        </p:spPr>
        <p:txBody>
          <a:bodyPr wrap="square" lIns="0" rIns="0" tIns="0" bIns="0" anchor="t">
            <a:spAutoFit/>
          </a:bodyPr>
          <a:lstStyle/>
          <a:p>
            <a:pPr algn="l">
              <a:spcAft>
                <a:spcPts val="0"/>
              </a:spcAft>
            </a:pPr>
            <a:r>
              <a:rPr sz="1200" b="1">
                <a:solidFill>
                  <a:srgbClr val="1F3864"/>
                </a:solidFill>
                <a:latin typeface="맑은 고딕"/>
                <a:ea typeface="맑은 고딕"/>
                <a:cs typeface="맑은 고딕"/>
              </a:rPr>
              <a:t>작성 기준</a:t>
            </a:r>
          </a:p>
        </p:txBody>
      </p:sp>
      <p:sp>
        <p:nvSpPr>
          <p:cNvPr id="28" name="TextBox 27"/>
          <p:cNvSpPr txBox="1"/>
          <p:nvPr/>
        </p:nvSpPr>
        <p:spPr>
          <a:xfrm>
            <a:off x="457200" y="2505456"/>
            <a:ext cx="5532120" cy="2194560"/>
          </a:xfrm>
          <a:prstGeom prst="rect">
            <a:avLst/>
          </a:prstGeom>
          <a:noFill/>
        </p:spPr>
        <p:txBody>
          <a:bodyPr wrap="square" lIns="0" rIns="0" tIns="0" bIns="0" anchor="t">
            <a:spAutoFit/>
          </a:bodyPr>
          <a:lstStyle/>
          <a:p>
            <a:pPr algn="l">
              <a:lnSpc>
                <a:spcPct val="140000"/>
              </a:lnSpc>
              <a:spcAft>
                <a:spcPts val="500"/>
              </a:spcAft>
            </a:pPr>
            <a:r>
              <a:rPr sz="950" b="0">
                <a:solidFill>
                  <a:srgbClr val="4A5566"/>
                </a:solidFill>
                <a:latin typeface="맑은 고딕"/>
                <a:ea typeface="맑은 고딕"/>
                <a:cs typeface="맑은 고딕"/>
              </a:rPr>
              <a:t>· 화면(보고서) ID는 MES-TD3-001 형식으로 부여하며 요구사항ID(MES-AD2-###)·프로그램ID(MES-TD4-###)와 1:1로 추적된다.</a:t>
            </a:r>
          </a:p>
          <a:p>
            <a:pPr algn="l">
              <a:lnSpc>
                <a:spcPct val="140000"/>
              </a:lnSpc>
              <a:spcAft>
                <a:spcPts val="500"/>
              </a:spcAft>
            </a:pPr>
            <a:r>
              <a:rPr sz="950" b="0">
                <a:solidFill>
                  <a:srgbClr val="4A5566"/>
                </a:solidFill>
                <a:latin typeface="맑은 고딕"/>
                <a:ea typeface="맑은 고딕"/>
                <a:cs typeface="맑은 고딕"/>
              </a:rPr>
              <a:t>· 화면 대상은 기능 요구사항 65건 중 45건(MES-AD2-001~042, 063~065)이다. MES-AD2-063~065는 2026-08 킥오프 회의에서 추가 요청된 3건이며 화면ID는 MES-TD3-043~045이다. 데이터기능(ILF) 16건(MES-AD2-043~058)은 SF-TD5 테이블로, 외부연계(EIF) 4건(MES-AD2-059~062)은 화면 없는 인터페이스 프로그램으로 전개하므로 화면을 만들지 않는다.</a:t>
            </a:r>
          </a:p>
          <a:p>
            <a:pPr algn="l">
              <a:lnSpc>
                <a:spcPct val="140000"/>
              </a:lnSpc>
              <a:spcAft>
                <a:spcPts val="500"/>
              </a:spcAft>
            </a:pPr>
            <a:r>
              <a:rPr sz="950" b="0">
                <a:solidFill>
                  <a:srgbClr val="4A5566"/>
                </a:solidFill>
                <a:latin typeface="맑은 고딕"/>
                <a:ea typeface="맑은 고딕"/>
                <a:cs typeface="맑은 고딕"/>
              </a:rPr>
              <a:t>· 비기능 요구사항 13건(MES-AD2-066~078)은 SF-TD2 아키텍처설계서에서 다루며 화면 대상이 아니다.</a:t>
            </a:r>
          </a:p>
          <a:p>
            <a:pPr algn="l">
              <a:lnSpc>
                <a:spcPct val="140000"/>
              </a:lnSpc>
              <a:spcAft>
                <a:spcPts val="500"/>
              </a:spcAft>
            </a:pPr>
            <a:r>
              <a:rPr sz="950" b="0">
                <a:solidFill>
                  <a:srgbClr val="4A5566"/>
                </a:solidFill>
                <a:latin typeface="맑은 고딕"/>
                <a:ea typeface="맑은 고딕"/>
                <a:cs typeface="맑은 고딕"/>
              </a:rPr>
              <a:t>· 구분은 SF-AD3 기능대비표 판정을 그대로 따른다(화면 45건 기준 추가 31 · 변경 10 · 기존 4).</a:t>
            </a:r>
          </a:p>
          <a:p>
            <a:pPr algn="l">
              <a:lnSpc>
                <a:spcPct val="140000"/>
              </a:lnSpc>
              <a:spcAft>
                <a:spcPts val="500"/>
              </a:spcAft>
            </a:pPr>
            <a:r>
              <a:rPr sz="950" b="0">
                <a:solidFill>
                  <a:srgbClr val="4A5566"/>
                </a:solidFill>
                <a:latin typeface="맑은 고딕"/>
                <a:ea typeface="맑은 고딕"/>
                <a:cs typeface="맑은 고딕"/>
              </a:rPr>
              <a:t>· 화면 구성 이미지는 설계 기준 와이어프레임이며 실제 UI는 개발 단계에서 확정한다.</a:t>
            </a:r>
          </a:p>
          <a:p>
            <a:pPr algn="l">
              <a:lnSpc>
                <a:spcPct val="140000"/>
              </a:lnSpc>
              <a:spcAft>
                <a:spcPts val="500"/>
              </a:spcAft>
            </a:pPr>
            <a:r>
              <a:rPr sz="950" b="0">
                <a:solidFill>
                  <a:srgbClr val="4A5566"/>
                </a:solidFill>
                <a:latin typeface="맑은 고딕"/>
                <a:ea typeface="맑은 고딕"/>
                <a:cs typeface="맑은 고딕"/>
              </a:rPr>
              <a:t>· 그리드 예시 데이터는 형식 예시이며 실제 데이터가 아니다.</a:t>
            </a:r>
          </a:p>
        </p:txBody>
      </p:sp>
      <p:sp>
        <p:nvSpPr>
          <p:cNvPr id="29" name="TextBox 28"/>
          <p:cNvSpPr txBox="1"/>
          <p:nvPr/>
        </p:nvSpPr>
        <p:spPr>
          <a:xfrm>
            <a:off x="6355080" y="2212848"/>
            <a:ext cx="3657600" cy="237744"/>
          </a:xfrm>
          <a:prstGeom prst="rect">
            <a:avLst/>
          </a:prstGeom>
          <a:noFill/>
        </p:spPr>
        <p:txBody>
          <a:bodyPr wrap="square" lIns="0" rIns="0" tIns="0" bIns="0" anchor="t">
            <a:spAutoFit/>
          </a:bodyPr>
          <a:lstStyle/>
          <a:p>
            <a:pPr algn="l">
              <a:spcAft>
                <a:spcPts val="0"/>
              </a:spcAft>
            </a:pPr>
            <a:r>
              <a:rPr sz="1200" b="1">
                <a:solidFill>
                  <a:srgbClr val="1F3864"/>
                </a:solidFill>
                <a:latin typeface="맑은 고딕"/>
                <a:ea typeface="맑은 고딕"/>
                <a:cs typeface="맑은 고딕"/>
              </a:rPr>
              <a:t>화면 표준</a:t>
            </a:r>
          </a:p>
        </p:txBody>
      </p:sp>
      <p:sp>
        <p:nvSpPr>
          <p:cNvPr id="30" name="TextBox 29"/>
          <p:cNvSpPr txBox="1"/>
          <p:nvPr/>
        </p:nvSpPr>
        <p:spPr>
          <a:xfrm>
            <a:off x="6355080" y="2505456"/>
            <a:ext cx="5394960" cy="2194560"/>
          </a:xfrm>
          <a:prstGeom prst="rect">
            <a:avLst/>
          </a:prstGeom>
          <a:noFill/>
        </p:spPr>
        <p:txBody>
          <a:bodyPr wrap="square" lIns="0" rIns="0" tIns="0" bIns="0" anchor="t">
            <a:spAutoFit/>
          </a:bodyPr>
          <a:lstStyle/>
          <a:p>
            <a:pPr algn="l">
              <a:lnSpc>
                <a:spcPct val="140000"/>
              </a:lnSpc>
              <a:spcAft>
                <a:spcPts val="500"/>
              </a:spcAft>
            </a:pPr>
            <a:r>
              <a:rPr sz="950" b="0">
                <a:solidFill>
                  <a:srgbClr val="4A5566"/>
                </a:solidFill>
                <a:latin typeface="맑은 고딕"/>
                <a:ea typeface="맑은 고딕"/>
                <a:cs typeface="맑은 고딕"/>
              </a:rPr>
              <a:t>· 고려솔더 제조AI 시스템 화면은 관리자 Web, 17" Panel PC, KIOSK, Smart Pad, 55" LCD 현황판이 동일한 기준정보와 공정·성분 데이터를 조회·입력할 수 있도록 공통 레이아웃과 입력 규칙을 적용한다.</a:t>
            </a:r>
          </a:p>
          <a:p>
            <a:pPr algn="l">
              <a:lnSpc>
                <a:spcPct val="140000"/>
              </a:lnSpc>
              <a:spcAft>
                <a:spcPts val="500"/>
              </a:spcAft>
            </a:pPr>
            <a:r>
              <a:rPr sz="950" b="0">
                <a:solidFill>
                  <a:srgbClr val="4A5566"/>
                </a:solidFill>
                <a:latin typeface="맑은 고딕"/>
                <a:ea typeface="맑은 고딕"/>
                <a:cs typeface="맑은 고딕"/>
              </a:rPr>
              <a:t>· 조회 화면은 상단 조회조건, 중앙 목록 그리드, 우측 설명 패널 구조를 기본으로 하고, 대시보드 성격의 화면은 KPI 카드·차트·진행 목록 구조를 적용한다.</a:t>
            </a:r>
          </a:p>
          <a:p>
            <a:pPr algn="l">
              <a:lnSpc>
                <a:spcPct val="140000"/>
              </a:lnSpc>
              <a:spcAft>
                <a:spcPts val="500"/>
              </a:spcAft>
            </a:pPr>
            <a:r>
              <a:rPr sz="950" b="0">
                <a:solidFill>
                  <a:srgbClr val="4A5566"/>
                </a:solidFill>
                <a:latin typeface="맑은 고딕"/>
                <a:ea typeface="맑은 고딕"/>
                <a:cs typeface="맑은 고딕"/>
              </a:rPr>
              <a:t>· LOT 번호(입고LOT·배치LOT·제품LOT)는 모든 화면에서 동일한 표기 규칙을 사용하며, 성분값은 단위(%)와 유효자릿수를 표준화하여 표시한다.</a:t>
            </a:r>
          </a:p>
        </p:txBody>
      </p:sp>
      <p:sp>
        <p:nvSpPr>
          <p:cNvPr id="31" name="Rectangle 30"/>
          <p:cNvSpPr/>
          <p:nvPr/>
        </p:nvSpPr>
        <p:spPr>
          <a:xfrm>
            <a:off x="457200" y="4956048"/>
            <a:ext cx="11292840" cy="132588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102352"/>
            <a:ext cx="2743200" cy="219456"/>
          </a:xfrm>
          <a:prstGeom prst="rect">
            <a:avLst/>
          </a:prstGeom>
          <a:noFill/>
        </p:spPr>
        <p:txBody>
          <a:bodyPr wrap="square" lIns="0" rIns="0" tIns="0" bIns="0" anchor="t">
            <a:spAutoFit/>
          </a:bodyPr>
          <a:lstStyle/>
          <a:p>
            <a:pPr algn="l">
              <a:spcAft>
                <a:spcPts val="0"/>
              </a:spcAft>
            </a:pPr>
            <a:r>
              <a:rPr sz="1000" b="1">
                <a:solidFill>
                  <a:srgbClr val="1F3864"/>
                </a:solidFill>
                <a:latin typeface="맑은 고딕"/>
                <a:ea typeface="맑은 고딕"/>
                <a:cs typeface="맑은 고딕"/>
              </a:rPr>
              <a:t>도입기업 개요</a:t>
            </a:r>
          </a:p>
        </p:txBody>
      </p:sp>
      <p:sp>
        <p:nvSpPr>
          <p:cNvPr id="33" name="TextBox 32"/>
          <p:cNvSpPr txBox="1"/>
          <p:nvPr/>
        </p:nvSpPr>
        <p:spPr>
          <a:xfrm>
            <a:off x="658368" y="5358384"/>
            <a:ext cx="91440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주요 제품</a:t>
            </a:r>
          </a:p>
        </p:txBody>
      </p:sp>
      <p:sp>
        <p:nvSpPr>
          <p:cNvPr id="34" name="TextBox 33"/>
          <p:cNvSpPr txBox="1"/>
          <p:nvPr/>
        </p:nvSpPr>
        <p:spPr>
          <a:xfrm>
            <a:off x="1627632" y="5358384"/>
            <a:ext cx="9966960" cy="182880"/>
          </a:xfrm>
          <a:prstGeom prst="rect">
            <a:avLst/>
          </a:prstGeom>
          <a:noFill/>
        </p:spPr>
        <p:txBody>
          <a:bodyPr wrap="square" lIns="0" rIns="0" tIns="0" bIns="0" anchor="t">
            <a:spAutoFit/>
          </a:bodyPr>
          <a:lstStyle/>
          <a:p>
            <a:pPr algn="l">
              <a:spcAft>
                <a:spcPts val="0"/>
              </a:spcAft>
            </a:pPr>
            <a:r>
              <a:rPr sz="900" b="0">
                <a:solidFill>
                  <a:srgbClr val="4A5566"/>
                </a:solidFill>
                <a:latin typeface="맑은 고딕"/>
                <a:ea typeface="맑은 고딕"/>
                <a:cs typeface="맑은 고딕"/>
              </a:rPr>
              <a:t>솔더 소재 (주석 Sn·은 Ag·구리 Cu 기반 합금) — 반도체·전자부품용 다품종 소량·고객 맞춤형</a:t>
            </a:r>
          </a:p>
        </p:txBody>
      </p:sp>
      <p:sp>
        <p:nvSpPr>
          <p:cNvPr id="35" name="TextBox 34"/>
          <p:cNvSpPr txBox="1"/>
          <p:nvPr/>
        </p:nvSpPr>
        <p:spPr>
          <a:xfrm>
            <a:off x="658368" y="5623560"/>
            <a:ext cx="91440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주요 공정</a:t>
            </a:r>
          </a:p>
        </p:txBody>
      </p:sp>
      <p:sp>
        <p:nvSpPr>
          <p:cNvPr id="36" name="TextBox 35"/>
          <p:cNvSpPr txBox="1"/>
          <p:nvPr/>
        </p:nvSpPr>
        <p:spPr>
          <a:xfrm>
            <a:off x="1627632" y="5623560"/>
            <a:ext cx="9966960" cy="182880"/>
          </a:xfrm>
          <a:prstGeom prst="rect">
            <a:avLst/>
          </a:prstGeom>
          <a:noFill/>
        </p:spPr>
        <p:txBody>
          <a:bodyPr wrap="square" lIns="0" rIns="0" tIns="0" bIns="0" anchor="t">
            <a:spAutoFit/>
          </a:bodyPr>
          <a:lstStyle/>
          <a:p>
            <a:pPr algn="l">
              <a:spcAft>
                <a:spcPts val="0"/>
              </a:spcAft>
            </a:pPr>
            <a:r>
              <a:rPr sz="900" b="0">
                <a:solidFill>
                  <a:srgbClr val="4A5566"/>
                </a:solidFill>
                <a:latin typeface="맑은 고딕"/>
                <a:ea typeface="맑은 고딕"/>
                <a:cs typeface="맑은 고딕"/>
              </a:rPr>
              <a:t>입고·보관 → 용해 → 성분분석 → 주조 → 압출 → 절단 → 품질검사 → 포장·출하</a:t>
            </a:r>
          </a:p>
        </p:txBody>
      </p:sp>
      <p:sp>
        <p:nvSpPr>
          <p:cNvPr id="37" name="TextBox 36"/>
          <p:cNvSpPr txBox="1"/>
          <p:nvPr/>
        </p:nvSpPr>
        <p:spPr>
          <a:xfrm>
            <a:off x="658368" y="5888736"/>
            <a:ext cx="91440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성과지표</a:t>
            </a:r>
          </a:p>
        </p:txBody>
      </p:sp>
      <p:sp>
        <p:nvSpPr>
          <p:cNvPr id="38" name="TextBox 37"/>
          <p:cNvSpPr txBox="1"/>
          <p:nvPr/>
        </p:nvSpPr>
        <p:spPr>
          <a:xfrm>
            <a:off x="1627632" y="5888736"/>
            <a:ext cx="9966960" cy="182880"/>
          </a:xfrm>
          <a:prstGeom prst="rect">
            <a:avLst/>
          </a:prstGeom>
          <a:noFill/>
        </p:spPr>
        <p:txBody>
          <a:bodyPr wrap="square" lIns="0" rIns="0" tIns="0" bIns="0" anchor="t">
            <a:spAutoFit/>
          </a:bodyPr>
          <a:lstStyle/>
          <a:p>
            <a:pPr algn="l">
              <a:spcAft>
                <a:spcPts val="0"/>
              </a:spcAft>
            </a:pPr>
            <a:r>
              <a:rPr sz="900" b="0">
                <a:solidFill>
                  <a:srgbClr val="4A5566"/>
                </a:solidFill>
                <a:latin typeface="맑은 고딕"/>
                <a:ea typeface="맑은 고딕"/>
                <a:cs typeface="맑은 고딕"/>
              </a:rPr>
              <a:t>구축 전 수치 미확인(1.5 성과지표 전 행 '(예시)') → 구축 후 목표: 배합 정확도 95% 이상, 품질예측 정확도 90~95%, 공정 데이터 수집률 100%, LOT 추적성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화면정의서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목    차</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78408"/>
            <a:ext cx="50292"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960120"/>
            <a:ext cx="4421124" cy="256032"/>
          </a:xfrm>
          <a:prstGeom prst="rect">
            <a:avLst/>
          </a:prstGeom>
          <a:noFill/>
        </p:spPr>
        <p:txBody>
          <a:bodyPr wrap="square" lIns="0" rIns="0" tIns="0" bIns="0" anchor="t">
            <a:spAutoFit/>
          </a:bodyPr>
          <a:lstStyle/>
          <a:p>
            <a:pPr algn="l">
              <a:spcAft>
                <a:spcPts val="0"/>
              </a:spcAft>
            </a:pPr>
            <a:r>
              <a:rPr sz="1200" b="1">
                <a:solidFill>
                  <a:srgbClr val="1F3864"/>
                </a:solidFill>
                <a:latin typeface="맑은 고딕"/>
                <a:ea typeface="맑은 고딕"/>
                <a:cs typeface="맑은 고딕"/>
              </a:rPr>
              <a:t>신규 요구사항(킥오프 추가)</a:t>
            </a:r>
          </a:p>
        </p:txBody>
      </p:sp>
      <p:sp>
        <p:nvSpPr>
          <p:cNvPr id="9" name="TextBox 8"/>
          <p:cNvSpPr txBox="1"/>
          <p:nvPr/>
        </p:nvSpPr>
        <p:spPr>
          <a:xfrm>
            <a:off x="5152644" y="960120"/>
            <a:ext cx="822960" cy="256032"/>
          </a:xfrm>
          <a:prstGeom prst="rect">
            <a:avLst/>
          </a:prstGeom>
          <a:noFill/>
        </p:spPr>
        <p:txBody>
          <a:bodyPr wrap="square" lIns="0" rIns="0" tIns="0" bIns="0" anchor="b">
            <a:spAutoFit/>
          </a:bodyPr>
          <a:lstStyle/>
          <a:p>
            <a:pPr algn="r">
              <a:spcAft>
                <a:spcPts val="0"/>
              </a:spcAft>
            </a:pPr>
            <a:r>
              <a:rPr sz="900" b="0">
                <a:solidFill>
                  <a:srgbClr val="7A8598"/>
                </a:solidFill>
                <a:latin typeface="맑은 고딕"/>
                <a:ea typeface="맑은 고딕"/>
                <a:cs typeface="맑은 고딕"/>
              </a:rPr>
              <a:t>3건</a:t>
            </a:r>
          </a:p>
        </p:txBody>
      </p:sp>
      <p:sp>
        <p:nvSpPr>
          <p:cNvPr id="10" name="TextBox 9"/>
          <p:cNvSpPr txBox="1"/>
          <p:nvPr/>
        </p:nvSpPr>
        <p:spPr>
          <a:xfrm>
            <a:off x="621792" y="1252728"/>
            <a:ext cx="5317236" cy="603504"/>
          </a:xfrm>
          <a:prstGeom prst="rect">
            <a:avLst/>
          </a:prstGeom>
          <a:noFill/>
        </p:spPr>
        <p:txBody>
          <a:bodyPr wrap="square" lIns="0" rIns="0" tIns="0" bIns="0" anchor="t">
            <a:spAutoFit/>
          </a:bodyPr>
          <a:lstStyle/>
          <a:p>
            <a:pPr algn="l">
              <a:lnSpc>
                <a:spcPct val="130000"/>
              </a:lnSpc>
              <a:spcAft>
                <a:spcPts val="0"/>
              </a:spcAft>
            </a:pPr>
            <a:r>
              <a:rPr sz="850" b="0">
                <a:solidFill>
                  <a:srgbClr val="4A5566"/>
                </a:solidFill>
                <a:latin typeface="맑은 고딕"/>
                <a:ea typeface="맑은 고딕"/>
                <a:cs typeface="맑은 고딕"/>
              </a:rPr>
              <a:t>배합·재고 현황판  ·  작업지시관리  ·  출고서류 발행</a:t>
            </a:r>
          </a:p>
        </p:txBody>
      </p:sp>
      <p:sp>
        <p:nvSpPr>
          <p:cNvPr id="11" name="Rectangle 10"/>
          <p:cNvSpPr/>
          <p:nvPr/>
        </p:nvSpPr>
        <p:spPr>
          <a:xfrm>
            <a:off x="6231636" y="978408"/>
            <a:ext cx="50292"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6228" y="960120"/>
            <a:ext cx="4421124" cy="256032"/>
          </a:xfrm>
          <a:prstGeom prst="rect">
            <a:avLst/>
          </a:prstGeom>
          <a:noFill/>
        </p:spPr>
        <p:txBody>
          <a:bodyPr wrap="square" lIns="0" rIns="0" tIns="0" bIns="0" anchor="t">
            <a:spAutoFit/>
          </a:bodyPr>
          <a:lstStyle/>
          <a:p>
            <a:pPr algn="l">
              <a:spcAft>
                <a:spcPts val="0"/>
              </a:spcAft>
            </a:pPr>
            <a:r>
              <a:rPr sz="1200" b="1">
                <a:solidFill>
                  <a:srgbClr val="1F3864"/>
                </a:solidFill>
                <a:latin typeface="맑은 고딕"/>
                <a:ea typeface="맑은 고딕"/>
                <a:cs typeface="맑은 고딕"/>
              </a:rPr>
              <a:t>공통화면</a:t>
            </a:r>
          </a:p>
        </p:txBody>
      </p:sp>
      <p:sp>
        <p:nvSpPr>
          <p:cNvPr id="13" name="TextBox 12"/>
          <p:cNvSpPr txBox="1"/>
          <p:nvPr/>
        </p:nvSpPr>
        <p:spPr>
          <a:xfrm>
            <a:off x="10927080" y="960120"/>
            <a:ext cx="822960" cy="256032"/>
          </a:xfrm>
          <a:prstGeom prst="rect">
            <a:avLst/>
          </a:prstGeom>
          <a:noFill/>
        </p:spPr>
        <p:txBody>
          <a:bodyPr wrap="square" lIns="0" rIns="0" tIns="0" bIns="0" anchor="b">
            <a:spAutoFit/>
          </a:bodyPr>
          <a:lstStyle/>
          <a:p>
            <a:pPr algn="r">
              <a:spcAft>
                <a:spcPts val="0"/>
              </a:spcAft>
            </a:pPr>
            <a:r>
              <a:rPr sz="900" b="0">
                <a:solidFill>
                  <a:srgbClr val="7A8598"/>
                </a:solidFill>
                <a:latin typeface="맑은 고딕"/>
                <a:ea typeface="맑은 고딕"/>
                <a:cs typeface="맑은 고딕"/>
              </a:rPr>
              <a:t>0건</a:t>
            </a:r>
          </a:p>
        </p:txBody>
      </p:sp>
      <p:sp>
        <p:nvSpPr>
          <p:cNvPr id="14" name="TextBox 13"/>
          <p:cNvSpPr txBox="1"/>
          <p:nvPr/>
        </p:nvSpPr>
        <p:spPr>
          <a:xfrm>
            <a:off x="6396228" y="1252728"/>
            <a:ext cx="5317236" cy="603504"/>
          </a:xfrm>
          <a:prstGeom prst="rect">
            <a:avLst/>
          </a:prstGeom>
          <a:noFill/>
        </p:spPr>
        <p:txBody>
          <a:bodyPr wrap="square" lIns="0" rIns="0" tIns="0" bIns="0" anchor="t">
            <a:spAutoFit/>
          </a:bodyPr>
          <a:lstStyle/>
          <a:p>
            <a:pPr algn="l">
              <a:lnSpc>
                <a:spcPct val="130000"/>
              </a:lnSpc>
              <a:spcAft>
                <a:spcPts val="0"/>
              </a:spcAft>
            </a:pPr>
            <a:r>
              <a:rPr sz="850" b="0">
                <a:solidFill>
                  <a:srgbClr val="4A5566"/>
                </a:solidFill>
                <a:latin typeface="맑은 고딕"/>
                <a:ea typeface="맑은 고딕"/>
                <a:cs typeface="맑은 고딕"/>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화면정의서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고려솔더 제조AI 시스템 신규 요구사항 3건 메뉴구조도</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144768"/>
            <a:ext cx="11292840" cy="27432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2026-08 킥오프 회의에서 추가 요청된 3건. 기존 납품 범위(화면 42건)와 별도로 관리하며, FP 산정·계약 범위는 협의 후 확정한다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화면정의서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화면 목록</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1 / 1</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57200" y="960120"/>
          <a:ext cx="11292840" cy="1133856"/>
        </p:xfrm>
        <a:graphic>
          <a:graphicData uri="http://schemas.openxmlformats.org/drawingml/2006/table">
            <a:tbl>
              <a:tblPr firstRow="1" bandRow="1">
                <a:tableStyleId>{5C22544A-7EE6-4342-B048-85BDC9FD1C3A}</a:tableStyleId>
              </a:tblPr>
              <a:tblGrid>
                <a:gridCol w="548640"/>
                <a:gridCol w="1554480"/>
                <a:gridCol w="2103120"/>
                <a:gridCol w="3703320"/>
                <a:gridCol w="1737360"/>
                <a:gridCol w="1645920"/>
              </a:tblGrid>
              <a:tr h="310896">
                <a:tc>
                  <a:txBody>
                    <a:bodyPr wrap="square"/>
                    <a:lstStyle/>
                    <a:p>
                      <a:pPr algn="ctr"/>
                      <a:r>
                        <a:rPr sz="950" b="1">
                          <a:solidFill>
                            <a:srgbClr val="1F3864"/>
                          </a:solidFill>
                          <a:latin typeface="맑은 고딕"/>
                          <a:ea typeface="맑은 고딕"/>
                          <a:cs typeface="맑은 고딕"/>
                        </a:rPr>
                        <a:t>No</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화면ID</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업무영역</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화면명</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프로그램ID</a:t>
                      </a:r>
                    </a:p>
                  </a:txBody>
                  <a:tcPr marL="54864" marR="54864" marT="18288" marB="18288" anchor="ctr">
                    <a:solidFill>
                      <a:srgbClr val="F2F5FA"/>
                    </a:solidFill>
                  </a:tcPr>
                </a:tc>
                <a:tc>
                  <a:txBody>
                    <a:bodyPr wrap="square"/>
                    <a:lstStyle/>
                    <a:p>
                      <a:pPr algn="ctr"/>
                      <a:r>
                        <a:rPr sz="950" b="1">
                          <a:solidFill>
                            <a:srgbClr val="1F3864"/>
                          </a:solidFill>
                          <a:latin typeface="맑은 고딕"/>
                          <a:ea typeface="맑은 고딕"/>
                          <a:cs typeface="맑은 고딕"/>
                        </a:rPr>
                        <a:t>구분</a:t>
                      </a:r>
                    </a:p>
                  </a:txBody>
                  <a:tcPr marL="54864" marR="54864" marT="18288" marB="18288" anchor="ctr">
                    <a:solidFill>
                      <a:srgbClr val="F2F5FA"/>
                    </a:solidFill>
                  </a:tcPr>
                </a:tc>
              </a:tr>
              <a:tr h="274320">
                <a:tc>
                  <a:txBody>
                    <a:bodyPr wrap="square"/>
                    <a:lstStyle/>
                    <a:p>
                      <a:pPr algn="ctr"/>
                      <a:r>
                        <a:rPr sz="900" b="0">
                          <a:solidFill>
                            <a:srgbClr val="4A5566"/>
                          </a:solidFill>
                          <a:latin typeface="맑은 고딕"/>
                          <a:ea typeface="맑은 고딕"/>
                          <a:cs typeface="맑은 고딕"/>
                        </a:rPr>
                        <a:t>1</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MES-TD3-043</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신규 요구사항(킥오프 추가)</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배합·재고 현황판</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MES-TD4-047</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추가</a:t>
                      </a:r>
                    </a:p>
                  </a:txBody>
                  <a:tcPr marL="54864" marR="54864" marT="18288" marB="18288" anchor="ctr">
                    <a:solidFill>
                      <a:srgbClr val="FFFFFF"/>
                    </a:solidFill>
                  </a:tcPr>
                </a:tc>
              </a:tr>
              <a:tr h="274320">
                <a:tc>
                  <a:txBody>
                    <a:bodyPr wrap="square"/>
                    <a:lstStyle/>
                    <a:p>
                      <a:pPr algn="ctr"/>
                      <a:r>
                        <a:rPr sz="900" b="0">
                          <a:solidFill>
                            <a:srgbClr val="4A5566"/>
                          </a:solidFill>
                          <a:latin typeface="맑은 고딕"/>
                          <a:ea typeface="맑은 고딕"/>
                          <a:cs typeface="맑은 고딕"/>
                        </a:rPr>
                        <a:t>2</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MES-TD3-044</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신규 요구사항(킥오프 추가)</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작업지시관리</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MES-TD4-048</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추가</a:t>
                      </a:r>
                    </a:p>
                  </a:txBody>
                  <a:tcPr marL="54864" marR="54864" marT="18288" marB="18288" anchor="ctr">
                    <a:solidFill>
                      <a:srgbClr val="FAFBFD"/>
                    </a:solidFill>
                  </a:tcPr>
                </a:tc>
              </a:tr>
              <a:tr h="274320">
                <a:tc>
                  <a:txBody>
                    <a:bodyPr wrap="square"/>
                    <a:lstStyle/>
                    <a:p>
                      <a:pPr algn="ctr"/>
                      <a:r>
                        <a:rPr sz="900" b="0">
                          <a:solidFill>
                            <a:srgbClr val="4A5566"/>
                          </a:solidFill>
                          <a:latin typeface="맑은 고딕"/>
                          <a:ea typeface="맑은 고딕"/>
                          <a:cs typeface="맑은 고딕"/>
                        </a:rPr>
                        <a:t>3</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MES-TD3-045</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신규 요구사항(킥오프 추가)</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출고서류 발행</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MES-TD4-049</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변경</a:t>
                      </a:r>
                    </a:p>
                  </a:txBody>
                  <a:tcPr marL="54864" marR="54864" marT="18288" marB="18288"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화면정의서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사용자 유형별 화면 권한</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57200" y="1005840"/>
          <a:ext cx="11292838" cy="2724912"/>
        </p:xfrm>
        <a:graphic>
          <a:graphicData uri="http://schemas.openxmlformats.org/drawingml/2006/table">
            <a:tbl>
              <a:tblPr firstRow="1" bandRow="1">
                <a:tableStyleId>{5C22544A-7EE6-4342-B048-85BDC9FD1C3A}</a:tableStyleId>
              </a:tblPr>
              <a:tblGrid>
                <a:gridCol w="2514600"/>
                <a:gridCol w="1254034"/>
                <a:gridCol w="1254034"/>
                <a:gridCol w="1254034"/>
                <a:gridCol w="1254034"/>
                <a:gridCol w="1254034"/>
                <a:gridCol w="1254034"/>
                <a:gridCol w="1254034"/>
              </a:tblGrid>
              <a:tr h="310896">
                <a:tc>
                  <a:txBody>
                    <a:bodyPr wrap="square"/>
                    <a:lstStyle/>
                    <a:p>
                      <a:pPr algn="l"/>
                      <a:r>
                        <a:rPr sz="900" b="1">
                          <a:solidFill>
                            <a:srgbClr val="1F3864"/>
                          </a:solidFill>
                          <a:latin typeface="맑은 고딕"/>
                          <a:ea typeface="맑은 고딕"/>
                          <a:cs typeface="맑은 고딕"/>
                        </a:rPr>
                        <a:t>사용자 유형</a:t>
                      </a:r>
                    </a:p>
                  </a:txBody>
                  <a:tcPr marL="54864" marR="54864" marT="18288" marB="18288" anchor="ctr">
                    <a:solidFill>
                      <a:srgbClr val="F2F5FA"/>
                    </a:solidFill>
                  </a:tcPr>
                </a:tc>
                <a:tc>
                  <a:txBody>
                    <a:bodyPr wrap="square"/>
                    <a:lstStyle/>
                    <a:p>
                      <a:pPr algn="ctr"/>
                      <a:r>
                        <a:rPr sz="900" b="1">
                          <a:solidFill>
                            <a:srgbClr val="1F3864"/>
                          </a:solidFill>
                          <a:latin typeface="맑은 고딕"/>
                          <a:ea typeface="맑은 고딕"/>
                          <a:cs typeface="맑은 고딕"/>
                        </a:rPr>
                        <a:t>AI 대시보드·KPI</a:t>
                      </a:r>
                    </a:p>
                  </a:txBody>
                  <a:tcPr marL="54864" marR="54864" marT="18288" marB="18288" anchor="ctr">
                    <a:solidFill>
                      <a:srgbClr val="F2F5FA"/>
                    </a:solidFill>
                  </a:tcPr>
                </a:tc>
                <a:tc>
                  <a:txBody>
                    <a:bodyPr wrap="square"/>
                    <a:lstStyle/>
                    <a:p>
                      <a:pPr algn="ctr"/>
                      <a:r>
                        <a:rPr sz="900" b="1">
                          <a:solidFill>
                            <a:srgbClr val="1F3864"/>
                          </a:solidFill>
                          <a:latin typeface="맑은 고딕"/>
                          <a:ea typeface="맑은 고딕"/>
                          <a:cs typeface="맑은 고딕"/>
                        </a:rPr>
                        <a:t>입고보관관리</a:t>
                      </a:r>
                    </a:p>
                  </a:txBody>
                  <a:tcPr marL="54864" marR="54864" marT="18288" marB="18288" anchor="ctr">
                    <a:solidFill>
                      <a:srgbClr val="F2F5FA"/>
                    </a:solidFill>
                  </a:tcPr>
                </a:tc>
                <a:tc>
                  <a:txBody>
                    <a:bodyPr wrap="square"/>
                    <a:lstStyle/>
                    <a:p>
                      <a:pPr algn="ctr"/>
                      <a:r>
                        <a:rPr sz="900" b="1">
                          <a:solidFill>
                            <a:srgbClr val="1F3864"/>
                          </a:solidFill>
                          <a:latin typeface="맑은 고딕"/>
                          <a:ea typeface="맑은 고딕"/>
                          <a:cs typeface="맑은 고딕"/>
                        </a:rPr>
                        <a:t>성분분석관리</a:t>
                      </a:r>
                    </a:p>
                  </a:txBody>
                  <a:tcPr marL="54864" marR="54864" marT="18288" marB="18288" anchor="ctr">
                    <a:solidFill>
                      <a:srgbClr val="F2F5FA"/>
                    </a:solidFill>
                  </a:tcPr>
                </a:tc>
                <a:tc>
                  <a:txBody>
                    <a:bodyPr wrap="square"/>
                    <a:lstStyle/>
                    <a:p>
                      <a:pPr algn="ctr"/>
                      <a:r>
                        <a:rPr sz="900" b="1">
                          <a:solidFill>
                            <a:srgbClr val="1F3864"/>
                          </a:solidFill>
                          <a:latin typeface="맑은 고딕"/>
                          <a:ea typeface="맑은 고딕"/>
                          <a:cs typeface="맑은 고딕"/>
                        </a:rPr>
                        <a:t>포장출하관리</a:t>
                      </a:r>
                    </a:p>
                  </a:txBody>
                  <a:tcPr marL="54864" marR="54864" marT="18288" marB="18288" anchor="ctr">
                    <a:solidFill>
                      <a:srgbClr val="F2F5FA"/>
                    </a:solidFill>
                  </a:tcPr>
                </a:tc>
                <a:tc>
                  <a:txBody>
                    <a:bodyPr wrap="square"/>
                    <a:lstStyle/>
                    <a:p>
                      <a:pPr algn="ctr"/>
                      <a:r>
                        <a:rPr sz="900" b="1">
                          <a:solidFill>
                            <a:srgbClr val="1F3864"/>
                          </a:solidFill>
                          <a:latin typeface="맑은 고딕"/>
                          <a:ea typeface="맑은 고딕"/>
                          <a:cs typeface="맑은 고딕"/>
                        </a:rPr>
                        <a:t>공정관리</a:t>
                      </a:r>
                    </a:p>
                  </a:txBody>
                  <a:tcPr marL="54864" marR="54864" marT="18288" marB="18288" anchor="ctr">
                    <a:solidFill>
                      <a:srgbClr val="F2F5FA"/>
                    </a:solidFill>
                  </a:tcPr>
                </a:tc>
                <a:tc>
                  <a:txBody>
                    <a:bodyPr wrap="square"/>
                    <a:lstStyle/>
                    <a:p>
                      <a:pPr algn="ctr"/>
                      <a:r>
                        <a:rPr sz="900" b="1">
                          <a:solidFill>
                            <a:srgbClr val="1F3864"/>
                          </a:solidFill>
                          <a:latin typeface="맑은 고딕"/>
                          <a:ea typeface="맑은 고딕"/>
                          <a:cs typeface="맑은 고딕"/>
                        </a:rPr>
                        <a:t>기준정보·시스템관리</a:t>
                      </a:r>
                    </a:p>
                  </a:txBody>
                  <a:tcPr marL="54864" marR="54864" marT="18288" marB="18288" anchor="ctr">
                    <a:solidFill>
                      <a:srgbClr val="F2F5FA"/>
                    </a:solidFill>
                  </a:tcPr>
                </a:tc>
                <a:tc>
                  <a:txBody>
                    <a:bodyPr wrap="square"/>
                    <a:lstStyle/>
                    <a:p>
                      <a:pPr algn="ctr"/>
                      <a:r>
                        <a:rPr sz="900" b="1">
                          <a:solidFill>
                            <a:srgbClr val="1F3864"/>
                          </a:solidFill>
                          <a:latin typeface="맑은 고딕"/>
                          <a:ea typeface="맑은 고딕"/>
                          <a:cs typeface="맑은 고딕"/>
                        </a:rPr>
                        <a:t>데이터허브·AI Agent</a:t>
                      </a:r>
                    </a:p>
                  </a:txBody>
                  <a:tcPr marL="54864" marR="54864" marT="18288" marB="18288" anchor="ctr">
                    <a:solidFill>
                      <a:srgbClr val="F2F5FA"/>
                    </a:solidFill>
                  </a:tcPr>
                </a:tc>
              </a:tr>
              <a:tr h="402336">
                <a:tc>
                  <a:txBody>
                    <a:bodyPr wrap="square"/>
                    <a:lstStyle/>
                    <a:p>
                      <a:pPr algn="l"/>
                      <a:r>
                        <a:rPr sz="850" b="1">
                          <a:solidFill>
                            <a:srgbClr val="1C2430"/>
                          </a:solidFill>
                          <a:latin typeface="맑은 고딕"/>
                          <a:ea typeface="맑은 고딕"/>
                          <a:cs typeface="맑은 고딕"/>
                        </a:rPr>
                        <a:t>총괄 PM/경영자</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조회/리포트</a:t>
                      </a:r>
                    </a:p>
                  </a:txBody>
                  <a:tcPr marL="54864" marR="54864" marT="18288" marB="18288" anchor="ctr">
                    <a:solidFill>
                      <a:srgbClr val="FFFFFF"/>
                    </a:solidFill>
                  </a:tcPr>
                </a:tc>
              </a:tr>
              <a:tr h="402336">
                <a:tc>
                  <a:txBody>
                    <a:bodyPr wrap="square"/>
                    <a:lstStyle/>
                    <a:p>
                      <a:pPr algn="l"/>
                      <a:r>
                        <a:rPr sz="850" b="1">
                          <a:solidFill>
                            <a:srgbClr val="1C2430"/>
                          </a:solidFill>
                          <a:latin typeface="맑은 고딕"/>
                          <a:ea typeface="맑은 고딕"/>
                          <a:cs typeface="맑은 고딕"/>
                        </a:rPr>
                        <a:t>생산관리자</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등록/수정</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등록/수정</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r>
              <a:tr h="402336">
                <a:tc>
                  <a:txBody>
                    <a:bodyPr wrap="square"/>
                    <a:lstStyle/>
                    <a:p>
                      <a:pPr algn="l"/>
                      <a:r>
                        <a:rPr sz="850" b="1">
                          <a:solidFill>
                            <a:srgbClr val="1C2430"/>
                          </a:solidFill>
                          <a:latin typeface="맑은 고딕"/>
                          <a:ea typeface="맑은 고딕"/>
                          <a:cs typeface="맑은 고딕"/>
                        </a:rPr>
                        <a:t>품질관리자</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등록/수정/승인</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등록/수정</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기준정보 등록/수정</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FFFFF"/>
                    </a:solidFill>
                  </a:tcPr>
                </a:tc>
              </a:tr>
              <a:tr h="402336">
                <a:tc>
                  <a:txBody>
                    <a:bodyPr wrap="square"/>
                    <a:lstStyle/>
                    <a:p>
                      <a:pPr algn="l"/>
                      <a:r>
                        <a:rPr sz="850" b="1">
                          <a:solidFill>
                            <a:srgbClr val="1C2430"/>
                          </a:solidFill>
                          <a:latin typeface="맑은 고딕"/>
                          <a:ea typeface="맑은 고딕"/>
                          <a:cs typeface="맑은 고딕"/>
                        </a:rPr>
                        <a:t>현장 작업자</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입고 등록</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검사·출하 입력</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실적 입력</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AI 질의</a:t>
                      </a:r>
                    </a:p>
                  </a:txBody>
                  <a:tcPr marL="54864" marR="54864" marT="18288" marB="18288" anchor="ctr">
                    <a:solidFill>
                      <a:srgbClr val="FAFBFD"/>
                    </a:solidFill>
                  </a:tcPr>
                </a:tc>
              </a:tr>
              <a:tr h="402336">
                <a:tc>
                  <a:txBody>
                    <a:bodyPr wrap="square"/>
                    <a:lstStyle/>
                    <a:p>
                      <a:pPr algn="l"/>
                      <a:r>
                        <a:rPr sz="850" b="1">
                          <a:solidFill>
                            <a:srgbClr val="1C2430"/>
                          </a:solidFill>
                          <a:latin typeface="맑은 고딕"/>
                          <a:ea typeface="맑은 고딕"/>
                          <a:cs typeface="맑은 고딕"/>
                        </a:rPr>
                        <a:t>시스템 관리자</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전체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전체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전체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전체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전체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계정/권한/로그/설정</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전체</a:t>
                      </a:r>
                    </a:p>
                  </a:txBody>
                  <a:tcPr marL="54864" marR="54864" marT="18288" marB="18288" anchor="ctr">
                    <a:solidFill>
                      <a:srgbClr val="FFFFFF"/>
                    </a:solidFill>
                  </a:tcPr>
                </a:tc>
              </a:tr>
              <a:tr h="402336">
                <a:tc>
                  <a:txBody>
                    <a:bodyPr wrap="square"/>
                    <a:lstStyle/>
                    <a:p>
                      <a:pPr algn="l"/>
                      <a:r>
                        <a:rPr sz="850" b="1">
                          <a:solidFill>
                            <a:srgbClr val="1C2430"/>
                          </a:solidFill>
                          <a:latin typeface="맑은 고딕"/>
                          <a:ea typeface="맑은 고딕"/>
                          <a:cs typeface="맑은 고딕"/>
                        </a:rPr>
                        <a:t>공급기업 운영담당</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조회</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설정 지원</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수집·연계 운영</a:t>
                      </a:r>
                    </a:p>
                  </a:txBody>
                  <a:tcPr marL="54864" marR="54864" marT="18288" marB="18288" anchor="ctr">
                    <a:solidFill>
                      <a:srgbClr val="FAFBFD"/>
                    </a:solidFill>
                  </a:tcPr>
                </a:tc>
              </a:tr>
            </a:tbl>
          </a:graphicData>
        </a:graphic>
      </p:graphicFrame>
      <p:sp>
        <p:nvSpPr>
          <p:cNvPr id="8" name="TextBox 7"/>
          <p:cNvSpPr txBox="1"/>
          <p:nvPr/>
        </p:nvSpPr>
        <p:spPr>
          <a:xfrm>
            <a:off x="457200" y="4114800"/>
            <a:ext cx="3657600" cy="237744"/>
          </a:xfrm>
          <a:prstGeom prst="rect">
            <a:avLst/>
          </a:prstGeom>
          <a:noFill/>
        </p:spPr>
        <p:txBody>
          <a:bodyPr wrap="square" lIns="0" rIns="0" tIns="0" bIns="0" anchor="t">
            <a:spAutoFit/>
          </a:bodyPr>
          <a:lstStyle/>
          <a:p>
            <a:pPr algn="l">
              <a:spcAft>
                <a:spcPts val="0"/>
              </a:spcAft>
            </a:pPr>
            <a:r>
              <a:rPr sz="1200" b="1">
                <a:solidFill>
                  <a:srgbClr val="1F3864"/>
                </a:solidFill>
                <a:latin typeface="맑은 고딕"/>
                <a:ea typeface="맑은 고딕"/>
                <a:cs typeface="맑은 고딕"/>
              </a:rPr>
              <a:t>레이아웃 규칙</a:t>
            </a:r>
          </a:p>
        </p:txBody>
      </p:sp>
      <p:sp>
        <p:nvSpPr>
          <p:cNvPr id="9" name="TextBox 8"/>
          <p:cNvSpPr txBox="1"/>
          <p:nvPr/>
        </p:nvSpPr>
        <p:spPr>
          <a:xfrm>
            <a:off x="457200" y="4407408"/>
            <a:ext cx="11292840" cy="2011680"/>
          </a:xfrm>
          <a:prstGeom prst="rect">
            <a:avLst/>
          </a:prstGeom>
          <a:noFill/>
        </p:spPr>
        <p:txBody>
          <a:bodyPr wrap="square" lIns="0" rIns="0" tIns="0" bIns="0" anchor="t">
            <a:spAutoFit/>
          </a:bodyPr>
          <a:lstStyle/>
          <a:p>
            <a:pPr algn="l">
              <a:lnSpc>
                <a:spcPct val="135000"/>
              </a:lnSpc>
              <a:spcAft>
                <a:spcPts val="300"/>
              </a:spcAft>
            </a:pPr>
            <a:r>
              <a:rPr sz="900" b="0">
                <a:solidFill>
                  <a:srgbClr val="4A5566"/>
                </a:solidFill>
                <a:latin typeface="맑은 고딕"/>
                <a:ea typeface="맑은 고딕"/>
                <a:cs typeface="맑은 고딕"/>
              </a:rPr>
              <a:t>· 헤더 (공통 적용) — 시스템명, 화면명, 사용자명, 로그아웃, 현재일시를 표시한다.</a:t>
            </a:r>
          </a:p>
          <a:p>
            <a:pPr algn="l">
              <a:lnSpc>
                <a:spcPct val="135000"/>
              </a:lnSpc>
              <a:spcAft>
                <a:spcPts val="300"/>
              </a:spcAft>
            </a:pPr>
            <a:r>
              <a:rPr sz="900" b="0">
                <a:solidFill>
                  <a:srgbClr val="4A5566"/>
                </a:solidFill>
                <a:latin typeface="맑은 고딕"/>
                <a:ea typeface="맑은 고딕"/>
                <a:cs typeface="맑은 고딕"/>
              </a:rPr>
              <a:t>· 좌측 메뉴 (권한별 노출) — 10개 업무영역 메뉴를 제공하며 역할(RBAC)에 따라 접근 가능 메뉴를 제한한다.</a:t>
            </a:r>
          </a:p>
          <a:p>
            <a:pPr algn="l">
              <a:lnSpc>
                <a:spcPct val="135000"/>
              </a:lnSpc>
              <a:spcAft>
                <a:spcPts val="300"/>
              </a:spcAft>
            </a:pPr>
            <a:r>
              <a:rPr sz="900" b="0">
                <a:solidFill>
                  <a:srgbClr val="4A5566"/>
                </a:solidFill>
                <a:latin typeface="맑은 고딕"/>
                <a:ea typeface="맑은 고딕"/>
                <a:cs typeface="맑은 고딕"/>
              </a:rPr>
              <a:t>· 조회조건 (상단 배치) — 조회조건은 최대 6개까지 배치하고 기간·LOT·공정·제품을 우선 배치한다.</a:t>
            </a:r>
          </a:p>
          <a:p>
            <a:pPr algn="l">
              <a:lnSpc>
                <a:spcPct val="135000"/>
              </a:lnSpc>
              <a:spcAft>
                <a:spcPts val="300"/>
              </a:spcAft>
            </a:pPr>
            <a:r>
              <a:rPr sz="900" b="0">
                <a:solidFill>
                  <a:srgbClr val="4A5566"/>
                </a:solidFill>
                <a:latin typeface="맑은 고딕"/>
                <a:ea typeface="맑은 고딕"/>
                <a:cs typeface="맑은 고딕"/>
              </a:rPr>
              <a:t>· 목록/그리드 (중앙 배치) — 조회 결과는 페이징, 정렬, 필터, 엑셀 다운로드 기준을 공통 적용하며 열은 최대 7개로 제한한다.</a:t>
            </a:r>
          </a:p>
          <a:p>
            <a:pPr algn="l">
              <a:lnSpc>
                <a:spcPct val="135000"/>
              </a:lnSpc>
              <a:spcAft>
                <a:spcPts val="300"/>
              </a:spcAft>
            </a:pPr>
            <a:r>
              <a:rPr sz="900" b="0">
                <a:solidFill>
                  <a:srgbClr val="4A5566"/>
                </a:solidFill>
                <a:latin typeface="맑은 고딕"/>
                <a:ea typeface="맑은 고딕"/>
                <a:cs typeface="맑은 고딕"/>
              </a:rPr>
              <a:t>· 설명 패널 (우측 배치) — 화면 목적, 처리 절차, 연계 ID(요구사항·프로그램·화면), 체크 사항을 표시한다.</a:t>
            </a:r>
          </a:p>
          <a:p>
            <a:pPr algn="l">
              <a:lnSpc>
                <a:spcPct val="135000"/>
              </a:lnSpc>
              <a:spcAft>
                <a:spcPts val="300"/>
              </a:spcAft>
            </a:pPr>
            <a:r>
              <a:rPr sz="900" b="0">
                <a:solidFill>
                  <a:srgbClr val="4A5566"/>
                </a:solidFill>
                <a:latin typeface="맑은 고딕"/>
                <a:ea typeface="맑은 고딕"/>
                <a:cs typeface="맑은 고딕"/>
              </a:rPr>
              <a:t>· 대시보드 (카드·차트) — KPI 카드 4개, 추세 차트 1개, 진행 목록 1개를 기본 구성으로 하며 산식은 KPI 관리와 동일하게 적용한다.</a:t>
            </a:r>
          </a:p>
          <a:p>
            <a:pPr algn="l">
              <a:lnSpc>
                <a:spcPct val="135000"/>
              </a:lnSpc>
              <a:spcAft>
                <a:spcPts val="300"/>
              </a:spcAft>
            </a:pPr>
            <a:r>
              <a:rPr sz="900" b="0">
                <a:solidFill>
                  <a:srgbClr val="4A5566"/>
                </a:solidFill>
                <a:latin typeface="맑은 고딕"/>
                <a:ea typeface="맑은 고딕"/>
                <a:cs typeface="맑은 고딕"/>
              </a:rPr>
              <a:t>· 입력 검증 (공통 적용) — 필수값 누락, 중복 코드, 기준범위 이탈, 권한 오류를 팝업 메시지로 표시한다.</a:t>
            </a:r>
          </a:p>
          <a:p>
            <a:pPr algn="l">
              <a:lnSpc>
                <a:spcPct val="135000"/>
              </a:lnSpc>
              <a:spcAft>
                <a:spcPts val="300"/>
              </a:spcAft>
            </a:pPr>
            <a:r>
              <a:rPr sz="900" b="0">
                <a:solidFill>
                  <a:srgbClr val="4A5566"/>
                </a:solidFill>
                <a:latin typeface="맑은 고딕"/>
                <a:ea typeface="맑은 고딕"/>
                <a:cs typeface="맑은 고딕"/>
              </a:rPr>
              <a:t>· LOT 표기 (공통 적용) — 입고LOT·배치LOT·제품LOT를 구분 표기하고 클릭 시 LOT 추적 화면으로 이동한다.</a:t>
            </a:r>
          </a:p>
          <a:p>
            <a:pPr algn="l">
              <a:lnSpc>
                <a:spcPct val="135000"/>
              </a:lnSpc>
              <a:spcAft>
                <a:spcPts val="300"/>
              </a:spcAft>
            </a:pPr>
            <a:r>
              <a:rPr sz="900" b="0">
                <a:solidFill>
                  <a:srgbClr val="4A5566"/>
                </a:solidFill>
                <a:latin typeface="맑은 고딕"/>
                <a:ea typeface="맑은 고딕"/>
                <a:cs typeface="맑은 고딕"/>
              </a:rPr>
              <a:t>· AI 결과 표기 (공통 적용) — AI 추천·예측 결과는 근거(SHAP 상위 변수·근거 LOT)와 승인 상태를 함께 표시하며 자동 반영하지 않는다.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14600"/>
            <a:ext cx="10515600" cy="914400"/>
          </a:xfrm>
          <a:prstGeom prst="rect">
            <a:avLst/>
          </a:prstGeom>
          <a:noFill/>
        </p:spPr>
        <p:txBody>
          <a:bodyPr wrap="square" lIns="0" rIns="0" tIns="0" bIns="0" anchor="t">
            <a:spAutoFit/>
          </a:bodyPr>
          <a:lstStyle/>
          <a:p>
            <a:pPr algn="l">
              <a:spcAft>
                <a:spcPts val="0"/>
              </a:spcAft>
            </a:pPr>
            <a:r>
              <a:rPr sz="4000" b="1">
                <a:solidFill>
                  <a:srgbClr val="FFFFFF"/>
                </a:solidFill>
                <a:latin typeface="맑은 고딕"/>
                <a:ea typeface="맑은 고딕"/>
                <a:cs typeface="맑은 고딕"/>
              </a:rPr>
              <a:t>신규 요구사항(킥오프 추가)</a:t>
            </a:r>
          </a:p>
        </p:txBody>
      </p:sp>
      <p:sp>
        <p:nvSpPr>
          <p:cNvPr id="5" name="Rectangle 4"/>
          <p:cNvSpPr/>
          <p:nvPr/>
        </p:nvSpPr>
        <p:spPr>
          <a:xfrm>
            <a:off x="868680" y="3611880"/>
            <a:ext cx="1463040" cy="3200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886200"/>
            <a:ext cx="9875520" cy="1005840"/>
          </a:xfrm>
          <a:prstGeom prst="rect">
            <a:avLst/>
          </a:prstGeom>
          <a:noFill/>
        </p:spPr>
        <p:txBody>
          <a:bodyPr wrap="square" lIns="0" rIns="0" tIns="0" bIns="0" anchor="t">
            <a:spAutoFit/>
          </a:bodyPr>
          <a:lstStyle/>
          <a:p>
            <a:pPr algn="l">
              <a:lnSpc>
                <a:spcPct val="135000"/>
              </a:lnSpc>
              <a:spcAft>
                <a:spcPts val="0"/>
              </a:spcAft>
            </a:pPr>
            <a:r>
              <a:rPr sz="1300" b="0">
                <a:solidFill>
                  <a:srgbClr val="B6C4DA"/>
                </a:solidFill>
                <a:latin typeface="맑은 고딕"/>
                <a:ea typeface="맑은 고딕"/>
                <a:cs typeface="맑은 고딕"/>
              </a:rPr>
              <a:t>2026-08 킥오프 회의에서 고려솔더가 추가로 요청한 3건이다. 배합 추천과 원자재 재고를 생산현장 대형화면에 상시 게시하고(안전재고 임계치 개념을 새로 세운다), 일일 작업지시서를 8개 공정별로 나눠 담당자 화면에 자동 게시하며, 출하 승인 시점에 거래명세서·출하증명서·품질성적서를 자동 발행한다. 기존 납품 범위(화면 42건)와 별도로 관리하며 FP 산정·계약 범위는 협의 후 확정한다.</a:t>
            </a:r>
          </a:p>
        </p:txBody>
      </p:sp>
      <p:sp>
        <p:nvSpPr>
          <p:cNvPr id="7" name="TextBox 6"/>
          <p:cNvSpPr txBox="1"/>
          <p:nvPr/>
        </p:nvSpPr>
        <p:spPr>
          <a:xfrm>
            <a:off x="868680" y="5212080"/>
            <a:ext cx="5486400" cy="320040"/>
          </a:xfrm>
          <a:prstGeom prst="rect">
            <a:avLst/>
          </a:prstGeom>
          <a:noFill/>
        </p:spPr>
        <p:txBody>
          <a:bodyPr wrap="square" lIns="0" rIns="0" tIns="0" bIns="0" anchor="t">
            <a:spAutoFit/>
          </a:bodyPr>
          <a:lstStyle/>
          <a:p>
            <a:pPr algn="l">
              <a:spcAft>
                <a:spcPts val="0"/>
              </a:spcAft>
            </a:pPr>
            <a:r>
              <a:rPr sz="1200" b="1">
                <a:solidFill>
                  <a:srgbClr val="C3D8F3"/>
                </a:solidFill>
                <a:latin typeface="맑은 고딕"/>
                <a:ea typeface="맑은 고딕"/>
                <a:cs typeface="맑은 고딕"/>
              </a:rPr>
              <a:t>화면 3건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신규 요구사항(킥오프 추가)</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배합·재고 현황판</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1 / 3</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868680"/>
            <a:ext cx="8275320" cy="544068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d3-MES-TD3-043.png"/>
          <p:cNvPicPr>
            <a:picLocks noChangeAspect="1"/>
          </p:cNvPicPr>
          <p:nvPr/>
        </p:nvPicPr>
        <p:blipFill>
          <a:blip r:embed="rId2"/>
          <a:stretch>
            <a:fillRect/>
          </a:stretch>
        </p:blipFill>
        <p:spPr>
          <a:xfrm>
            <a:off x="219456" y="1285156"/>
            <a:ext cx="8165592" cy="4607726"/>
          </a:xfrm>
          <a:prstGeom prst="rect">
            <a:avLst/>
          </a:prstGeom>
        </p:spPr>
      </p:pic>
      <p:sp>
        <p:nvSpPr>
          <p:cNvPr id="10" name="Rectangle 9"/>
          <p:cNvSpPr/>
          <p:nvPr/>
        </p:nvSpPr>
        <p:spPr>
          <a:xfrm>
            <a:off x="8613648" y="868680"/>
            <a:ext cx="3410712" cy="544068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13648" y="868680"/>
            <a:ext cx="50292" cy="5440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1014983"/>
            <a:ext cx="1463040" cy="219456"/>
          </a:xfrm>
          <a:prstGeom prst="rect">
            <a:avLst/>
          </a:prstGeom>
          <a:noFill/>
        </p:spPr>
        <p:txBody>
          <a:bodyPr wrap="square" lIns="0" rIns="0" tIns="0" bIns="0" anchor="t">
            <a:spAutoFit/>
          </a:bodyPr>
          <a:lstStyle/>
          <a:p>
            <a:pPr algn="l">
              <a:spcAft>
                <a:spcPts val="0"/>
              </a:spcAft>
            </a:pPr>
            <a:r>
              <a:rPr sz="1100" b="1">
                <a:solidFill>
                  <a:srgbClr val="1F3864"/>
                </a:solidFill>
                <a:latin typeface="맑은 고딕"/>
                <a:ea typeface="맑은 고딕"/>
                <a:cs typeface="맑은 고딕"/>
              </a:rPr>
              <a:t>화면정의</a:t>
            </a:r>
          </a:p>
        </p:txBody>
      </p:sp>
      <p:sp>
        <p:nvSpPr>
          <p:cNvPr id="13" name="Rectangle 12"/>
          <p:cNvSpPr/>
          <p:nvPr/>
        </p:nvSpPr>
        <p:spPr>
          <a:xfrm>
            <a:off x="11457432" y="1028699"/>
            <a:ext cx="420624" cy="182880"/>
          </a:xfrm>
          <a:prstGeom prst="rect">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57432" y="1051559"/>
            <a:ext cx="420624" cy="146304"/>
          </a:xfrm>
          <a:prstGeom prst="rect">
            <a:avLst/>
          </a:prstGeom>
          <a:noFill/>
        </p:spPr>
        <p:txBody>
          <a:bodyPr wrap="square" lIns="0" rIns="0" tIns="0" bIns="0" anchor="t">
            <a:spAutoFit/>
          </a:bodyPr>
          <a:lstStyle/>
          <a:p>
            <a:pPr algn="ctr">
              <a:spcAft>
                <a:spcPts val="0"/>
              </a:spcAft>
            </a:pPr>
            <a:r>
              <a:rPr sz="800" b="1">
                <a:solidFill>
                  <a:srgbClr val="3D7A30"/>
                </a:solidFill>
                <a:latin typeface="맑은 고딕"/>
                <a:ea typeface="맑은 고딕"/>
                <a:cs typeface="맑은 고딕"/>
              </a:rPr>
              <a:t>추가</a:t>
            </a:r>
          </a:p>
        </p:txBody>
      </p:sp>
      <p:sp>
        <p:nvSpPr>
          <p:cNvPr id="15" name="Rectangle 14"/>
          <p:cNvSpPr/>
          <p:nvPr/>
        </p:nvSpPr>
        <p:spPr>
          <a:xfrm>
            <a:off x="8759952" y="1325880"/>
            <a:ext cx="3099816" cy="12801"/>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453895"/>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화면ID</a:t>
            </a:r>
          </a:p>
        </p:txBody>
      </p:sp>
      <p:sp>
        <p:nvSpPr>
          <p:cNvPr id="17" name="TextBox 16"/>
          <p:cNvSpPr txBox="1"/>
          <p:nvPr/>
        </p:nvSpPr>
        <p:spPr>
          <a:xfrm>
            <a:off x="9363456" y="1453895"/>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MES-TD3-043</a:t>
            </a:r>
          </a:p>
        </p:txBody>
      </p:sp>
      <p:sp>
        <p:nvSpPr>
          <p:cNvPr id="18" name="TextBox 17"/>
          <p:cNvSpPr txBox="1"/>
          <p:nvPr/>
        </p:nvSpPr>
        <p:spPr>
          <a:xfrm>
            <a:off x="8778240" y="1655063"/>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요구사항</a:t>
            </a:r>
          </a:p>
        </p:txBody>
      </p:sp>
      <p:sp>
        <p:nvSpPr>
          <p:cNvPr id="19" name="TextBox 18"/>
          <p:cNvSpPr txBox="1"/>
          <p:nvPr/>
        </p:nvSpPr>
        <p:spPr>
          <a:xfrm>
            <a:off x="9363456" y="1655063"/>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MES-AD2-063</a:t>
            </a:r>
          </a:p>
        </p:txBody>
      </p:sp>
      <p:sp>
        <p:nvSpPr>
          <p:cNvPr id="20" name="TextBox 19"/>
          <p:cNvSpPr txBox="1"/>
          <p:nvPr/>
        </p:nvSpPr>
        <p:spPr>
          <a:xfrm>
            <a:off x="8778240" y="1856231"/>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프로그램</a:t>
            </a:r>
          </a:p>
        </p:txBody>
      </p:sp>
      <p:sp>
        <p:nvSpPr>
          <p:cNvPr id="21" name="TextBox 20"/>
          <p:cNvSpPr txBox="1"/>
          <p:nvPr/>
        </p:nvSpPr>
        <p:spPr>
          <a:xfrm>
            <a:off x="9363456" y="1856231"/>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MES-TD4-047</a:t>
            </a:r>
          </a:p>
        </p:txBody>
      </p:sp>
      <p:sp>
        <p:nvSpPr>
          <p:cNvPr id="22" name="TextBox 21"/>
          <p:cNvSpPr txBox="1"/>
          <p:nvPr/>
        </p:nvSpPr>
        <p:spPr>
          <a:xfrm>
            <a:off x="8778240" y="2057400"/>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경로</a:t>
            </a:r>
          </a:p>
        </p:txBody>
      </p:sp>
      <p:sp>
        <p:nvSpPr>
          <p:cNvPr id="23" name="TextBox 22"/>
          <p:cNvSpPr txBox="1"/>
          <p:nvPr/>
        </p:nvSpPr>
        <p:spPr>
          <a:xfrm>
            <a:off x="9363456" y="2057400"/>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AI 대시보드 &gt; 배합·재고 현황판</a:t>
            </a:r>
          </a:p>
        </p:txBody>
      </p:sp>
      <p:sp>
        <p:nvSpPr>
          <p:cNvPr id="24" name="TextBox 23"/>
          <p:cNvSpPr txBox="1"/>
          <p:nvPr/>
        </p:nvSpPr>
        <p:spPr>
          <a:xfrm>
            <a:off x="8778240" y="2258568"/>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채널</a:t>
            </a:r>
          </a:p>
        </p:txBody>
      </p:sp>
      <p:sp>
        <p:nvSpPr>
          <p:cNvPr id="25" name="TextBox 24"/>
          <p:cNvSpPr txBox="1"/>
          <p:nvPr/>
        </p:nvSpPr>
        <p:spPr>
          <a:xfrm>
            <a:off x="9363456" y="2258568"/>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55" LCD 현황판(생산현장 입구 1대), 관리자 Web</a:t>
            </a:r>
          </a:p>
        </p:txBody>
      </p:sp>
      <p:sp>
        <p:nvSpPr>
          <p:cNvPr id="26" name="Rectangle 25"/>
          <p:cNvSpPr/>
          <p:nvPr/>
        </p:nvSpPr>
        <p:spPr>
          <a:xfrm>
            <a:off x="8759952" y="2551176"/>
            <a:ext cx="3099816" cy="12801"/>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2697480"/>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화면 목적</a:t>
            </a:r>
          </a:p>
        </p:txBody>
      </p:sp>
      <p:sp>
        <p:nvSpPr>
          <p:cNvPr id="28" name="TextBox 27"/>
          <p:cNvSpPr txBox="1"/>
          <p:nvPr/>
        </p:nvSpPr>
        <p:spPr>
          <a:xfrm>
            <a:off x="8833104" y="2898648"/>
            <a:ext cx="2990088" cy="423672"/>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AI 추천 배합비율·신뢰도와 원자재별 재고·임계재고 경고를 생산현장 대형화면에 상시 게시하여 재고 부족으로 인한 생산 차질을 사전에 막는다.</a:t>
            </a:r>
          </a:p>
        </p:txBody>
      </p:sp>
      <p:sp>
        <p:nvSpPr>
          <p:cNvPr id="29" name="TextBox 28"/>
          <p:cNvSpPr txBox="1"/>
          <p:nvPr/>
        </p:nvSpPr>
        <p:spPr>
          <a:xfrm>
            <a:off x="8778240" y="3459480"/>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처리 절차</a:t>
            </a:r>
          </a:p>
        </p:txBody>
      </p:sp>
      <p:sp>
        <p:nvSpPr>
          <p:cNvPr id="30" name="TextBox 29"/>
          <p:cNvSpPr txBox="1"/>
          <p:nvPr/>
        </p:nvSpPr>
        <p:spPr>
          <a:xfrm>
            <a:off x="8833104" y="3660648"/>
            <a:ext cx="2990088" cy="423672"/>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현황판 전용 계정 자동 로그인 → 최신 추천 배합비율·신뢰도 조회 → 원자재별 재고를 안전재고 기준과 대비 → 경고 단계 판정(정상/주의/부족) → 1분 주기 자동 갱신</a:t>
            </a:r>
          </a:p>
        </p:txBody>
      </p:sp>
      <p:sp>
        <p:nvSpPr>
          <p:cNvPr id="31" name="TextBox 30"/>
          <p:cNvSpPr txBox="1"/>
          <p:nvPr/>
        </p:nvSpPr>
        <p:spPr>
          <a:xfrm>
            <a:off x="8778240" y="4221480"/>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제약사항</a:t>
            </a:r>
          </a:p>
        </p:txBody>
      </p:sp>
      <p:sp>
        <p:nvSpPr>
          <p:cNvPr id="32" name="Rectangle 31"/>
          <p:cNvSpPr/>
          <p:nvPr/>
        </p:nvSpPr>
        <p:spPr>
          <a:xfrm>
            <a:off x="8759952" y="4390644"/>
            <a:ext cx="3099816" cy="865632"/>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59952" y="4390644"/>
            <a:ext cx="27432" cy="865632"/>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33104" y="4422648"/>
            <a:ext cx="2990088" cy="801624"/>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게시 대상 원자재는 Sn·Pb·Ag·Cu 4종 전체, 갱신 주기는 1분, 설치는 생산현장 입구 55" LCD 1대이다(킥오프 논의 '내용(안)' 반영). 원자재별 안전재고 기준 수량은 도입기업이 확정해야 하며 확정 전까지 경고가 동작하지 않는다. 배합 추천은 배합비율 최적화(MES-TD3-012), 재고는 입고관리(MES-TD3-005)가 적재한 데이터에 의존한다.</a:t>
            </a:r>
          </a:p>
        </p:txBody>
      </p:sp>
      <p:sp>
        <p:nvSpPr>
          <p:cNvPr id="35" name="TextBox 34"/>
          <p:cNvSpPr txBox="1"/>
          <p:nvPr/>
        </p:nvSpPr>
        <p:spPr>
          <a:xfrm>
            <a:off x="8778240" y="5361432"/>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주요 기능</a:t>
            </a:r>
          </a:p>
        </p:txBody>
      </p:sp>
      <p:sp>
        <p:nvSpPr>
          <p:cNvPr id="36" name="TextBox 35"/>
          <p:cNvSpPr txBox="1"/>
          <p:nvPr/>
        </p:nvSpPr>
        <p:spPr>
          <a:xfrm>
            <a:off x="8833104" y="5562600"/>
            <a:ext cx="2990088" cy="549656"/>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1. 배합·재고 현황판 조회 (추천 배합비율·신뢰도, 원자재별 재고·임계재고 경고, 최근 배합 이력) (EQ, 가중치 4 FP)</a:t>
            </a:r>
          </a:p>
          <a:p>
            <a:pPr algn="l">
              <a:lnSpc>
                <a:spcPct val="124000"/>
              </a:lnSpc>
              <a:spcAft>
                <a:spcPts val="200"/>
              </a:spcAft>
            </a:pPr>
            <a:r>
              <a:rPr sz="800" b="0">
                <a:solidFill>
                  <a:srgbClr val="4A5566"/>
                </a:solidFill>
                <a:latin typeface="맑은 고딕"/>
                <a:ea typeface="맑은 고딕"/>
                <a:cs typeface="맑은 고딕"/>
              </a:rPr>
              <a:t>2. 안전재고 기준 등록·수정 (원자재별 임계 수량·경고 단계) (EI, 가중치 3 FP)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신규 요구사항(킥오프 추가)</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작업지시관리</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2 / 3</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868680"/>
            <a:ext cx="8275320" cy="544068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d3-MES-TD3-044.png"/>
          <p:cNvPicPr>
            <a:picLocks noChangeAspect="1"/>
          </p:cNvPicPr>
          <p:nvPr/>
        </p:nvPicPr>
        <p:blipFill>
          <a:blip r:embed="rId2"/>
          <a:stretch>
            <a:fillRect/>
          </a:stretch>
        </p:blipFill>
        <p:spPr>
          <a:xfrm>
            <a:off x="219456" y="1285156"/>
            <a:ext cx="8165592" cy="4607726"/>
          </a:xfrm>
          <a:prstGeom prst="rect">
            <a:avLst/>
          </a:prstGeom>
        </p:spPr>
      </p:pic>
      <p:sp>
        <p:nvSpPr>
          <p:cNvPr id="10" name="Rectangle 9"/>
          <p:cNvSpPr/>
          <p:nvPr/>
        </p:nvSpPr>
        <p:spPr>
          <a:xfrm>
            <a:off x="8613648" y="868680"/>
            <a:ext cx="3410712" cy="544068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13648" y="868680"/>
            <a:ext cx="50292" cy="5440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1014983"/>
            <a:ext cx="1463040" cy="219456"/>
          </a:xfrm>
          <a:prstGeom prst="rect">
            <a:avLst/>
          </a:prstGeom>
          <a:noFill/>
        </p:spPr>
        <p:txBody>
          <a:bodyPr wrap="square" lIns="0" rIns="0" tIns="0" bIns="0" anchor="t">
            <a:spAutoFit/>
          </a:bodyPr>
          <a:lstStyle/>
          <a:p>
            <a:pPr algn="l">
              <a:spcAft>
                <a:spcPts val="0"/>
              </a:spcAft>
            </a:pPr>
            <a:r>
              <a:rPr sz="1100" b="1">
                <a:solidFill>
                  <a:srgbClr val="1F3864"/>
                </a:solidFill>
                <a:latin typeface="맑은 고딕"/>
                <a:ea typeface="맑은 고딕"/>
                <a:cs typeface="맑은 고딕"/>
              </a:rPr>
              <a:t>화면정의</a:t>
            </a:r>
          </a:p>
        </p:txBody>
      </p:sp>
      <p:sp>
        <p:nvSpPr>
          <p:cNvPr id="13" name="Rectangle 12"/>
          <p:cNvSpPr/>
          <p:nvPr/>
        </p:nvSpPr>
        <p:spPr>
          <a:xfrm>
            <a:off x="11457432" y="1028699"/>
            <a:ext cx="420624" cy="182880"/>
          </a:xfrm>
          <a:prstGeom prst="rect">
            <a:avLst/>
          </a:prstGeom>
          <a:solidFill>
            <a:srgbClr val="E8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57432" y="1051559"/>
            <a:ext cx="420624" cy="146304"/>
          </a:xfrm>
          <a:prstGeom prst="rect">
            <a:avLst/>
          </a:prstGeom>
          <a:noFill/>
        </p:spPr>
        <p:txBody>
          <a:bodyPr wrap="square" lIns="0" rIns="0" tIns="0" bIns="0" anchor="t">
            <a:spAutoFit/>
          </a:bodyPr>
          <a:lstStyle/>
          <a:p>
            <a:pPr algn="ctr">
              <a:spcAft>
                <a:spcPts val="0"/>
              </a:spcAft>
            </a:pPr>
            <a:r>
              <a:rPr sz="800" b="1">
                <a:solidFill>
                  <a:srgbClr val="3D7A30"/>
                </a:solidFill>
                <a:latin typeface="맑은 고딕"/>
                <a:ea typeface="맑은 고딕"/>
                <a:cs typeface="맑은 고딕"/>
              </a:rPr>
              <a:t>추가</a:t>
            </a:r>
          </a:p>
        </p:txBody>
      </p:sp>
      <p:sp>
        <p:nvSpPr>
          <p:cNvPr id="15" name="Rectangle 14"/>
          <p:cNvSpPr/>
          <p:nvPr/>
        </p:nvSpPr>
        <p:spPr>
          <a:xfrm>
            <a:off x="8759952" y="1325880"/>
            <a:ext cx="3099816" cy="12801"/>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453895"/>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화면ID</a:t>
            </a:r>
          </a:p>
        </p:txBody>
      </p:sp>
      <p:sp>
        <p:nvSpPr>
          <p:cNvPr id="17" name="TextBox 16"/>
          <p:cNvSpPr txBox="1"/>
          <p:nvPr/>
        </p:nvSpPr>
        <p:spPr>
          <a:xfrm>
            <a:off x="9363456" y="1453895"/>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MES-TD3-044</a:t>
            </a:r>
          </a:p>
        </p:txBody>
      </p:sp>
      <p:sp>
        <p:nvSpPr>
          <p:cNvPr id="18" name="TextBox 17"/>
          <p:cNvSpPr txBox="1"/>
          <p:nvPr/>
        </p:nvSpPr>
        <p:spPr>
          <a:xfrm>
            <a:off x="8778240" y="1655063"/>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요구사항</a:t>
            </a:r>
          </a:p>
        </p:txBody>
      </p:sp>
      <p:sp>
        <p:nvSpPr>
          <p:cNvPr id="19" name="TextBox 18"/>
          <p:cNvSpPr txBox="1"/>
          <p:nvPr/>
        </p:nvSpPr>
        <p:spPr>
          <a:xfrm>
            <a:off x="9363456" y="1655063"/>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MES-AD2-064</a:t>
            </a:r>
          </a:p>
        </p:txBody>
      </p:sp>
      <p:sp>
        <p:nvSpPr>
          <p:cNvPr id="20" name="TextBox 19"/>
          <p:cNvSpPr txBox="1"/>
          <p:nvPr/>
        </p:nvSpPr>
        <p:spPr>
          <a:xfrm>
            <a:off x="8778240" y="1856231"/>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프로그램</a:t>
            </a:r>
          </a:p>
        </p:txBody>
      </p:sp>
      <p:sp>
        <p:nvSpPr>
          <p:cNvPr id="21" name="TextBox 20"/>
          <p:cNvSpPr txBox="1"/>
          <p:nvPr/>
        </p:nvSpPr>
        <p:spPr>
          <a:xfrm>
            <a:off x="9363456" y="1856231"/>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MES-TD4-048</a:t>
            </a:r>
          </a:p>
        </p:txBody>
      </p:sp>
      <p:sp>
        <p:nvSpPr>
          <p:cNvPr id="22" name="TextBox 21"/>
          <p:cNvSpPr txBox="1"/>
          <p:nvPr/>
        </p:nvSpPr>
        <p:spPr>
          <a:xfrm>
            <a:off x="8778240" y="2057400"/>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경로</a:t>
            </a:r>
          </a:p>
        </p:txBody>
      </p:sp>
      <p:sp>
        <p:nvSpPr>
          <p:cNvPr id="23" name="TextBox 22"/>
          <p:cNvSpPr txBox="1"/>
          <p:nvPr/>
        </p:nvSpPr>
        <p:spPr>
          <a:xfrm>
            <a:off x="9363456" y="2057400"/>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공정관리 &gt; 작업지시관리</a:t>
            </a:r>
          </a:p>
        </p:txBody>
      </p:sp>
      <p:sp>
        <p:nvSpPr>
          <p:cNvPr id="24" name="TextBox 23"/>
          <p:cNvSpPr txBox="1"/>
          <p:nvPr/>
        </p:nvSpPr>
        <p:spPr>
          <a:xfrm>
            <a:off x="8778240" y="2258568"/>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채널</a:t>
            </a:r>
          </a:p>
        </p:txBody>
      </p:sp>
      <p:sp>
        <p:nvSpPr>
          <p:cNvPr id="25" name="TextBox 24"/>
          <p:cNvSpPr txBox="1"/>
          <p:nvPr/>
        </p:nvSpPr>
        <p:spPr>
          <a:xfrm>
            <a:off x="9363456" y="2258568"/>
            <a:ext cx="2496312" cy="288163"/>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17" Panel PC(현장 공정별 게시), 관리자 Web, Smart Pad</a:t>
            </a:r>
          </a:p>
        </p:txBody>
      </p:sp>
      <p:sp>
        <p:nvSpPr>
          <p:cNvPr id="26" name="Rectangle 25"/>
          <p:cNvSpPr/>
          <p:nvPr/>
        </p:nvSpPr>
        <p:spPr>
          <a:xfrm>
            <a:off x="8759952" y="2665603"/>
            <a:ext cx="3099816" cy="12801"/>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2811907"/>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화면 목적</a:t>
            </a:r>
          </a:p>
        </p:txBody>
      </p:sp>
      <p:sp>
        <p:nvSpPr>
          <p:cNvPr id="28" name="TextBox 27"/>
          <p:cNvSpPr txBox="1"/>
          <p:nvPr/>
        </p:nvSpPr>
        <p:spPr>
          <a:xfrm>
            <a:off x="8833104" y="3013075"/>
            <a:ext cx="2990088" cy="423672"/>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매일 생성되는 작업지시서를 8개 공정별로 구분해 현장 화면에 자동 게시하고, 담당자가 본인 담당 공정의 지시만 확인하도록 한다.</a:t>
            </a:r>
          </a:p>
        </p:txBody>
      </p:sp>
      <p:sp>
        <p:nvSpPr>
          <p:cNvPr id="29" name="TextBox 28"/>
          <p:cNvSpPr txBox="1"/>
          <p:nvPr/>
        </p:nvSpPr>
        <p:spPr>
          <a:xfrm>
            <a:off x="8778240" y="3573907"/>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처리 절차</a:t>
            </a:r>
          </a:p>
        </p:txBody>
      </p:sp>
      <p:sp>
        <p:nvSpPr>
          <p:cNvPr id="30" name="TextBox 29"/>
          <p:cNvSpPr txBox="1"/>
          <p:nvPr/>
        </p:nvSpPr>
        <p:spPr>
          <a:xfrm>
            <a:off x="8833104" y="3775075"/>
            <a:ext cx="2990088" cy="423672"/>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작업지시 등록(수동 입력) → 생산 품목·목표 수량·배합비율·작업조건 기준 지정 → 8개 공정별 담당 배정 → 게시 → 담당자 화면에 본인 공정 지시만 표시 → 진행상태 갱신</a:t>
            </a:r>
          </a:p>
        </p:txBody>
      </p:sp>
      <p:sp>
        <p:nvSpPr>
          <p:cNvPr id="31" name="TextBox 30"/>
          <p:cNvSpPr txBox="1"/>
          <p:nvPr/>
        </p:nvSpPr>
        <p:spPr>
          <a:xfrm>
            <a:off x="8778240" y="4335907"/>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제약사항</a:t>
            </a:r>
          </a:p>
        </p:txBody>
      </p:sp>
      <p:sp>
        <p:nvSpPr>
          <p:cNvPr id="32" name="Rectangle 31"/>
          <p:cNvSpPr/>
          <p:nvPr/>
        </p:nvSpPr>
        <p:spPr>
          <a:xfrm>
            <a:off x="8759952" y="4505071"/>
            <a:ext cx="3099816" cy="991616"/>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59952" y="4505071"/>
            <a:ext cx="27432" cy="991616"/>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33104" y="4537075"/>
            <a:ext cx="2990088" cy="927608"/>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1단계는 수동 입력이며 ERP 생산계획 연계 자동 생성은 ERP 연계 방식(MES-AD2-059) 확정 이후 2단계로 적용한다(킥오프 논의 '내용(안)' 반영). 역할 구분은 8개 공정(입고·보관/용해/성분분석/주조/압출/절단/품질검사/포장·출하) 기준이고 게시 단말은 현장 Panel PC와 관리자 Web이다. 공정별 담당자 배정이 사용자·권한관리(MES-TD3-024)에 등록되어야 역할별 게시가 성립한다.</a:t>
            </a:r>
          </a:p>
        </p:txBody>
      </p:sp>
      <p:sp>
        <p:nvSpPr>
          <p:cNvPr id="35" name="TextBox 34"/>
          <p:cNvSpPr txBox="1"/>
          <p:nvPr/>
        </p:nvSpPr>
        <p:spPr>
          <a:xfrm>
            <a:off x="8778240" y="5601843"/>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주요 기능</a:t>
            </a:r>
          </a:p>
        </p:txBody>
      </p:sp>
      <p:sp>
        <p:nvSpPr>
          <p:cNvPr id="36" name="TextBox 35"/>
          <p:cNvSpPr txBox="1"/>
          <p:nvPr/>
        </p:nvSpPr>
        <p:spPr>
          <a:xfrm>
            <a:off x="8833104" y="5803011"/>
            <a:ext cx="2990088" cy="297688"/>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1. 작업지시 등록·수정 (생산 품목·목표 수량·배합비율·담당 공정·작업조건 기준) (EI, 가중치 4 FP)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신규 요구사항(킥오프 추가)</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출고서류 발행</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3 / 3</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868680"/>
            <a:ext cx="8275320" cy="544068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d3-MES-TD3-045.png"/>
          <p:cNvPicPr>
            <a:picLocks noChangeAspect="1"/>
          </p:cNvPicPr>
          <p:nvPr/>
        </p:nvPicPr>
        <p:blipFill>
          <a:blip r:embed="rId2"/>
          <a:stretch>
            <a:fillRect/>
          </a:stretch>
        </p:blipFill>
        <p:spPr>
          <a:xfrm>
            <a:off x="219456" y="1285156"/>
            <a:ext cx="8165592" cy="4607726"/>
          </a:xfrm>
          <a:prstGeom prst="rect">
            <a:avLst/>
          </a:prstGeom>
        </p:spPr>
      </p:pic>
      <p:sp>
        <p:nvSpPr>
          <p:cNvPr id="10" name="Rectangle 9"/>
          <p:cNvSpPr/>
          <p:nvPr/>
        </p:nvSpPr>
        <p:spPr>
          <a:xfrm>
            <a:off x="8613648" y="868680"/>
            <a:ext cx="3410712" cy="544068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13648" y="868680"/>
            <a:ext cx="50292" cy="5440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1014983"/>
            <a:ext cx="1463040" cy="219456"/>
          </a:xfrm>
          <a:prstGeom prst="rect">
            <a:avLst/>
          </a:prstGeom>
          <a:noFill/>
        </p:spPr>
        <p:txBody>
          <a:bodyPr wrap="square" lIns="0" rIns="0" tIns="0" bIns="0" anchor="t">
            <a:spAutoFit/>
          </a:bodyPr>
          <a:lstStyle/>
          <a:p>
            <a:pPr algn="l">
              <a:spcAft>
                <a:spcPts val="0"/>
              </a:spcAft>
            </a:pPr>
            <a:r>
              <a:rPr sz="1100" b="1">
                <a:solidFill>
                  <a:srgbClr val="1F3864"/>
                </a:solidFill>
                <a:latin typeface="맑은 고딕"/>
                <a:ea typeface="맑은 고딕"/>
                <a:cs typeface="맑은 고딕"/>
              </a:rPr>
              <a:t>화면정의</a:t>
            </a:r>
          </a:p>
        </p:txBody>
      </p:sp>
      <p:sp>
        <p:nvSpPr>
          <p:cNvPr id="13" name="Rectangle 12"/>
          <p:cNvSpPr/>
          <p:nvPr/>
        </p:nvSpPr>
        <p:spPr>
          <a:xfrm>
            <a:off x="11457432" y="1028699"/>
            <a:ext cx="420624" cy="182880"/>
          </a:xfrm>
          <a:prstGeom prst="rect">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57432" y="1051559"/>
            <a:ext cx="420624" cy="146304"/>
          </a:xfrm>
          <a:prstGeom prst="rect">
            <a:avLst/>
          </a:prstGeom>
          <a:noFill/>
        </p:spPr>
        <p:txBody>
          <a:bodyPr wrap="square" lIns="0" rIns="0" tIns="0" bIns="0" anchor="t">
            <a:spAutoFit/>
          </a:bodyPr>
          <a:lstStyle/>
          <a:p>
            <a:pPr algn="ctr">
              <a:spcAft>
                <a:spcPts val="0"/>
              </a:spcAft>
            </a:pPr>
            <a:r>
              <a:rPr sz="800" b="1">
                <a:solidFill>
                  <a:srgbClr val="2B5FA8"/>
                </a:solidFill>
                <a:latin typeface="맑은 고딕"/>
                <a:ea typeface="맑은 고딕"/>
                <a:cs typeface="맑은 고딕"/>
              </a:rPr>
              <a:t>변경</a:t>
            </a:r>
          </a:p>
        </p:txBody>
      </p:sp>
      <p:sp>
        <p:nvSpPr>
          <p:cNvPr id="15" name="Rectangle 14"/>
          <p:cNvSpPr/>
          <p:nvPr/>
        </p:nvSpPr>
        <p:spPr>
          <a:xfrm>
            <a:off x="8759952" y="1325880"/>
            <a:ext cx="3099816" cy="12801"/>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453895"/>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화면ID</a:t>
            </a:r>
          </a:p>
        </p:txBody>
      </p:sp>
      <p:sp>
        <p:nvSpPr>
          <p:cNvPr id="17" name="TextBox 16"/>
          <p:cNvSpPr txBox="1"/>
          <p:nvPr/>
        </p:nvSpPr>
        <p:spPr>
          <a:xfrm>
            <a:off x="9363456" y="1453895"/>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MES-TD3-045</a:t>
            </a:r>
          </a:p>
        </p:txBody>
      </p:sp>
      <p:sp>
        <p:nvSpPr>
          <p:cNvPr id="18" name="TextBox 17"/>
          <p:cNvSpPr txBox="1"/>
          <p:nvPr/>
        </p:nvSpPr>
        <p:spPr>
          <a:xfrm>
            <a:off x="8778240" y="1655063"/>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요구사항</a:t>
            </a:r>
          </a:p>
        </p:txBody>
      </p:sp>
      <p:sp>
        <p:nvSpPr>
          <p:cNvPr id="19" name="TextBox 18"/>
          <p:cNvSpPr txBox="1"/>
          <p:nvPr/>
        </p:nvSpPr>
        <p:spPr>
          <a:xfrm>
            <a:off x="9363456" y="1655063"/>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MES-AD2-065</a:t>
            </a:r>
          </a:p>
        </p:txBody>
      </p:sp>
      <p:sp>
        <p:nvSpPr>
          <p:cNvPr id="20" name="TextBox 19"/>
          <p:cNvSpPr txBox="1"/>
          <p:nvPr/>
        </p:nvSpPr>
        <p:spPr>
          <a:xfrm>
            <a:off x="8778240" y="1856231"/>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프로그램</a:t>
            </a:r>
          </a:p>
        </p:txBody>
      </p:sp>
      <p:sp>
        <p:nvSpPr>
          <p:cNvPr id="21" name="TextBox 20"/>
          <p:cNvSpPr txBox="1"/>
          <p:nvPr/>
        </p:nvSpPr>
        <p:spPr>
          <a:xfrm>
            <a:off x="9363456" y="1856231"/>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MES-TD4-049</a:t>
            </a:r>
          </a:p>
        </p:txBody>
      </p:sp>
      <p:sp>
        <p:nvSpPr>
          <p:cNvPr id="22" name="TextBox 21"/>
          <p:cNvSpPr txBox="1"/>
          <p:nvPr/>
        </p:nvSpPr>
        <p:spPr>
          <a:xfrm>
            <a:off x="8778240" y="2057400"/>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경로</a:t>
            </a:r>
          </a:p>
        </p:txBody>
      </p:sp>
      <p:sp>
        <p:nvSpPr>
          <p:cNvPr id="23" name="TextBox 22"/>
          <p:cNvSpPr txBox="1"/>
          <p:nvPr/>
        </p:nvSpPr>
        <p:spPr>
          <a:xfrm>
            <a:off x="9363456" y="2057400"/>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포장출하관리 &gt; 출고서류 발행</a:t>
            </a:r>
          </a:p>
        </p:txBody>
      </p:sp>
      <p:sp>
        <p:nvSpPr>
          <p:cNvPr id="24" name="TextBox 23"/>
          <p:cNvSpPr txBox="1"/>
          <p:nvPr/>
        </p:nvSpPr>
        <p:spPr>
          <a:xfrm>
            <a:off x="8778240" y="2258568"/>
            <a:ext cx="566928"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채널</a:t>
            </a:r>
          </a:p>
        </p:txBody>
      </p:sp>
      <p:sp>
        <p:nvSpPr>
          <p:cNvPr id="25" name="TextBox 24"/>
          <p:cNvSpPr txBox="1"/>
          <p:nvPr/>
        </p:nvSpPr>
        <p:spPr>
          <a:xfrm>
            <a:off x="9363456" y="2258568"/>
            <a:ext cx="2496312" cy="153225"/>
          </a:xfrm>
          <a:prstGeom prst="rect">
            <a:avLst/>
          </a:prstGeom>
          <a:noFill/>
        </p:spPr>
        <p:txBody>
          <a:bodyPr wrap="square" lIns="0" rIns="0" tIns="0" bIns="0" anchor="t">
            <a:spAutoFit/>
          </a:bodyPr>
          <a:lstStyle/>
          <a:p>
            <a:pPr algn="l">
              <a:lnSpc>
                <a:spcPct val="125000"/>
              </a:lnSpc>
              <a:spcAft>
                <a:spcPts val="0"/>
              </a:spcAft>
            </a:pPr>
            <a:r>
              <a:rPr sz="850" b="1">
                <a:solidFill>
                  <a:srgbClr val="1C2430"/>
                </a:solidFill>
                <a:latin typeface="맑은 고딕"/>
                <a:ea typeface="맑은 고딕"/>
                <a:cs typeface="맑은 고딕"/>
              </a:rPr>
              <a:t>관리자 Web, 문서 프린터, 이메일 발송</a:t>
            </a:r>
          </a:p>
        </p:txBody>
      </p:sp>
      <p:sp>
        <p:nvSpPr>
          <p:cNvPr id="26" name="Rectangle 25"/>
          <p:cNvSpPr/>
          <p:nvPr/>
        </p:nvSpPr>
        <p:spPr>
          <a:xfrm>
            <a:off x="8759952" y="2551176"/>
            <a:ext cx="3099816" cy="12801"/>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2697480"/>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화면 목적</a:t>
            </a:r>
          </a:p>
        </p:txBody>
      </p:sp>
      <p:sp>
        <p:nvSpPr>
          <p:cNvPr id="28" name="TextBox 27"/>
          <p:cNvSpPr txBox="1"/>
          <p:nvPr/>
        </p:nvSpPr>
        <p:spPr>
          <a:xfrm>
            <a:off x="8833104" y="2898648"/>
            <a:ext cx="2990088" cy="423672"/>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출하 승인이 완료되는 시점에 거래명세서·출하증명서·품질성적서를 자동 생성하고, 포장 시점의 바코드·중량 데이터를 서류에 자동 반영한다.</a:t>
            </a:r>
          </a:p>
        </p:txBody>
      </p:sp>
      <p:sp>
        <p:nvSpPr>
          <p:cNvPr id="29" name="TextBox 28"/>
          <p:cNvSpPr txBox="1"/>
          <p:nvPr/>
        </p:nvSpPr>
        <p:spPr>
          <a:xfrm>
            <a:off x="8778240" y="3459480"/>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처리 절차</a:t>
            </a:r>
          </a:p>
        </p:txBody>
      </p:sp>
      <p:sp>
        <p:nvSpPr>
          <p:cNvPr id="30" name="TextBox 29"/>
          <p:cNvSpPr txBox="1"/>
          <p:nvPr/>
        </p:nvSpPr>
        <p:spPr>
          <a:xfrm>
            <a:off x="8833104" y="3660648"/>
            <a:ext cx="2990088" cy="549656"/>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출하 승인 완료 감지 → 서류 양식 선택(거래명세서·출하증명서·품질성적서) → 출하·포장·검사 데이터 및 바코드·중량 자동 반영 → PDF 생성 → 발행이력 기록 → 다운로드·인쇄·이메일 발송</a:t>
            </a:r>
          </a:p>
        </p:txBody>
      </p:sp>
      <p:sp>
        <p:nvSpPr>
          <p:cNvPr id="31" name="TextBox 30"/>
          <p:cNvSpPr txBox="1"/>
          <p:nvPr/>
        </p:nvSpPr>
        <p:spPr>
          <a:xfrm>
            <a:off x="8778240" y="4347464"/>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제약사항</a:t>
            </a:r>
          </a:p>
        </p:txBody>
      </p:sp>
      <p:sp>
        <p:nvSpPr>
          <p:cNvPr id="32" name="Rectangle 31"/>
          <p:cNvSpPr/>
          <p:nvPr/>
        </p:nvSpPr>
        <p:spPr>
          <a:xfrm>
            <a:off x="8759952" y="4516628"/>
            <a:ext cx="3099816" cy="991616"/>
          </a:xfrm>
          <a:prstGeom prst="rect">
            <a:avLst/>
          </a:prstGeom>
          <a:solidFill>
            <a:srgbClr val="FB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59952" y="4516628"/>
            <a:ext cx="27432" cy="991616"/>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33104" y="4548632"/>
            <a:ext cx="2990088" cy="927608"/>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발행 대상은 거래명세서·출하증명서·품질성적서 3종, 발행 방식은 PDF 다운로드를 기본으로 인쇄·이메일 발송을 함께 제공한다(킥오프 논의 '내용(안)' 반영). 서류 양식은 기존 ERP 양식 재사용을 전제로 하므로 ERP 연계 방식(MES-AD2-059) 확정이 선행 과제이며 확정 전까지 양식·항목은 잠정이다. 품질성적서는 검사결과관리(MES-TD3-016), 중량·바코드는 포장 데이터가 등록되어야 채워진다.</a:t>
            </a:r>
          </a:p>
        </p:txBody>
      </p:sp>
      <p:sp>
        <p:nvSpPr>
          <p:cNvPr id="35" name="TextBox 34"/>
          <p:cNvSpPr txBox="1"/>
          <p:nvPr/>
        </p:nvSpPr>
        <p:spPr>
          <a:xfrm>
            <a:off x="8778240" y="5613400"/>
            <a:ext cx="2194560" cy="182880"/>
          </a:xfrm>
          <a:prstGeom prst="rect">
            <a:avLst/>
          </a:prstGeom>
          <a:noFill/>
        </p:spPr>
        <p:txBody>
          <a:bodyPr wrap="square" lIns="0" rIns="0" tIns="0" bIns="0" anchor="t">
            <a:spAutoFit/>
          </a:bodyPr>
          <a:lstStyle/>
          <a:p>
            <a:pPr algn="l">
              <a:spcAft>
                <a:spcPts val="0"/>
              </a:spcAft>
            </a:pPr>
            <a:r>
              <a:rPr sz="900" b="1">
                <a:solidFill>
                  <a:srgbClr val="1F3864"/>
                </a:solidFill>
                <a:latin typeface="맑은 고딕"/>
                <a:ea typeface="맑은 고딕"/>
                <a:cs typeface="맑은 고딕"/>
              </a:rPr>
              <a:t>주요 기능</a:t>
            </a:r>
          </a:p>
        </p:txBody>
      </p:sp>
      <p:sp>
        <p:nvSpPr>
          <p:cNvPr id="36" name="TextBox 35"/>
          <p:cNvSpPr txBox="1"/>
          <p:nvPr/>
        </p:nvSpPr>
        <p:spPr>
          <a:xfrm>
            <a:off x="8833104" y="5814568"/>
            <a:ext cx="2990088" cy="297688"/>
          </a:xfrm>
          <a:prstGeom prst="rect">
            <a:avLst/>
          </a:prstGeom>
          <a:noFill/>
        </p:spPr>
        <p:txBody>
          <a:bodyPr wrap="square" lIns="0" rIns="0" tIns="0" bIns="0" anchor="t">
            <a:spAutoFit/>
          </a:bodyPr>
          <a:lstStyle/>
          <a:p>
            <a:pPr algn="l">
              <a:lnSpc>
                <a:spcPct val="124000"/>
              </a:lnSpc>
              <a:spcAft>
                <a:spcPts val="200"/>
              </a:spcAft>
            </a:pPr>
            <a:r>
              <a:rPr sz="800" b="0">
                <a:solidFill>
                  <a:srgbClr val="4A5566"/>
                </a:solidFill>
                <a:latin typeface="맑은 고딕"/>
                <a:ea typeface="맑은 고딕"/>
                <a:cs typeface="맑은 고딕"/>
              </a:rPr>
              <a:t>1. 출고서류 자동 생성 (출하 승인 시점 거래명세서·출하증명서·품질성적서 3종) (EO, 가중치 5 FP)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14600"/>
            <a:ext cx="10515600" cy="914400"/>
          </a:xfrm>
          <a:prstGeom prst="rect">
            <a:avLst/>
          </a:prstGeom>
          <a:noFill/>
        </p:spPr>
        <p:txBody>
          <a:bodyPr wrap="square" lIns="0" rIns="0" tIns="0" bIns="0" anchor="t">
            <a:spAutoFit/>
          </a:bodyPr>
          <a:lstStyle/>
          <a:p>
            <a:pPr algn="l">
              <a:spcAft>
                <a:spcPts val="0"/>
              </a:spcAft>
            </a:pPr>
            <a:r>
              <a:rPr sz="4000" b="1">
                <a:solidFill>
                  <a:srgbClr val="FFFFFF"/>
                </a:solidFill>
                <a:latin typeface="맑은 고딕"/>
                <a:ea typeface="맑은 고딕"/>
                <a:cs typeface="맑은 고딕"/>
              </a:rPr>
              <a:t>공통화면</a:t>
            </a:r>
          </a:p>
        </p:txBody>
      </p:sp>
      <p:sp>
        <p:nvSpPr>
          <p:cNvPr id="5" name="Rectangle 4"/>
          <p:cNvSpPr/>
          <p:nvPr/>
        </p:nvSpPr>
        <p:spPr>
          <a:xfrm>
            <a:off x="868680" y="3611880"/>
            <a:ext cx="1463040" cy="3200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886200"/>
            <a:ext cx="9875520" cy="1005840"/>
          </a:xfrm>
          <a:prstGeom prst="rect">
            <a:avLst/>
          </a:prstGeom>
          <a:noFill/>
        </p:spPr>
        <p:txBody>
          <a:bodyPr wrap="square" lIns="0" rIns="0" tIns="0" bIns="0" anchor="t">
            <a:spAutoFit/>
          </a:bodyPr>
          <a:lstStyle/>
          <a:p>
            <a:pPr algn="l">
              <a:lnSpc>
                <a:spcPct val="135000"/>
              </a:lnSpc>
              <a:spcAft>
                <a:spcPts val="0"/>
              </a:spcAft>
            </a:pPr>
            <a:r>
              <a:rPr sz="1300" b="0">
                <a:solidFill>
                  <a:srgbClr val="B6C4DA"/>
                </a:solidFill>
                <a:latin typeface="맑은 고딕"/>
                <a:ea typeface="맑은 고딕"/>
                <a:cs typeface="맑은 고딕"/>
              </a:rPr>
              <a:t>모든 업무 화면에 공통으로 적용되는 메인·로그인·팝업·대시보드 화면이다.</a:t>
            </a:r>
          </a:p>
        </p:txBody>
      </p:sp>
      <p:sp>
        <p:nvSpPr>
          <p:cNvPr id="7" name="TextBox 6"/>
          <p:cNvSpPr txBox="1"/>
          <p:nvPr/>
        </p:nvSpPr>
        <p:spPr>
          <a:xfrm>
            <a:off x="868680" y="5212080"/>
            <a:ext cx="5486400" cy="320040"/>
          </a:xfrm>
          <a:prstGeom prst="rect">
            <a:avLst/>
          </a:prstGeom>
          <a:noFill/>
        </p:spPr>
        <p:txBody>
          <a:bodyPr wrap="square" lIns="0" rIns="0" tIns="0" bIns="0" anchor="t">
            <a:spAutoFit/>
          </a:bodyPr>
          <a:lstStyle/>
          <a:p>
            <a:pPr algn="l">
              <a:spcAft>
                <a:spcPts val="0"/>
              </a:spcAft>
            </a:pPr>
            <a:r>
              <a:rPr sz="1200" b="1">
                <a:solidFill>
                  <a:srgbClr val="C3D8F3"/>
                </a:solidFill>
                <a:latin typeface="맑은 고딕"/>
                <a:ea typeface="맑은 고딕"/>
                <a:cs typeface="맑은 고딕"/>
              </a:rPr>
              <a:t>화면 0건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화면정의서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도입기업 검토 항목</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57200" y="987552"/>
          <a:ext cx="11292840" cy="3328416"/>
        </p:xfrm>
        <a:graphic>
          <a:graphicData uri="http://schemas.openxmlformats.org/drawingml/2006/table">
            <a:tbl>
              <a:tblPr firstRow="1" bandRow="1">
                <a:tableStyleId>{5C22544A-7EE6-4342-B048-85BDC9FD1C3A}</a:tableStyleId>
              </a:tblPr>
              <a:tblGrid>
                <a:gridCol w="502920"/>
                <a:gridCol w="2286000"/>
                <a:gridCol w="1463040"/>
                <a:gridCol w="1005840"/>
                <a:gridCol w="6035040"/>
              </a:tblGrid>
              <a:tr h="310896">
                <a:tc>
                  <a:txBody>
                    <a:bodyPr wrap="square"/>
                    <a:lstStyle/>
                    <a:p>
                      <a:pPr algn="ctr"/>
                      <a:r>
                        <a:rPr sz="950" b="1">
                          <a:solidFill>
                            <a:srgbClr val="1F3864"/>
                          </a:solidFill>
                          <a:latin typeface="맑은 고딕"/>
                          <a:ea typeface="맑은 고딕"/>
                          <a:cs typeface="맑은 고딕"/>
                        </a:rPr>
                        <a:t>No</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대상 화면</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업무영역</a:t>
                      </a:r>
                    </a:p>
                  </a:txBody>
                  <a:tcPr marL="54864" marR="54864" marT="18288" marB="18288" anchor="ctr">
                    <a:solidFill>
                      <a:srgbClr val="F2F5FA"/>
                    </a:solidFill>
                  </a:tcPr>
                </a:tc>
                <a:tc>
                  <a:txBody>
                    <a:bodyPr wrap="square"/>
                    <a:lstStyle/>
                    <a:p>
                      <a:pPr algn="ctr"/>
                      <a:r>
                        <a:rPr sz="950" b="1">
                          <a:solidFill>
                            <a:srgbClr val="1F3864"/>
                          </a:solidFill>
                          <a:latin typeface="맑은 고딕"/>
                          <a:ea typeface="맑은 고딕"/>
                          <a:cs typeface="맑은 고딕"/>
                        </a:rPr>
                        <a:t>검토 결과</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검토 의견</a:t>
                      </a:r>
                    </a:p>
                  </a:txBody>
                  <a:tcPr marL="54864" marR="54864" marT="18288" marB="18288" anchor="ctr">
                    <a:solidFill>
                      <a:srgbClr val="F2F5FA"/>
                    </a:solidFill>
                  </a:tcPr>
                </a:tc>
              </a:tr>
              <a:tr h="274320">
                <a:tc>
                  <a:txBody>
                    <a:bodyPr wrap="square"/>
                    <a:lstStyle/>
                    <a:p>
                      <a:pPr algn="ctr"/>
                      <a:r>
                        <a:rPr sz="850" b="0">
                          <a:solidFill>
                            <a:srgbClr val="4A5566"/>
                          </a:solidFill>
                          <a:latin typeface="맑은 고딕"/>
                          <a:ea typeface="맑은 고딕"/>
                          <a:cs typeface="맑은 고딕"/>
                        </a:rPr>
                        <a:t>1</a:t>
                      </a:r>
                    </a:p>
                  </a:txBody>
                  <a:tcPr marL="54864" marR="54864" marT="18288" marB="18288" anchor="ctr">
                    <a:solidFill>
                      <a:srgbClr val="FFFFFF"/>
                    </a:solidFill>
                  </a:tcPr>
                </a:tc>
                <a:tc>
                  <a:txBody>
                    <a:bodyPr wrap="square"/>
                    <a:lstStyle/>
                    <a:p>
                      <a:pPr algn="l"/>
                      <a:r>
                        <a:rPr sz="850" b="1">
                          <a:solidFill>
                            <a:srgbClr val="1F3864"/>
                          </a:solidFill>
                          <a:latin typeface="맑은 고딕"/>
                          <a:ea typeface="맑은 고딕"/>
                          <a:cs typeface="맑은 고딕"/>
                        </a:rPr>
                        <a:t>MES-TD3-001~MES-TD3-004</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AI 대시보드 (4건)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FFFFF"/>
                    </a:solidFill>
                  </a:tcPr>
                </a:tc>
              </a:tr>
              <a:tr h="274320">
                <a:tc>
                  <a:txBody>
                    <a:bodyPr wrap="square"/>
                    <a:lstStyle/>
                    <a:p>
                      <a:pPr algn="ctr"/>
                      <a:r>
                        <a:rPr sz="850" b="0">
                          <a:solidFill>
                            <a:srgbClr val="4A5566"/>
                          </a:solidFill>
                          <a:latin typeface="맑은 고딕"/>
                          <a:ea typeface="맑은 고딕"/>
                          <a:cs typeface="맑은 고딕"/>
                        </a:rPr>
                        <a:t>2</a:t>
                      </a:r>
                    </a:p>
                  </a:txBody>
                  <a:tcPr marL="54864" marR="54864" marT="18288" marB="18288" anchor="ctr">
                    <a:solidFill>
                      <a:srgbClr val="FAFBFD"/>
                    </a:solidFill>
                  </a:tcPr>
                </a:tc>
                <a:tc>
                  <a:txBody>
                    <a:bodyPr wrap="square"/>
                    <a:lstStyle/>
                    <a:p>
                      <a:pPr algn="l"/>
                      <a:r>
                        <a:rPr sz="850" b="1">
                          <a:solidFill>
                            <a:srgbClr val="1F3864"/>
                          </a:solidFill>
                          <a:latin typeface="맑은 고딕"/>
                          <a:ea typeface="맑은 고딕"/>
                          <a:cs typeface="맑은 고딕"/>
                        </a:rPr>
                        <a:t>MES-TD3-005~MES-TD3-008</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입고보관관리 (4건)</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AFBFD"/>
                    </a:solidFill>
                  </a:tcPr>
                </a:tc>
              </a:tr>
              <a:tr h="274320">
                <a:tc>
                  <a:txBody>
                    <a:bodyPr wrap="square"/>
                    <a:lstStyle/>
                    <a:p>
                      <a:pPr algn="ctr"/>
                      <a:r>
                        <a:rPr sz="850" b="0">
                          <a:solidFill>
                            <a:srgbClr val="4A5566"/>
                          </a:solidFill>
                          <a:latin typeface="맑은 고딕"/>
                          <a:ea typeface="맑은 고딕"/>
                          <a:cs typeface="맑은 고딕"/>
                        </a:rPr>
                        <a:t>3</a:t>
                      </a:r>
                    </a:p>
                  </a:txBody>
                  <a:tcPr marL="54864" marR="54864" marT="18288" marB="18288" anchor="ctr">
                    <a:solidFill>
                      <a:srgbClr val="FFFFFF"/>
                    </a:solidFill>
                  </a:tcPr>
                </a:tc>
                <a:tc>
                  <a:txBody>
                    <a:bodyPr wrap="square"/>
                    <a:lstStyle/>
                    <a:p>
                      <a:pPr algn="l"/>
                      <a:r>
                        <a:rPr sz="850" b="1">
                          <a:solidFill>
                            <a:srgbClr val="1F3864"/>
                          </a:solidFill>
                          <a:latin typeface="맑은 고딕"/>
                          <a:ea typeface="맑은 고딕"/>
                          <a:cs typeface="맑은 고딕"/>
                        </a:rPr>
                        <a:t>MES-TD3-009~MES-TD3-013</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성분분석관리 (5건)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FFFFF"/>
                    </a:solidFill>
                  </a:tcPr>
                </a:tc>
              </a:tr>
              <a:tr h="274320">
                <a:tc>
                  <a:txBody>
                    <a:bodyPr wrap="square"/>
                    <a:lstStyle/>
                    <a:p>
                      <a:pPr algn="ctr"/>
                      <a:r>
                        <a:rPr sz="850" b="0">
                          <a:solidFill>
                            <a:srgbClr val="4A5566"/>
                          </a:solidFill>
                          <a:latin typeface="맑은 고딕"/>
                          <a:ea typeface="맑은 고딕"/>
                          <a:cs typeface="맑은 고딕"/>
                        </a:rPr>
                        <a:t>4</a:t>
                      </a:r>
                    </a:p>
                  </a:txBody>
                  <a:tcPr marL="54864" marR="54864" marT="18288" marB="18288" anchor="ctr">
                    <a:solidFill>
                      <a:srgbClr val="FAFBFD"/>
                    </a:solidFill>
                  </a:tcPr>
                </a:tc>
                <a:tc>
                  <a:txBody>
                    <a:bodyPr wrap="square"/>
                    <a:lstStyle/>
                    <a:p>
                      <a:pPr algn="l"/>
                      <a:r>
                        <a:rPr sz="850" b="1">
                          <a:solidFill>
                            <a:srgbClr val="1F3864"/>
                          </a:solidFill>
                          <a:latin typeface="맑은 고딕"/>
                          <a:ea typeface="맑은 고딕"/>
                          <a:cs typeface="맑은 고딕"/>
                        </a:rPr>
                        <a:t>MES-TD3-014~MES-TD3-018</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포장출하관리 (5건)</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AFBFD"/>
                    </a:solidFill>
                  </a:tcPr>
                </a:tc>
              </a:tr>
              <a:tr h="274320">
                <a:tc>
                  <a:txBody>
                    <a:bodyPr wrap="square"/>
                    <a:lstStyle/>
                    <a:p>
                      <a:pPr algn="ctr"/>
                      <a:r>
                        <a:rPr sz="850" b="0">
                          <a:solidFill>
                            <a:srgbClr val="4A5566"/>
                          </a:solidFill>
                          <a:latin typeface="맑은 고딕"/>
                          <a:ea typeface="맑은 고딕"/>
                          <a:cs typeface="맑은 고딕"/>
                        </a:rPr>
                        <a:t>5</a:t>
                      </a:r>
                    </a:p>
                  </a:txBody>
                  <a:tcPr marL="54864" marR="54864" marT="18288" marB="18288" anchor="ctr">
                    <a:solidFill>
                      <a:srgbClr val="FFFFFF"/>
                    </a:solidFill>
                  </a:tcPr>
                </a:tc>
                <a:tc>
                  <a:txBody>
                    <a:bodyPr wrap="square"/>
                    <a:lstStyle/>
                    <a:p>
                      <a:pPr algn="l"/>
                      <a:r>
                        <a:rPr sz="850" b="1">
                          <a:solidFill>
                            <a:srgbClr val="1F3864"/>
                          </a:solidFill>
                          <a:latin typeface="맑은 고딕"/>
                          <a:ea typeface="맑은 고딕"/>
                          <a:cs typeface="맑은 고딕"/>
                        </a:rPr>
                        <a:t>MES-TD3-019~MES-TD3-023</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공정관리 (5건)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FFFFF"/>
                    </a:solidFill>
                  </a:tcPr>
                </a:tc>
              </a:tr>
              <a:tr h="274320">
                <a:tc>
                  <a:txBody>
                    <a:bodyPr wrap="square"/>
                    <a:lstStyle/>
                    <a:p>
                      <a:pPr algn="ctr"/>
                      <a:r>
                        <a:rPr sz="850" b="0">
                          <a:solidFill>
                            <a:srgbClr val="4A5566"/>
                          </a:solidFill>
                          <a:latin typeface="맑은 고딕"/>
                          <a:ea typeface="맑은 고딕"/>
                          <a:cs typeface="맑은 고딕"/>
                        </a:rPr>
                        <a:t>6</a:t>
                      </a:r>
                    </a:p>
                  </a:txBody>
                  <a:tcPr marL="54864" marR="54864" marT="18288" marB="18288" anchor="ctr">
                    <a:solidFill>
                      <a:srgbClr val="FAFBFD"/>
                    </a:solidFill>
                  </a:tcPr>
                </a:tc>
                <a:tc>
                  <a:txBody>
                    <a:bodyPr wrap="square"/>
                    <a:lstStyle/>
                    <a:p>
                      <a:pPr algn="l"/>
                      <a:r>
                        <a:rPr sz="850" b="1">
                          <a:solidFill>
                            <a:srgbClr val="1F3864"/>
                          </a:solidFill>
                          <a:latin typeface="맑은 고딕"/>
                          <a:ea typeface="맑은 고딕"/>
                          <a:cs typeface="맑은 고딕"/>
                        </a:rPr>
                        <a:t>MES-TD3-024~MES-TD3-027</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사용자/시스템관리 (4건)</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AFBFD"/>
                    </a:solidFill>
                  </a:tcPr>
                </a:tc>
              </a:tr>
              <a:tr h="274320">
                <a:tc>
                  <a:txBody>
                    <a:bodyPr wrap="square"/>
                    <a:lstStyle/>
                    <a:p>
                      <a:pPr algn="ctr"/>
                      <a:r>
                        <a:rPr sz="850" b="0">
                          <a:solidFill>
                            <a:srgbClr val="4A5566"/>
                          </a:solidFill>
                          <a:latin typeface="맑은 고딕"/>
                          <a:ea typeface="맑은 고딕"/>
                          <a:cs typeface="맑은 고딕"/>
                        </a:rPr>
                        <a:t>7</a:t>
                      </a:r>
                    </a:p>
                  </a:txBody>
                  <a:tcPr marL="54864" marR="54864" marT="18288" marB="18288" anchor="ctr">
                    <a:solidFill>
                      <a:srgbClr val="FFFFFF"/>
                    </a:solidFill>
                  </a:tcPr>
                </a:tc>
                <a:tc>
                  <a:txBody>
                    <a:bodyPr wrap="square"/>
                    <a:lstStyle/>
                    <a:p>
                      <a:pPr algn="l"/>
                      <a:r>
                        <a:rPr sz="850" b="1">
                          <a:solidFill>
                            <a:srgbClr val="1F3864"/>
                          </a:solidFill>
                          <a:latin typeface="맑은 고딕"/>
                          <a:ea typeface="맑은 고딕"/>
                          <a:cs typeface="맑은 고딕"/>
                        </a:rPr>
                        <a:t>MES-TD3-028~MES-TD3-030</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기준정보관리 (3건)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FFFFF"/>
                    </a:solidFill>
                  </a:tcPr>
                </a:tc>
              </a:tr>
              <a:tr h="274320">
                <a:tc>
                  <a:txBody>
                    <a:bodyPr wrap="square"/>
                    <a:lstStyle/>
                    <a:p>
                      <a:pPr algn="ctr"/>
                      <a:r>
                        <a:rPr sz="850" b="0">
                          <a:solidFill>
                            <a:srgbClr val="4A5566"/>
                          </a:solidFill>
                          <a:latin typeface="맑은 고딕"/>
                          <a:ea typeface="맑은 고딕"/>
                          <a:cs typeface="맑은 고딕"/>
                        </a:rPr>
                        <a:t>8</a:t>
                      </a:r>
                    </a:p>
                  </a:txBody>
                  <a:tcPr marL="54864" marR="54864" marT="18288" marB="18288" anchor="ctr">
                    <a:solidFill>
                      <a:srgbClr val="FAFBFD"/>
                    </a:solidFill>
                  </a:tcPr>
                </a:tc>
                <a:tc>
                  <a:txBody>
                    <a:bodyPr wrap="square"/>
                    <a:lstStyle/>
                    <a:p>
                      <a:pPr algn="l"/>
                      <a:r>
                        <a:rPr sz="850" b="1">
                          <a:solidFill>
                            <a:srgbClr val="1F3864"/>
                          </a:solidFill>
                          <a:latin typeface="맑은 고딕"/>
                          <a:ea typeface="맑은 고딕"/>
                          <a:cs typeface="맑은 고딕"/>
                        </a:rPr>
                        <a:t>MES-TD3-031~MES-TD3-035</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데이터허브관리 (5건)</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AFBFD"/>
                    </a:solidFill>
                  </a:tcPr>
                </a:tc>
              </a:tr>
              <a:tr h="274320">
                <a:tc>
                  <a:txBody>
                    <a:bodyPr wrap="square"/>
                    <a:lstStyle/>
                    <a:p>
                      <a:pPr algn="ctr"/>
                      <a:r>
                        <a:rPr sz="850" b="0">
                          <a:solidFill>
                            <a:srgbClr val="4A5566"/>
                          </a:solidFill>
                          <a:latin typeface="맑은 고딕"/>
                          <a:ea typeface="맑은 고딕"/>
                          <a:cs typeface="맑은 고딕"/>
                        </a:rPr>
                        <a:t>9</a:t>
                      </a:r>
                    </a:p>
                  </a:txBody>
                  <a:tcPr marL="54864" marR="54864" marT="18288" marB="18288" anchor="ctr">
                    <a:solidFill>
                      <a:srgbClr val="FFFFFF"/>
                    </a:solidFill>
                  </a:tcPr>
                </a:tc>
                <a:tc>
                  <a:txBody>
                    <a:bodyPr wrap="square"/>
                    <a:lstStyle/>
                    <a:p>
                      <a:pPr algn="l"/>
                      <a:r>
                        <a:rPr sz="850" b="1">
                          <a:solidFill>
                            <a:srgbClr val="1F3864"/>
                          </a:solidFill>
                          <a:latin typeface="맑은 고딕"/>
                          <a:ea typeface="맑은 고딕"/>
                          <a:cs typeface="맑은 고딕"/>
                        </a:rPr>
                        <a:t>MES-TD3-036~MES-TD3-039</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AI Agent 통합관리 (4건)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FFFFF"/>
                    </a:solidFill>
                  </a:tcPr>
                </a:tc>
              </a:tr>
              <a:tr h="274320">
                <a:tc>
                  <a:txBody>
                    <a:bodyPr wrap="square"/>
                    <a:lstStyle/>
                    <a:p>
                      <a:pPr algn="ctr"/>
                      <a:r>
                        <a:rPr sz="850" b="0">
                          <a:solidFill>
                            <a:srgbClr val="4A5566"/>
                          </a:solidFill>
                          <a:latin typeface="맑은 고딕"/>
                          <a:ea typeface="맑은 고딕"/>
                          <a:cs typeface="맑은 고딕"/>
                        </a:rPr>
                        <a:t>10</a:t>
                      </a:r>
                    </a:p>
                  </a:txBody>
                  <a:tcPr marL="54864" marR="54864" marT="18288" marB="18288" anchor="ctr">
                    <a:solidFill>
                      <a:srgbClr val="FAFBFD"/>
                    </a:solidFill>
                  </a:tcPr>
                </a:tc>
                <a:tc>
                  <a:txBody>
                    <a:bodyPr wrap="square"/>
                    <a:lstStyle/>
                    <a:p>
                      <a:pPr algn="l"/>
                      <a:r>
                        <a:rPr sz="850" b="1">
                          <a:solidFill>
                            <a:srgbClr val="1F3864"/>
                          </a:solidFill>
                          <a:latin typeface="맑은 고딕"/>
                          <a:ea typeface="맑은 고딕"/>
                          <a:cs typeface="맑은 고딕"/>
                        </a:rPr>
                        <a:t>MES-TD3-040~MES-TD3-042</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KPI 관리 (3건)</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도입기업 합동검토 후 확정 — 화면명·조회조건·그리드 항목 및 권한 범위 확인</a:t>
                      </a:r>
                    </a:p>
                  </a:txBody>
                  <a:tcPr marL="54864" marR="54864" marT="18288" marB="18288" anchor="ctr">
                    <a:solidFill>
                      <a:srgbClr val="FAFBFD"/>
                    </a:solidFill>
                  </a:tcPr>
                </a:tc>
              </a:tr>
              <a:tr h="274320">
                <a:tc>
                  <a:txBody>
                    <a:bodyPr wrap="square"/>
                    <a:lstStyle/>
                    <a:p>
                      <a:pPr algn="ctr"/>
                      <a:r>
                        <a:rPr sz="850" b="0">
                          <a:solidFill>
                            <a:srgbClr val="4A5566"/>
                          </a:solidFill>
                          <a:latin typeface="맑은 고딕"/>
                          <a:ea typeface="맑은 고딕"/>
                          <a:cs typeface="맑은 고딕"/>
                        </a:rPr>
                        <a:t>11</a:t>
                      </a:r>
                    </a:p>
                  </a:txBody>
                  <a:tcPr marL="54864" marR="54864" marT="18288" marB="18288" anchor="ctr">
                    <a:solidFill>
                      <a:srgbClr val="FFFFFF"/>
                    </a:solidFill>
                  </a:tcPr>
                </a:tc>
                <a:tc>
                  <a:txBody>
                    <a:bodyPr wrap="square"/>
                    <a:lstStyle/>
                    <a:p>
                      <a:pPr algn="l"/>
                      <a:r>
                        <a:rPr sz="850" b="1">
                          <a:solidFill>
                            <a:srgbClr val="1F3864"/>
                          </a:solidFill>
                          <a:latin typeface="맑은 고딕"/>
                          <a:ea typeface="맑은 고딕"/>
                          <a:cs typeface="맑은 고딕"/>
                        </a:rPr>
                        <a:t>화면 없음 (MES-TD4-043~046)</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외부연계관리 (4건)</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검토 필요</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ERP 연계 방식(API/DB/Excel)과 XRF 출력 포맷 확정 후 인터페이스 사양 확정</a:t>
                      </a:r>
                    </a:p>
                  </a:txBody>
                  <a:tcPr marL="54864" marR="54864" marT="18288" marB="18288"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화면정의서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산출물 교차 확인</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57200" y="987552"/>
          <a:ext cx="11292840" cy="2577465"/>
        </p:xfrm>
        <a:graphic>
          <a:graphicData uri="http://schemas.openxmlformats.org/drawingml/2006/table">
            <a:tbl>
              <a:tblPr firstRow="1" bandRow="1">
                <a:tableStyleId>{5C22544A-7EE6-4342-B048-85BDC9FD1C3A}</a:tableStyleId>
              </a:tblPr>
              <a:tblGrid>
                <a:gridCol w="1645920"/>
                <a:gridCol w="6035040"/>
                <a:gridCol w="914400"/>
                <a:gridCol w="2697480"/>
              </a:tblGrid>
              <a:tr h="310896">
                <a:tc>
                  <a:txBody>
                    <a:bodyPr wrap="square"/>
                    <a:lstStyle/>
                    <a:p>
                      <a:pPr algn="l"/>
                      <a:r>
                        <a:rPr sz="950" b="1">
                          <a:solidFill>
                            <a:srgbClr val="1F3864"/>
                          </a:solidFill>
                          <a:latin typeface="맑은 고딕"/>
                          <a:ea typeface="맑은 고딕"/>
                          <a:cs typeface="맑은 고딕"/>
                        </a:rPr>
                        <a:t>확인 항목</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확인 내용</a:t>
                      </a:r>
                    </a:p>
                  </a:txBody>
                  <a:tcPr marL="54864" marR="54864" marT="18288" marB="18288" anchor="ctr">
                    <a:solidFill>
                      <a:srgbClr val="F2F5FA"/>
                    </a:solidFill>
                  </a:tcPr>
                </a:tc>
                <a:tc>
                  <a:txBody>
                    <a:bodyPr wrap="square"/>
                    <a:lstStyle/>
                    <a:p>
                      <a:pPr algn="ctr"/>
                      <a:r>
                        <a:rPr sz="950" b="1">
                          <a:solidFill>
                            <a:srgbClr val="1F3864"/>
                          </a:solidFill>
                          <a:latin typeface="맑은 고딕"/>
                          <a:ea typeface="맑은 고딕"/>
                          <a:cs typeface="맑은 고딕"/>
                        </a:rPr>
                        <a:t>결과</a:t>
                      </a:r>
                    </a:p>
                  </a:txBody>
                  <a:tcPr marL="54864" marR="54864" marT="18288" marB="18288" anchor="ctr">
                    <a:solidFill>
                      <a:srgbClr val="F2F5FA"/>
                    </a:solidFill>
                  </a:tcPr>
                </a:tc>
                <a:tc>
                  <a:txBody>
                    <a:bodyPr wrap="square"/>
                    <a:lstStyle/>
                    <a:p>
                      <a:pPr algn="l"/>
                      <a:r>
                        <a:rPr sz="950" b="1">
                          <a:solidFill>
                            <a:srgbClr val="1F3864"/>
                          </a:solidFill>
                          <a:latin typeface="맑은 고딕"/>
                          <a:ea typeface="맑은 고딕"/>
                          <a:cs typeface="맑은 고딕"/>
                        </a:rPr>
                        <a:t>비고</a:t>
                      </a:r>
                    </a:p>
                  </a:txBody>
                  <a:tcPr marL="54864" marR="54864" marT="18288" marB="18288" anchor="ctr">
                    <a:solidFill>
                      <a:srgbClr val="F2F5FA"/>
                    </a:solidFill>
                  </a:tcPr>
                </a:tc>
              </a:tr>
              <a:tr h="274320">
                <a:tc>
                  <a:txBody>
                    <a:bodyPr wrap="square"/>
                    <a:lstStyle/>
                    <a:p>
                      <a:pPr algn="l"/>
                      <a:r>
                        <a:rPr sz="850" b="1">
                          <a:solidFill>
                            <a:srgbClr val="1C2430"/>
                          </a:solidFill>
                          <a:latin typeface="맑은 고딕"/>
                          <a:ea typeface="맑은 고딕"/>
                          <a:cs typeface="맑은 고딕"/>
                        </a:rPr>
                        <a:t>요구사항 연계</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기능 요구사항 MES-AD2-001~042·063~065 45건이 화면ID로 1:1 추적되는가</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화면 45건, 중복·누락 없음</a:t>
                      </a:r>
                    </a:p>
                  </a:txBody>
                  <a:tcPr marL="54864" marR="54864" marT="18288" marB="18288" anchor="ctr">
                    <a:solidFill>
                      <a:srgbClr val="FFFFFF"/>
                    </a:solidFill>
                  </a:tcPr>
                </a:tc>
              </a:tr>
              <a:tr h="274320">
                <a:tc>
                  <a:txBody>
                    <a:bodyPr wrap="square"/>
                    <a:lstStyle/>
                    <a:p>
                      <a:pPr algn="l"/>
                      <a:r>
                        <a:rPr sz="850" b="1">
                          <a:solidFill>
                            <a:srgbClr val="1C2430"/>
                          </a:solidFill>
                          <a:latin typeface="맑은 고딕"/>
                          <a:ea typeface="맑은 고딕"/>
                          <a:cs typeface="맑은 고딕"/>
                        </a:rPr>
                        <a:t>화면명 정합성</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화면명이 SF-AD2 요구사항명과 일치하는가</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42/42 일치 (대조 검산 수행)</a:t>
                      </a:r>
                    </a:p>
                  </a:txBody>
                  <a:tcPr marL="54864" marR="54864" marT="18288" marB="18288" anchor="ctr">
                    <a:solidFill>
                      <a:srgbClr val="FAFBFD"/>
                    </a:solidFill>
                  </a:tcPr>
                </a:tc>
              </a:tr>
              <a:tr h="274320">
                <a:tc>
                  <a:txBody>
                    <a:bodyPr wrap="square"/>
                    <a:lstStyle/>
                    <a:p>
                      <a:pPr algn="l"/>
                      <a:r>
                        <a:rPr sz="850" b="1">
                          <a:solidFill>
                            <a:srgbClr val="1C2430"/>
                          </a:solidFill>
                          <a:latin typeface="맑은 고딕"/>
                          <a:ea typeface="맑은 고딕"/>
                          <a:cs typeface="맑은 고딕"/>
                        </a:rPr>
                        <a:t>구분 판정</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구분이 SF-AD3 기능대비표 판정과 일치하는가</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추가 29 · 변경 9 · 기존 4</a:t>
                      </a:r>
                    </a:p>
                  </a:txBody>
                  <a:tcPr marL="54864" marR="54864" marT="18288" marB="18288" anchor="ctr">
                    <a:solidFill>
                      <a:srgbClr val="FFFFFF"/>
                    </a:solidFill>
                  </a:tcPr>
                </a:tc>
              </a:tr>
              <a:tr h="346329">
                <a:tc>
                  <a:txBody>
                    <a:bodyPr wrap="square"/>
                    <a:lstStyle/>
                    <a:p>
                      <a:pPr algn="l"/>
                      <a:r>
                        <a:rPr sz="850" b="1">
                          <a:solidFill>
                            <a:srgbClr val="1C2430"/>
                          </a:solidFill>
                          <a:latin typeface="맑은 고딕"/>
                          <a:ea typeface="맑은 고딕"/>
                          <a:cs typeface="맑은 고딕"/>
                        </a:rPr>
                        <a:t>화면 대상 범위</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ILF 16건·EIF 4건·비기능 13건으로 화면을 만들지 않았는가</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ILF는 TD5 테이블, EIF는 TD4 인터페이스 프로그램으로 전개</a:t>
                      </a:r>
                    </a:p>
                  </a:txBody>
                  <a:tcPr marL="54864" marR="54864" marT="18288" marB="18288" anchor="ctr">
                    <a:solidFill>
                      <a:srgbClr val="FAFBFD"/>
                    </a:solidFill>
                  </a:tcPr>
                </a:tc>
              </a:tr>
              <a:tr h="274320">
                <a:tc>
                  <a:txBody>
                    <a:bodyPr wrap="square"/>
                    <a:lstStyle/>
                    <a:p>
                      <a:pPr algn="l"/>
                      <a:r>
                        <a:rPr sz="850" b="1">
                          <a:solidFill>
                            <a:srgbClr val="1C2430"/>
                          </a:solidFill>
                          <a:latin typeface="맑은 고딕"/>
                          <a:ea typeface="맑은 고딕"/>
                          <a:cs typeface="맑은 고딕"/>
                        </a:rPr>
                        <a:t>FP 미대응 기능</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'입고 데이터관리'·'알림 설정'·'사용자 질문이력' 3건을 화면으로 만들지 않았는가</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범위 포함 여부 확정 필요</a:t>
                      </a:r>
                    </a:p>
                  </a:txBody>
                  <a:tcPr marL="54864" marR="54864" marT="18288" marB="18288" anchor="ctr">
                    <a:solidFill>
                      <a:srgbClr val="FFFFFF"/>
                    </a:solidFill>
                  </a:tcPr>
                </a:tc>
              </a:tr>
              <a:tr h="274320">
                <a:tc>
                  <a:txBody>
                    <a:bodyPr wrap="square"/>
                    <a:lstStyle/>
                    <a:p>
                      <a:pPr algn="l"/>
                      <a:r>
                        <a:rPr sz="850" b="1">
                          <a:solidFill>
                            <a:srgbClr val="1C2430"/>
                          </a:solidFill>
                          <a:latin typeface="맑은 고딕"/>
                          <a:ea typeface="맑은 고딕"/>
                          <a:cs typeface="맑은 고딕"/>
                        </a:rPr>
                        <a:t>DB 연계</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화면별 관련 테이블이 SF-TD5에 존재하는가</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테이블 58종 전건 존재</a:t>
                      </a:r>
                    </a:p>
                  </a:txBody>
                  <a:tcPr marL="54864" marR="54864" marT="18288" marB="18288" anchor="ctr">
                    <a:solidFill>
                      <a:srgbClr val="FAFBFD"/>
                    </a:solidFill>
                  </a:tcPr>
                </a:tc>
              </a:tr>
              <a:tr h="274320">
                <a:tc>
                  <a:txBody>
                    <a:bodyPr wrap="square"/>
                    <a:lstStyle/>
                    <a:p>
                      <a:pPr algn="l"/>
                      <a:r>
                        <a:rPr sz="850" b="1">
                          <a:solidFill>
                            <a:srgbClr val="1C2430"/>
                          </a:solidFill>
                          <a:latin typeface="맑은 고딕"/>
                          <a:ea typeface="맑은 고딕"/>
                          <a:cs typeface="맑은 고딕"/>
                        </a:rPr>
                        <a:t>프로그램 연계</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화면별 프로그램ID가 SF-TD4에 존재하는가</a:t>
                      </a:r>
                    </a:p>
                  </a:txBody>
                  <a:tcPr marL="54864" marR="54864" marT="18288" marB="18288" anchor="ctr">
                    <a:solidFill>
                      <a:srgbClr val="FFFFFF"/>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FFFFF"/>
                    </a:solidFill>
                  </a:tcPr>
                </a:tc>
                <a:tc>
                  <a:txBody>
                    <a:bodyPr wrap="square"/>
                    <a:lstStyle/>
                    <a:p>
                      <a:pPr algn="l"/>
                      <a:r>
                        <a:rPr sz="850" b="0">
                          <a:solidFill>
                            <a:srgbClr val="4A5566"/>
                          </a:solidFill>
                          <a:latin typeface="맑은 고딕"/>
                          <a:ea typeface="맑은 고딕"/>
                          <a:cs typeface="맑은 고딕"/>
                        </a:rPr>
                        <a:t>동일 순번 1:1</a:t>
                      </a:r>
                    </a:p>
                  </a:txBody>
                  <a:tcPr marL="54864" marR="54864" marT="18288" marB="18288" anchor="ctr">
                    <a:solidFill>
                      <a:srgbClr val="FFFFFF"/>
                    </a:solidFill>
                  </a:tcPr>
                </a:tc>
              </a:tr>
              <a:tr h="274320">
                <a:tc>
                  <a:txBody>
                    <a:bodyPr wrap="square"/>
                    <a:lstStyle/>
                    <a:p>
                      <a:pPr algn="l"/>
                      <a:r>
                        <a:rPr sz="850" b="1">
                          <a:solidFill>
                            <a:srgbClr val="1C2430"/>
                          </a:solidFill>
                          <a:latin typeface="맑은 고딕"/>
                          <a:ea typeface="맑은 고딕"/>
                          <a:cs typeface="맑은 고딕"/>
                        </a:rPr>
                        <a:t>타 업종 표현</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충진·멸균·레토르트·발효·프레스·성형 등 타 업종 공정·화면명이 사용되지 않았는가</a:t>
                      </a:r>
                    </a:p>
                  </a:txBody>
                  <a:tcPr marL="54864" marR="54864" marT="18288" marB="18288" anchor="ctr">
                    <a:solidFill>
                      <a:srgbClr val="FAFBFD"/>
                    </a:solidFill>
                  </a:tcPr>
                </a:tc>
                <a:tc>
                  <a:txBody>
                    <a:bodyPr wrap="square"/>
                    <a:lstStyle/>
                    <a:p>
                      <a:pPr algn="ctr"/>
                      <a:r>
                        <a:rPr sz="850" b="0">
                          <a:solidFill>
                            <a:srgbClr val="4A5566"/>
                          </a:solidFill>
                          <a:latin typeface="맑은 고딕"/>
                          <a:ea typeface="맑은 고딕"/>
                          <a:cs typeface="맑은 고딕"/>
                        </a:rPr>
                        <a:t>확인</a:t>
                      </a:r>
                    </a:p>
                  </a:txBody>
                  <a:tcPr marL="54864" marR="54864" marT="18288" marB="18288" anchor="ctr">
                    <a:solidFill>
                      <a:srgbClr val="FAFBFD"/>
                    </a:solidFill>
                  </a:tcPr>
                </a:tc>
                <a:tc>
                  <a:txBody>
                    <a:bodyPr wrap="square"/>
                    <a:lstStyle/>
                    <a:p>
                      <a:pPr algn="l"/>
                      <a:r>
                        <a:rPr sz="850" b="0">
                          <a:solidFill>
                            <a:srgbClr val="4A5566"/>
                          </a:solidFill>
                          <a:latin typeface="맑은 고딕"/>
                          <a:ea typeface="맑은 고딕"/>
                          <a:cs typeface="맑은 고딕"/>
                        </a:rPr>
                        <a:t>8공정 기준 용어만 사용</a:t>
                      </a:r>
                    </a:p>
                  </a:txBody>
                  <a:tcPr marL="54864" marR="54864" marT="18288" marB="18288" anchor="ctr">
                    <a:solidFill>
                      <a:srgbClr val="FAFBFD"/>
                    </a:solidFill>
                  </a:tcPr>
                </a:tc>
              </a:tr>
            </a:tbl>
          </a:graphicData>
        </a:graphic>
      </p:graphicFrame>
      <p:sp>
        <p:nvSpPr>
          <p:cNvPr id="8" name="TextBox 7"/>
          <p:cNvSpPr txBox="1"/>
          <p:nvPr/>
        </p:nvSpPr>
        <p:spPr>
          <a:xfrm>
            <a:off x="457200" y="5806440"/>
            <a:ext cx="7315200" cy="640080"/>
          </a:xfrm>
          <a:prstGeom prst="rect">
            <a:avLst/>
          </a:prstGeom>
          <a:noFill/>
        </p:spPr>
        <p:txBody>
          <a:bodyPr wrap="square" lIns="0" rIns="0" tIns="0" bIns="0" anchor="t">
            <a:spAutoFit/>
          </a:bodyPr>
          <a:lstStyle/>
          <a:p>
            <a:pPr algn="l">
              <a:lnSpc>
                <a:spcPct val="150000"/>
              </a:lnSpc>
              <a:spcAft>
                <a:spcPts val="0"/>
              </a:spcAft>
            </a:pPr>
            <a:r>
              <a:rPr sz="1000" b="0">
                <a:solidFill>
                  <a:srgbClr val="4A5566"/>
                </a:solidFill>
                <a:latin typeface="맑은 고딕"/>
                <a:ea typeface="맑은 고딕"/>
                <a:cs typeface="맑은 고딕"/>
              </a:rPr>
              <a:t>검토  미확인 — 담당자 확인 필요  (2026. . .)</a:t>
            </a:r>
          </a:p>
          <a:p>
            <a:pPr algn="l">
              <a:lnSpc>
                <a:spcPct val="150000"/>
              </a:lnSpc>
              <a:spcAft>
                <a:spcPts val="0"/>
              </a:spcAft>
            </a:pPr>
            <a:r>
              <a:rPr sz="1000" b="0">
                <a:solidFill>
                  <a:srgbClr val="4A5566"/>
                </a:solidFill>
                <a:latin typeface="맑은 고딕"/>
                <a:ea typeface="맑은 고딕"/>
                <a:cs typeface="맑은 고딕"/>
              </a:rPr>
              <a:t>작성  미확인 — 담당자 확인 필요 (공급기업명 공란)  (2026. 08.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