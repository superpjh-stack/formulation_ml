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B88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74519"/>
            <a:ext cx="10515600" cy="256032"/>
          </a:xfrm>
          <a:prstGeom prst="rect">
            <a:avLst/>
          </a:prstGeom>
          <a:noFill/>
        </p:spPr>
        <p:txBody>
          <a:bodyPr wrap="square" lIns="0" rIns="0" tIns="0" bIns="0" anchor="t">
            <a:spAutoFit/>
          </a:bodyPr>
          <a:lstStyle/>
          <a:p>
            <a:pPr algn="l">
              <a:spcAft>
                <a:spcPts val="0"/>
              </a:spcAft>
            </a:pPr>
            <a:r>
              <a:rPr sz="1100" b="0">
                <a:solidFill>
                  <a:srgbClr val="7A8598"/>
                </a:solidFill>
                <a:latin typeface="맑은 고딕"/>
                <a:ea typeface="맑은 고딕"/>
                <a:cs typeface="맑은 고딕"/>
              </a:rPr>
              <a:t>제조AI특화 스마트공장 구축지원사업(AI공장 구축)</a:t>
            </a:r>
          </a:p>
        </p:txBody>
      </p:sp>
      <p:sp>
        <p:nvSpPr>
          <p:cNvPr id="5" name="TextBox 4"/>
          <p:cNvSpPr txBox="1"/>
          <p:nvPr/>
        </p:nvSpPr>
        <p:spPr>
          <a:xfrm>
            <a:off x="685800" y="2212848"/>
            <a:ext cx="10515600" cy="502920"/>
          </a:xfrm>
          <a:prstGeom prst="rect">
            <a:avLst/>
          </a:prstGeom>
          <a:noFill/>
        </p:spPr>
        <p:txBody>
          <a:bodyPr wrap="square" lIns="0" rIns="0" tIns="0" bIns="0" anchor="t">
            <a:spAutoFit/>
          </a:bodyPr>
          <a:lstStyle/>
          <a:p>
            <a:pPr algn="l">
              <a:spcAft>
                <a:spcPts val="0"/>
              </a:spcAft>
            </a:pPr>
            <a:r>
              <a:rPr sz="2900" b="1">
                <a:solidFill>
                  <a:srgbClr val="FFFFFF"/>
                </a:solidFill>
                <a:latin typeface="맑은 고딕"/>
                <a:ea typeface="맑은 고딕"/>
                <a:cs typeface="맑은 고딕"/>
              </a:rPr>
              <a:t>고려솔더 제조AI 시스템</a:t>
            </a:r>
          </a:p>
        </p:txBody>
      </p:sp>
      <p:sp>
        <p:nvSpPr>
          <p:cNvPr id="6" name="TextBox 5"/>
          <p:cNvSpPr txBox="1"/>
          <p:nvPr/>
        </p:nvSpPr>
        <p:spPr>
          <a:xfrm>
            <a:off x="685800" y="2761488"/>
            <a:ext cx="10515600" cy="548640"/>
          </a:xfrm>
          <a:prstGeom prst="rect">
            <a:avLst/>
          </a:prstGeom>
          <a:noFill/>
        </p:spPr>
        <p:txBody>
          <a:bodyPr wrap="square" lIns="0" rIns="0" tIns="0" bIns="0" anchor="t">
            <a:spAutoFit/>
          </a:bodyPr>
          <a:lstStyle/>
          <a:p>
            <a:pPr algn="l">
              <a:spcAft>
                <a:spcPts val="0"/>
              </a:spcAft>
            </a:pPr>
            <a:r>
              <a:rPr sz="2900" b="1">
                <a:solidFill>
                  <a:srgbClr val="C3D8F3"/>
                </a:solidFill>
                <a:latin typeface="맑은 고딕"/>
                <a:ea typeface="맑은 고딕"/>
                <a:cs typeface="맑은 고딕"/>
              </a:rPr>
              <a:t>신규 요구사항 3건 상세설명서</a:t>
            </a:r>
          </a:p>
        </p:txBody>
      </p:sp>
      <p:sp>
        <p:nvSpPr>
          <p:cNvPr id="7" name="Rectangle 6"/>
          <p:cNvSpPr/>
          <p:nvPr/>
        </p:nvSpPr>
        <p:spPr>
          <a:xfrm>
            <a:off x="685800" y="3529584"/>
            <a:ext cx="1371600" cy="32004"/>
          </a:xfrm>
          <a:prstGeom prst="rect">
            <a:avLst/>
          </a:prstGeom>
          <a:solidFill>
            <a:srgbClr val="B88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767328"/>
            <a:ext cx="10515600" cy="640080"/>
          </a:xfrm>
          <a:prstGeom prst="rect">
            <a:avLst/>
          </a:prstGeom>
          <a:noFill/>
        </p:spPr>
        <p:txBody>
          <a:bodyPr wrap="square" lIns="0" rIns="0" tIns="0" bIns="0" anchor="t">
            <a:spAutoFit/>
          </a:bodyPr>
          <a:lstStyle/>
          <a:p>
            <a:pPr algn="l">
              <a:spcAft>
                <a:spcPts val="400"/>
              </a:spcAft>
            </a:pPr>
            <a:r>
              <a:rPr sz="1200" b="0">
                <a:solidFill>
                  <a:srgbClr val="7A8598"/>
                </a:solidFill>
                <a:latin typeface="맑은 고딕"/>
                <a:ea typeface="맑은 고딕"/>
                <a:cs typeface="맑은 고딕"/>
              </a:rPr>
              <a:t>요구사항 · 개선업무 · 화면 · 프로그램 · 필요데이터</a:t>
            </a:r>
          </a:p>
          <a:p>
            <a:pPr algn="l">
              <a:spcAft>
                <a:spcPts val="400"/>
              </a:spcAft>
            </a:pPr>
            <a:r>
              <a:rPr sz="1200" b="0">
                <a:solidFill>
                  <a:srgbClr val="7A8598"/>
                </a:solidFill>
                <a:latin typeface="맑은 고딕"/>
                <a:ea typeface="맑은 고딕"/>
                <a:cs typeface="맑은 고딕"/>
              </a:rPr>
              <a:t>2026-08 킥오프 회의 추가 요청분 — 계약 범위(화면 42건) 밖, 별도 관리</a:t>
            </a:r>
          </a:p>
        </p:txBody>
      </p:sp>
      <p:sp>
        <p:nvSpPr>
          <p:cNvPr id="9" name="TextBox 8"/>
          <p:cNvSpPr txBox="1"/>
          <p:nvPr/>
        </p:nvSpPr>
        <p:spPr>
          <a:xfrm>
            <a:off x="685800" y="4617720"/>
            <a:ext cx="10515600" cy="274320"/>
          </a:xfrm>
          <a:prstGeom prst="rect">
            <a:avLst/>
          </a:prstGeom>
          <a:noFill/>
        </p:spPr>
        <p:txBody>
          <a:bodyPr wrap="square" lIns="0" rIns="0" tIns="0" bIns="0" anchor="t">
            <a:spAutoFit/>
          </a:bodyPr>
          <a:lstStyle/>
          <a:p>
            <a:pPr algn="l">
              <a:spcAft>
                <a:spcPts val="0"/>
              </a:spcAft>
            </a:pPr>
            <a:r>
              <a:rPr sz="1200" b="1">
                <a:solidFill>
                  <a:srgbClr val="FFFFFF"/>
                </a:solidFill>
                <a:latin typeface="맑은 고딕"/>
                <a:ea typeface="맑은 고딕"/>
                <a:cs typeface="맑은 고딕"/>
              </a:rPr>
              <a:t>1. 배합·재고 현황판   2. 작업지시관리   3. 출고서류 발행</a:t>
            </a:r>
          </a:p>
        </p:txBody>
      </p:sp>
      <p:sp>
        <p:nvSpPr>
          <p:cNvPr id="10" name="TextBox 9"/>
          <p:cNvSpPr txBox="1"/>
          <p:nvPr/>
        </p:nvSpPr>
        <p:spPr>
          <a:xfrm>
            <a:off x="685800" y="5715000"/>
            <a:ext cx="10515600" cy="502920"/>
          </a:xfrm>
          <a:prstGeom prst="rect">
            <a:avLst/>
          </a:prstGeom>
          <a:noFill/>
        </p:spPr>
        <p:txBody>
          <a:bodyPr wrap="square" lIns="0" rIns="0" tIns="0" bIns="0" anchor="t">
            <a:spAutoFit/>
          </a:bodyPr>
          <a:lstStyle/>
          <a:p>
            <a:pPr algn="l">
              <a:spcAft>
                <a:spcPts val="300"/>
              </a:spcAft>
            </a:pPr>
            <a:r>
              <a:rPr sz="950" b="0">
                <a:solidFill>
                  <a:srgbClr val="7A8598"/>
                </a:solidFill>
                <a:latin typeface="맑은 고딕"/>
                <a:ea typeface="맑은 고딕"/>
                <a:cs typeface="맑은 고딕"/>
              </a:rPr>
              <a:t>도입기업 고려솔더  ·  공급기업 미확인 — 담당자 확인 필요 (사업계획서 표지 '공급기업명' 공란)</a:t>
            </a:r>
          </a:p>
          <a:p>
            <a:pPr algn="l">
              <a:spcAft>
                <a:spcPts val="300"/>
              </a:spcAft>
            </a:pPr>
            <a:r>
              <a:rPr sz="950" b="0">
                <a:solidFill>
                  <a:srgbClr val="7A8598"/>
                </a:solidFill>
                <a:latin typeface="맑은 고딕"/>
                <a:ea typeface="맑은 고딕"/>
                <a:cs typeface="맑은 고딕"/>
              </a:rPr>
              <a:t>v1.0 (2026. 08. 21)  ·  중간산출물 초안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신규 요구사항 상세설명서</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요약 — 신규 요구사항 3건</a:t>
            </a:r>
          </a:p>
        </p:txBody>
      </p:sp>
      <p:sp>
        <p:nvSpPr>
          <p:cNvPr id="6" name="Rectangle 5"/>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411480" y="932688"/>
          <a:ext cx="11356848" cy="1133856"/>
        </p:xfrm>
        <a:graphic>
          <a:graphicData uri="http://schemas.openxmlformats.org/drawingml/2006/table">
            <a:tbl>
              <a:tblPr firstRow="1" bandRow="1">
                <a:tableStyleId>{5C22544A-7EE6-4342-B048-85BDC9FD1C3A}</a:tableStyleId>
              </a:tblPr>
              <a:tblGrid>
                <a:gridCol w="457200"/>
                <a:gridCol w="1325880"/>
                <a:gridCol w="1783080"/>
                <a:gridCol w="1417320"/>
                <a:gridCol w="1325880"/>
                <a:gridCol w="1325880"/>
                <a:gridCol w="658368"/>
                <a:gridCol w="868680"/>
                <a:gridCol w="2194560"/>
              </a:tblGrid>
              <a:tr h="310896">
                <a:tc>
                  <a:txBody>
                    <a:bodyPr wrap="square"/>
                    <a:lstStyle/>
                    <a:p>
                      <a:pPr algn="ctr"/>
                      <a:r>
                        <a:rPr sz="1050" b="1">
                          <a:solidFill>
                            <a:srgbClr val="1F3864"/>
                          </a:solidFill>
                          <a:latin typeface="맑은 고딕"/>
                          <a:ea typeface="맑은 고딕"/>
                          <a:cs typeface="맑은 고딕"/>
                        </a:rPr>
                        <a:t>No</a:t>
                      </a:r>
                    </a:p>
                  </a:txBody>
                  <a:tcPr marL="54864" marR="54864" marT="18288" marB="18288" anchor="ctr">
                    <a:solidFill>
                      <a:srgbClr val="F2F5FA"/>
                    </a:solidFill>
                  </a:tcPr>
                </a:tc>
                <a:tc>
                  <a:txBody>
                    <a:bodyPr wrap="square"/>
                    <a:lstStyle/>
                    <a:p>
                      <a:pPr algn="l"/>
                      <a:r>
                        <a:rPr sz="1050" b="1">
                          <a:solidFill>
                            <a:srgbClr val="1F3864"/>
                          </a:solidFill>
                          <a:latin typeface="맑은 고딕"/>
                          <a:ea typeface="맑은 고딕"/>
                          <a:cs typeface="맑은 고딕"/>
                        </a:rPr>
                        <a:t>요구사항ID</a:t>
                      </a:r>
                    </a:p>
                  </a:txBody>
                  <a:tcPr marL="54864" marR="54864" marT="18288" marB="18288" anchor="ctr">
                    <a:solidFill>
                      <a:srgbClr val="F2F5FA"/>
                    </a:solidFill>
                  </a:tcPr>
                </a:tc>
                <a:tc>
                  <a:txBody>
                    <a:bodyPr wrap="square"/>
                    <a:lstStyle/>
                    <a:p>
                      <a:pPr algn="l"/>
                      <a:r>
                        <a:rPr sz="1050" b="1">
                          <a:solidFill>
                            <a:srgbClr val="1F3864"/>
                          </a:solidFill>
                          <a:latin typeface="맑은 고딕"/>
                          <a:ea typeface="맑은 고딕"/>
                          <a:cs typeface="맑은 고딕"/>
                        </a:rPr>
                        <a:t>요구사항명</a:t>
                      </a:r>
                    </a:p>
                  </a:txBody>
                  <a:tcPr marL="54864" marR="54864" marT="18288" marB="18288" anchor="ctr">
                    <a:solidFill>
                      <a:srgbClr val="F2F5FA"/>
                    </a:solidFill>
                  </a:tcPr>
                </a:tc>
                <a:tc>
                  <a:txBody>
                    <a:bodyPr wrap="square"/>
                    <a:lstStyle/>
                    <a:p>
                      <a:pPr algn="l"/>
                      <a:r>
                        <a:rPr sz="1050" b="1">
                          <a:solidFill>
                            <a:srgbClr val="1F3864"/>
                          </a:solidFill>
                          <a:latin typeface="맑은 고딕"/>
                          <a:ea typeface="맑은 고딕"/>
                          <a:cs typeface="맑은 고딕"/>
                        </a:rPr>
                        <a:t>업무영역</a:t>
                      </a:r>
                    </a:p>
                  </a:txBody>
                  <a:tcPr marL="54864" marR="54864" marT="18288" marB="18288" anchor="ctr">
                    <a:solidFill>
                      <a:srgbClr val="F2F5FA"/>
                    </a:solidFill>
                  </a:tcPr>
                </a:tc>
                <a:tc>
                  <a:txBody>
                    <a:bodyPr wrap="square"/>
                    <a:lstStyle/>
                    <a:p>
                      <a:pPr algn="l"/>
                      <a:r>
                        <a:rPr sz="1050" b="1">
                          <a:solidFill>
                            <a:srgbClr val="1F3864"/>
                          </a:solidFill>
                          <a:latin typeface="맑은 고딕"/>
                          <a:ea typeface="맑은 고딕"/>
                          <a:cs typeface="맑은 고딕"/>
                        </a:rPr>
                        <a:t>화면ID</a:t>
                      </a:r>
                    </a:p>
                  </a:txBody>
                  <a:tcPr marL="54864" marR="54864" marT="18288" marB="18288" anchor="ctr">
                    <a:solidFill>
                      <a:srgbClr val="F2F5FA"/>
                    </a:solidFill>
                  </a:tcPr>
                </a:tc>
                <a:tc>
                  <a:txBody>
                    <a:bodyPr wrap="square"/>
                    <a:lstStyle/>
                    <a:p>
                      <a:pPr algn="l"/>
                      <a:r>
                        <a:rPr sz="1050" b="1">
                          <a:solidFill>
                            <a:srgbClr val="1F3864"/>
                          </a:solidFill>
                          <a:latin typeface="맑은 고딕"/>
                          <a:ea typeface="맑은 고딕"/>
                          <a:cs typeface="맑은 고딕"/>
                        </a:rPr>
                        <a:t>프로그램ID</a:t>
                      </a:r>
                    </a:p>
                  </a:txBody>
                  <a:tcPr marL="54864" marR="54864" marT="18288" marB="18288" anchor="ctr">
                    <a:solidFill>
                      <a:srgbClr val="F2F5FA"/>
                    </a:solidFill>
                  </a:tcPr>
                </a:tc>
                <a:tc>
                  <a:txBody>
                    <a:bodyPr wrap="square"/>
                    <a:lstStyle/>
                    <a:p>
                      <a:pPr algn="ctr"/>
                      <a:r>
                        <a:rPr sz="1050" b="1">
                          <a:solidFill>
                            <a:srgbClr val="1F3864"/>
                          </a:solidFill>
                          <a:latin typeface="맑은 고딕"/>
                          <a:ea typeface="맑은 고딕"/>
                          <a:cs typeface="맑은 고딕"/>
                        </a:rPr>
                        <a:t>구분</a:t>
                      </a:r>
                    </a:p>
                  </a:txBody>
                  <a:tcPr marL="54864" marR="54864" marT="18288" marB="18288" anchor="ctr">
                    <a:solidFill>
                      <a:srgbClr val="F2F5FA"/>
                    </a:solidFill>
                  </a:tcPr>
                </a:tc>
                <a:tc>
                  <a:txBody>
                    <a:bodyPr wrap="square"/>
                    <a:lstStyle/>
                    <a:p>
                      <a:pPr algn="ctr"/>
                      <a:r>
                        <a:rPr sz="1050" b="1">
                          <a:solidFill>
                            <a:srgbClr val="1F3864"/>
                          </a:solidFill>
                          <a:latin typeface="맑은 고딕"/>
                          <a:ea typeface="맑은 고딕"/>
                          <a:cs typeface="맑은 고딕"/>
                        </a:rPr>
                        <a:t>필요데이터</a:t>
                      </a:r>
                    </a:p>
                  </a:txBody>
                  <a:tcPr marL="54864" marR="54864" marT="18288" marB="18288" anchor="ctr">
                    <a:solidFill>
                      <a:srgbClr val="F2F5FA"/>
                    </a:solidFill>
                  </a:tcPr>
                </a:tc>
                <a:tc>
                  <a:txBody>
                    <a:bodyPr wrap="square"/>
                    <a:lstStyle/>
                    <a:p>
                      <a:pPr algn="l"/>
                      <a:r>
                        <a:rPr sz="1050" b="1">
                          <a:solidFill>
                            <a:srgbClr val="1F3864"/>
                          </a:solidFill>
                          <a:latin typeface="맑은 고딕"/>
                          <a:ea typeface="맑은 고딕"/>
                          <a:cs typeface="맑은 고딕"/>
                        </a:rPr>
                        <a:t>영향도</a:t>
                      </a:r>
                    </a:p>
                  </a:txBody>
                  <a:tcPr marL="54864" marR="54864" marT="18288" marB="18288" anchor="ctr">
                    <a:solidFill>
                      <a:srgbClr val="F2F5FA"/>
                    </a:solidFill>
                  </a:tcPr>
                </a:tc>
              </a:tr>
              <a:tr h="274320">
                <a:tc>
                  <a:txBody>
                    <a:bodyPr wrap="square"/>
                    <a:lstStyle/>
                    <a:p>
                      <a:pPr algn="ctr"/>
                      <a:r>
                        <a:rPr sz="950" b="0">
                          <a:solidFill>
                            <a:srgbClr val="4A5566"/>
                          </a:solidFill>
                          <a:latin typeface="맑은 고딕"/>
                          <a:ea typeface="맑은 고딕"/>
                          <a:cs typeface="맑은 고딕"/>
                        </a:rPr>
                        <a:t>1</a:t>
                      </a:r>
                    </a:p>
                  </a:txBody>
                  <a:tcPr marL="54864" marR="54864" marT="18288" marB="18288" anchor="ctr">
                    <a:solidFill>
                      <a:srgbClr val="FFFFFF"/>
                    </a:solidFill>
                  </a:tcPr>
                </a:tc>
                <a:tc>
                  <a:txBody>
                    <a:bodyPr wrap="square"/>
                    <a:lstStyle/>
                    <a:p>
                      <a:pPr algn="l"/>
                      <a:r>
                        <a:rPr sz="950" b="0">
                          <a:solidFill>
                            <a:srgbClr val="1F3864"/>
                          </a:solidFill>
                          <a:latin typeface="맑은 고딕"/>
                          <a:ea typeface="맑은 고딕"/>
                          <a:cs typeface="맑은 고딕"/>
                        </a:rPr>
                        <a:t>MES-AD2-063</a:t>
                      </a:r>
                    </a:p>
                  </a:txBody>
                  <a:tcPr marL="54864" marR="54864" marT="18288" marB="18288" anchor="ctr">
                    <a:solidFill>
                      <a:srgbClr val="FFFFFF"/>
                    </a:solidFill>
                  </a:tcPr>
                </a:tc>
                <a:tc>
                  <a:txBody>
                    <a:bodyPr wrap="square"/>
                    <a:lstStyle/>
                    <a:p>
                      <a:pPr algn="l"/>
                      <a:r>
                        <a:rPr sz="950" b="1">
                          <a:solidFill>
                            <a:srgbClr val="1C2430"/>
                          </a:solidFill>
                          <a:latin typeface="맑은 고딕"/>
                          <a:ea typeface="맑은 고딕"/>
                          <a:cs typeface="맑은 고딕"/>
                        </a:rPr>
                        <a:t>배합·재고 현황판</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AI 대시보드</a:t>
                      </a:r>
                    </a:p>
                  </a:txBody>
                  <a:tcPr marL="54864" marR="54864" marT="18288" marB="18288" anchor="ctr">
                    <a:solidFill>
                      <a:srgbClr val="FFFFFF"/>
                    </a:solidFill>
                  </a:tcPr>
                </a:tc>
                <a:tc>
                  <a:txBody>
                    <a:bodyPr wrap="square"/>
                    <a:lstStyle/>
                    <a:p>
                      <a:pPr algn="l"/>
                      <a:r>
                        <a:rPr sz="950" b="0">
                          <a:solidFill>
                            <a:srgbClr val="1F3864"/>
                          </a:solidFill>
                          <a:latin typeface="맑은 고딕"/>
                          <a:ea typeface="맑은 고딕"/>
                          <a:cs typeface="맑은 고딕"/>
                        </a:rPr>
                        <a:t>MES-TD3-043</a:t>
                      </a:r>
                    </a:p>
                  </a:txBody>
                  <a:tcPr marL="54864" marR="54864" marT="18288" marB="18288" anchor="ctr">
                    <a:solidFill>
                      <a:srgbClr val="FFFFFF"/>
                    </a:solidFill>
                  </a:tcPr>
                </a:tc>
                <a:tc>
                  <a:txBody>
                    <a:bodyPr wrap="square"/>
                    <a:lstStyle/>
                    <a:p>
                      <a:pPr algn="l"/>
                      <a:r>
                        <a:rPr sz="950" b="0">
                          <a:solidFill>
                            <a:srgbClr val="1F3864"/>
                          </a:solidFill>
                          <a:latin typeface="맑은 고딕"/>
                          <a:ea typeface="맑은 고딕"/>
                          <a:cs typeface="맑은 고딕"/>
                        </a:rPr>
                        <a:t>MES-TD4-047</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추가</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5종</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영향도 중간</a:t>
                      </a:r>
                    </a:p>
                  </a:txBody>
                  <a:tcPr marL="54864" marR="54864" marT="18288" marB="18288" anchor="ctr">
                    <a:solidFill>
                      <a:srgbClr val="FFFFFF"/>
                    </a:solidFill>
                  </a:tcPr>
                </a:tc>
              </a:tr>
              <a:tr h="274320">
                <a:tc>
                  <a:txBody>
                    <a:bodyPr wrap="square"/>
                    <a:lstStyle/>
                    <a:p>
                      <a:pPr algn="ctr"/>
                      <a:r>
                        <a:rPr sz="950" b="0">
                          <a:solidFill>
                            <a:srgbClr val="4A5566"/>
                          </a:solidFill>
                          <a:latin typeface="맑은 고딕"/>
                          <a:ea typeface="맑은 고딕"/>
                          <a:cs typeface="맑은 고딕"/>
                        </a:rPr>
                        <a:t>2</a:t>
                      </a:r>
                    </a:p>
                  </a:txBody>
                  <a:tcPr marL="54864" marR="54864" marT="18288" marB="18288" anchor="ctr">
                    <a:solidFill>
                      <a:srgbClr val="FAFBFD"/>
                    </a:solidFill>
                  </a:tcPr>
                </a:tc>
                <a:tc>
                  <a:txBody>
                    <a:bodyPr wrap="square"/>
                    <a:lstStyle/>
                    <a:p>
                      <a:pPr algn="l"/>
                      <a:r>
                        <a:rPr sz="950" b="0">
                          <a:solidFill>
                            <a:srgbClr val="1F3864"/>
                          </a:solidFill>
                          <a:latin typeface="맑은 고딕"/>
                          <a:ea typeface="맑은 고딕"/>
                          <a:cs typeface="맑은 고딕"/>
                        </a:rPr>
                        <a:t>MES-AD2-064</a:t>
                      </a:r>
                    </a:p>
                  </a:txBody>
                  <a:tcPr marL="54864" marR="54864" marT="18288" marB="18288" anchor="ctr">
                    <a:solidFill>
                      <a:srgbClr val="FAFBFD"/>
                    </a:solidFill>
                  </a:tcPr>
                </a:tc>
                <a:tc>
                  <a:txBody>
                    <a:bodyPr wrap="square"/>
                    <a:lstStyle/>
                    <a:p>
                      <a:pPr algn="l"/>
                      <a:r>
                        <a:rPr sz="950" b="1">
                          <a:solidFill>
                            <a:srgbClr val="1C2430"/>
                          </a:solidFill>
                          <a:latin typeface="맑은 고딕"/>
                          <a:ea typeface="맑은 고딕"/>
                          <a:cs typeface="맑은 고딕"/>
                        </a:rPr>
                        <a:t>작업지시관리</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공정관리</a:t>
                      </a:r>
                    </a:p>
                  </a:txBody>
                  <a:tcPr marL="54864" marR="54864" marT="18288" marB="18288" anchor="ctr">
                    <a:solidFill>
                      <a:srgbClr val="FAFBFD"/>
                    </a:solidFill>
                  </a:tcPr>
                </a:tc>
                <a:tc>
                  <a:txBody>
                    <a:bodyPr wrap="square"/>
                    <a:lstStyle/>
                    <a:p>
                      <a:pPr algn="l"/>
                      <a:r>
                        <a:rPr sz="950" b="0">
                          <a:solidFill>
                            <a:srgbClr val="1F3864"/>
                          </a:solidFill>
                          <a:latin typeface="맑은 고딕"/>
                          <a:ea typeface="맑은 고딕"/>
                          <a:cs typeface="맑은 고딕"/>
                        </a:rPr>
                        <a:t>MES-TD3-044</a:t>
                      </a:r>
                    </a:p>
                  </a:txBody>
                  <a:tcPr marL="54864" marR="54864" marT="18288" marB="18288" anchor="ctr">
                    <a:solidFill>
                      <a:srgbClr val="FAFBFD"/>
                    </a:solidFill>
                  </a:tcPr>
                </a:tc>
                <a:tc>
                  <a:txBody>
                    <a:bodyPr wrap="square"/>
                    <a:lstStyle/>
                    <a:p>
                      <a:pPr algn="l"/>
                      <a:r>
                        <a:rPr sz="950" b="0">
                          <a:solidFill>
                            <a:srgbClr val="1F3864"/>
                          </a:solidFill>
                          <a:latin typeface="맑은 고딕"/>
                          <a:ea typeface="맑은 고딕"/>
                          <a:cs typeface="맑은 고딕"/>
                        </a:rPr>
                        <a:t>MES-TD4-048</a:t>
                      </a:r>
                    </a:p>
                  </a:txBody>
                  <a:tcPr marL="54864" marR="54864" marT="18288" marB="18288" anchor="ctr">
                    <a:solidFill>
                      <a:srgbClr val="FAFBFD"/>
                    </a:solidFill>
                  </a:tcPr>
                </a:tc>
                <a:tc>
                  <a:txBody>
                    <a:bodyPr wrap="square"/>
                    <a:lstStyle/>
                    <a:p>
                      <a:pPr algn="ctr"/>
                      <a:r>
                        <a:rPr sz="950" b="0">
                          <a:solidFill>
                            <a:srgbClr val="4A5566"/>
                          </a:solidFill>
                          <a:latin typeface="맑은 고딕"/>
                          <a:ea typeface="맑은 고딕"/>
                          <a:cs typeface="맑은 고딕"/>
                        </a:rPr>
                        <a:t>추가</a:t>
                      </a:r>
                    </a:p>
                  </a:txBody>
                  <a:tcPr marL="54864" marR="54864" marT="18288" marB="18288" anchor="ctr">
                    <a:solidFill>
                      <a:srgbClr val="FAFBFD"/>
                    </a:solidFill>
                  </a:tcPr>
                </a:tc>
                <a:tc>
                  <a:txBody>
                    <a:bodyPr wrap="square"/>
                    <a:lstStyle/>
                    <a:p>
                      <a:pPr algn="ctr"/>
                      <a:r>
                        <a:rPr sz="950" b="0">
                          <a:solidFill>
                            <a:srgbClr val="4A5566"/>
                          </a:solidFill>
                          <a:latin typeface="맑은 고딕"/>
                          <a:ea typeface="맑은 고딕"/>
                          <a:cs typeface="맑은 고딕"/>
                        </a:rPr>
                        <a:t>6종</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영향도 큼 — 3건 중 가장 큼</a:t>
                      </a:r>
                    </a:p>
                  </a:txBody>
                  <a:tcPr marL="54864" marR="54864" marT="18288" marB="18288" anchor="ctr">
                    <a:solidFill>
                      <a:srgbClr val="FAFBFD"/>
                    </a:solidFill>
                  </a:tcPr>
                </a:tc>
              </a:tr>
              <a:tr h="274320">
                <a:tc>
                  <a:txBody>
                    <a:bodyPr wrap="square"/>
                    <a:lstStyle/>
                    <a:p>
                      <a:pPr algn="ctr"/>
                      <a:r>
                        <a:rPr sz="950" b="0">
                          <a:solidFill>
                            <a:srgbClr val="4A5566"/>
                          </a:solidFill>
                          <a:latin typeface="맑은 고딕"/>
                          <a:ea typeface="맑은 고딕"/>
                          <a:cs typeface="맑은 고딕"/>
                        </a:rPr>
                        <a:t>3</a:t>
                      </a:r>
                    </a:p>
                  </a:txBody>
                  <a:tcPr marL="54864" marR="54864" marT="18288" marB="18288" anchor="ctr">
                    <a:solidFill>
                      <a:srgbClr val="FFFFFF"/>
                    </a:solidFill>
                  </a:tcPr>
                </a:tc>
                <a:tc>
                  <a:txBody>
                    <a:bodyPr wrap="square"/>
                    <a:lstStyle/>
                    <a:p>
                      <a:pPr algn="l"/>
                      <a:r>
                        <a:rPr sz="950" b="0">
                          <a:solidFill>
                            <a:srgbClr val="1F3864"/>
                          </a:solidFill>
                          <a:latin typeface="맑은 고딕"/>
                          <a:ea typeface="맑은 고딕"/>
                          <a:cs typeface="맑은 고딕"/>
                        </a:rPr>
                        <a:t>MES-AD2-065</a:t>
                      </a:r>
                    </a:p>
                  </a:txBody>
                  <a:tcPr marL="54864" marR="54864" marT="18288" marB="18288" anchor="ctr">
                    <a:solidFill>
                      <a:srgbClr val="FFFFFF"/>
                    </a:solidFill>
                  </a:tcPr>
                </a:tc>
                <a:tc>
                  <a:txBody>
                    <a:bodyPr wrap="square"/>
                    <a:lstStyle/>
                    <a:p>
                      <a:pPr algn="l"/>
                      <a:r>
                        <a:rPr sz="950" b="1">
                          <a:solidFill>
                            <a:srgbClr val="1C2430"/>
                          </a:solidFill>
                          <a:latin typeface="맑은 고딕"/>
                          <a:ea typeface="맑은 고딕"/>
                          <a:cs typeface="맑은 고딕"/>
                        </a:rPr>
                        <a:t>출고서류 발행</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포장출하관리</a:t>
                      </a:r>
                    </a:p>
                  </a:txBody>
                  <a:tcPr marL="54864" marR="54864" marT="18288" marB="18288" anchor="ctr">
                    <a:solidFill>
                      <a:srgbClr val="FFFFFF"/>
                    </a:solidFill>
                  </a:tcPr>
                </a:tc>
                <a:tc>
                  <a:txBody>
                    <a:bodyPr wrap="square"/>
                    <a:lstStyle/>
                    <a:p>
                      <a:pPr algn="l"/>
                      <a:r>
                        <a:rPr sz="950" b="0">
                          <a:solidFill>
                            <a:srgbClr val="1F3864"/>
                          </a:solidFill>
                          <a:latin typeface="맑은 고딕"/>
                          <a:ea typeface="맑은 고딕"/>
                          <a:cs typeface="맑은 고딕"/>
                        </a:rPr>
                        <a:t>MES-TD3-045</a:t>
                      </a:r>
                    </a:p>
                  </a:txBody>
                  <a:tcPr marL="54864" marR="54864" marT="18288" marB="18288" anchor="ctr">
                    <a:solidFill>
                      <a:srgbClr val="FFFFFF"/>
                    </a:solidFill>
                  </a:tcPr>
                </a:tc>
                <a:tc>
                  <a:txBody>
                    <a:bodyPr wrap="square"/>
                    <a:lstStyle/>
                    <a:p>
                      <a:pPr algn="l"/>
                      <a:r>
                        <a:rPr sz="950" b="0">
                          <a:solidFill>
                            <a:srgbClr val="1F3864"/>
                          </a:solidFill>
                          <a:latin typeface="맑은 고딕"/>
                          <a:ea typeface="맑은 고딕"/>
                          <a:cs typeface="맑은 고딕"/>
                        </a:rPr>
                        <a:t>MES-TD4-049</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변경</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6종</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영향도 작음~중간</a:t>
                      </a:r>
                    </a:p>
                  </a:txBody>
                  <a:tcPr marL="54864" marR="54864" marT="18288" marB="18288" anchor="ctr">
                    <a:solidFill>
                      <a:srgbClr val="FFFFFF"/>
                    </a:solidFill>
                  </a:tcPr>
                </a:tc>
              </a:tr>
            </a:tbl>
          </a:graphicData>
        </a:graphic>
      </p:graphicFrame>
      <p:sp>
        <p:nvSpPr>
          <p:cNvPr id="8" name="Rectangle 7"/>
          <p:cNvSpPr/>
          <p:nvPr/>
        </p:nvSpPr>
        <p:spPr>
          <a:xfrm>
            <a:off x="411480" y="2395728"/>
            <a:ext cx="11368735" cy="1193292"/>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2395728"/>
            <a:ext cx="11368735"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395728"/>
            <a:ext cx="45720" cy="1193292"/>
          </a:xfrm>
          <a:prstGeom prst="rect">
            <a:avLst/>
          </a:prstGeom>
          <a:solidFill>
            <a:srgbClr val="2F6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9496" y="2446020"/>
            <a:ext cx="11112703"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신규 테이블 5종</a:t>
            </a:r>
          </a:p>
        </p:txBody>
      </p:sp>
      <p:sp>
        <p:nvSpPr>
          <p:cNvPr id="12" name="TextBox 11"/>
          <p:cNvSpPr txBox="1"/>
          <p:nvPr/>
        </p:nvSpPr>
        <p:spPr>
          <a:xfrm>
            <a:off x="557784" y="2779776"/>
            <a:ext cx="11076127" cy="662940"/>
          </a:xfrm>
          <a:prstGeom prst="rect">
            <a:avLst/>
          </a:prstGeom>
          <a:noFill/>
        </p:spPr>
        <p:txBody>
          <a:bodyPr wrap="square" lIns="0" rIns="0" tIns="0" bIns="0" anchor="t">
            <a:spAutoFit/>
          </a:bodyPr>
          <a:lstStyle/>
          <a:p>
            <a:pPr algn="l">
              <a:lnSpc>
                <a:spcPct val="124000"/>
              </a:lnSpc>
              <a:spcAft>
                <a:spcPts val="500"/>
              </a:spcAft>
            </a:pPr>
            <a:r>
              <a:rPr sz="1000" b="0">
                <a:solidFill>
                  <a:srgbClr val="4A5566"/>
                </a:solidFill>
                <a:latin typeface="맑은 고딕"/>
                <a:ea typeface="맑은 고딕"/>
                <a:cs typeface="맑은 고딕"/>
              </a:rPr>
              <a:t>·  RCV_STOCK_THRESHOLDS (안전재고기준) — 임계재고 경고의 근거. 설계에 없던 개념을 새로 세운다</a:t>
            </a:r>
          </a:p>
          <a:p>
            <a:pPr algn="l">
              <a:lnSpc>
                <a:spcPct val="124000"/>
              </a:lnSpc>
              <a:spcAft>
                <a:spcPts val="500"/>
              </a:spcAft>
            </a:pPr>
            <a:r>
              <a:rPr sz="1000" b="0">
                <a:solidFill>
                  <a:srgbClr val="4A5566"/>
                </a:solidFill>
                <a:latin typeface="맑은 고딕"/>
                <a:ea typeface="맑은 고딕"/>
                <a:cs typeface="맑은 고딕"/>
              </a:rPr>
              <a:t>·  PRC_WORK_ORDERS / PRC_WORK_ORDER_TASKS (작업지시 · 작업지시공정별) — 역할(공정)별 게시의 근거</a:t>
            </a:r>
          </a:p>
          <a:p>
            <a:pPr algn="l">
              <a:lnSpc>
                <a:spcPct val="124000"/>
              </a:lnSpc>
              <a:spcAft>
                <a:spcPts val="500"/>
              </a:spcAft>
            </a:pPr>
            <a:r>
              <a:rPr sz="1000" b="0">
                <a:solidFill>
                  <a:srgbClr val="4A5566"/>
                </a:solidFill>
                <a:latin typeface="맑은 고딕"/>
                <a:ea typeface="맑은 고딕"/>
                <a:cs typeface="맑은 고딕"/>
              </a:rPr>
              <a:t>·  SHP_DOCUMENTS / SHP_DOCUMENT_TEMPLATES (출고서류발행 · 양식) — 발행이력과 양식을 분리</a:t>
            </a:r>
          </a:p>
        </p:txBody>
      </p:sp>
      <p:sp>
        <p:nvSpPr>
          <p:cNvPr id="13" name="Rectangle 12"/>
          <p:cNvSpPr/>
          <p:nvPr/>
        </p:nvSpPr>
        <p:spPr>
          <a:xfrm>
            <a:off x="411480" y="3790187"/>
            <a:ext cx="11368735" cy="1350772"/>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3790187"/>
            <a:ext cx="11368735"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3790187"/>
            <a:ext cx="45720" cy="1350772"/>
          </a:xfrm>
          <a:prstGeom prst="rect">
            <a:avLst/>
          </a:prstGeom>
          <a:solidFill>
            <a:srgbClr val="B88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 y="3840479"/>
            <a:ext cx="11112703"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기존 납품본과의 관계</a:t>
            </a:r>
          </a:p>
        </p:txBody>
      </p:sp>
      <p:sp>
        <p:nvSpPr>
          <p:cNvPr id="17" name="TextBox 16"/>
          <p:cNvSpPr txBox="1"/>
          <p:nvPr/>
        </p:nvSpPr>
        <p:spPr>
          <a:xfrm>
            <a:off x="557784" y="4174235"/>
            <a:ext cx="11076127" cy="820420"/>
          </a:xfrm>
          <a:prstGeom prst="rect">
            <a:avLst/>
          </a:prstGeom>
          <a:noFill/>
        </p:spPr>
        <p:txBody>
          <a:bodyPr wrap="square" lIns="0" rIns="0" tIns="0" bIns="0" anchor="t">
            <a:spAutoFit/>
          </a:bodyPr>
          <a:lstStyle/>
          <a:p>
            <a:pPr algn="l">
              <a:lnSpc>
                <a:spcPct val="124000"/>
              </a:lnSpc>
              <a:spcAft>
                <a:spcPts val="500"/>
              </a:spcAft>
            </a:pPr>
            <a:r>
              <a:rPr sz="1000" b="0">
                <a:solidFill>
                  <a:srgbClr val="4A5566"/>
                </a:solidFill>
                <a:latin typeface="맑은 고딕"/>
                <a:ea typeface="맑은 고딕"/>
                <a:cs typeface="맑은 고딕"/>
              </a:rPr>
              <a:t>·  본 3건은 계약 범위(화면 42건) 밖이며 별도로 관리한다. SF-AD1~AD3 · SF-TD1~TD5 본 산출물과 화면설명서·화면정의서는 42건 기준 그대로이고, 여기에 3건은 실려 있지 않다.</a:t>
            </a:r>
          </a:p>
          <a:p>
            <a:pPr algn="l">
              <a:lnSpc>
                <a:spcPct val="124000"/>
              </a:lnSpc>
              <a:spcAft>
                <a:spcPts val="500"/>
              </a:spcAft>
            </a:pPr>
            <a:r>
              <a:rPr sz="1000" b="0">
                <a:solidFill>
                  <a:srgbClr val="4A5566"/>
                </a:solidFill>
                <a:latin typeface="맑은 고딕"/>
                <a:ea typeface="맑은 고딕"/>
                <a:cs typeface="맑은 고딕"/>
              </a:rPr>
              <a:t>·  요구사항ID MES-AD2-063~065는 이 문서와 별도 화면정의서에서만 쓰는 번호다. 본 산출물에 편입할 때는 그 시점의 번호 체계를 다시 확인해야 한다 — 현행 본 산출물에서 063~075는 비기능 요구사항이 쓰고 있다.</a:t>
            </a:r>
          </a:p>
          <a:p>
            <a:pPr algn="l">
              <a:lnSpc>
                <a:spcPct val="124000"/>
              </a:lnSpc>
              <a:spcAft>
                <a:spcPts val="500"/>
              </a:spcAft>
            </a:pPr>
            <a:r>
              <a:rPr sz="1000" b="0">
                <a:solidFill>
                  <a:srgbClr val="4A5566"/>
                </a:solidFill>
                <a:latin typeface="맑은 고딕"/>
                <a:ea typeface="맑은 고딕"/>
                <a:cs typeface="맑은 고딕"/>
              </a:rPr>
              <a:t>·  FP 점수는 모두 산정(안)이며 사업비 산출내역서 반영은 협의 후 확정한다.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1. 배합·재고 현황판</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요구사항</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SF-AD2 요구사항정의서</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932688"/>
            <a:ext cx="11368735" cy="566928"/>
          </a:xfrm>
          <a:prstGeom prst="rect">
            <a:avLst/>
          </a:prstGeom>
          <a:solidFill>
            <a:srgbClr val="FBF7EC"/>
          </a:solidFill>
          <a:ln w="9525">
            <a:solidFill>
              <a:srgbClr val="B880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932688"/>
            <a:ext cx="45720" cy="566928"/>
          </a:xfrm>
          <a:prstGeom prst="rect">
            <a:avLst/>
          </a:prstGeom>
          <a:solidFill>
            <a:srgbClr val="B88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014984"/>
            <a:ext cx="11076127" cy="219456"/>
          </a:xfrm>
          <a:prstGeom prst="rect">
            <a:avLst/>
          </a:prstGeom>
          <a:noFill/>
        </p:spPr>
        <p:txBody>
          <a:bodyPr wrap="square" lIns="0" rIns="0" tIns="0" bIns="0" anchor="t">
            <a:spAutoFit/>
          </a:bodyPr>
          <a:lstStyle/>
          <a:p>
            <a:pPr algn="l">
              <a:spcAft>
                <a:spcPts val="0"/>
              </a:spcAft>
            </a:pPr>
            <a:r>
              <a:rPr sz="1100" b="1">
                <a:solidFill>
                  <a:srgbClr val="1C2430"/>
                </a:solidFill>
                <a:latin typeface="맑은 고딕"/>
                <a:ea typeface="맑은 고딕"/>
                <a:cs typeface="맑은 고딕"/>
              </a:rPr>
              <a:t>고려솔더 요청 원문 — “배합비율 모니터링 및 재고현황을 현황판에 보여줬으면 좋겠다.”</a:t>
            </a:r>
          </a:p>
        </p:txBody>
      </p:sp>
      <p:sp>
        <p:nvSpPr>
          <p:cNvPr id="11" name="TextBox 10"/>
          <p:cNvSpPr txBox="1"/>
          <p:nvPr/>
        </p:nvSpPr>
        <p:spPr>
          <a:xfrm>
            <a:off x="557784" y="1243584"/>
            <a:ext cx="11076127" cy="182880"/>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영향도 중간  ·  출처 고려솔더_신규요구사항_3건_1.pptx (2026-08 킥오프 회의 논의) · 킥오프 회의록 4-3 / 5장(5-1~5-3)</a:t>
            </a:r>
          </a:p>
        </p:txBody>
      </p:sp>
      <p:sp>
        <p:nvSpPr>
          <p:cNvPr id="12" name="Rectangle 11"/>
          <p:cNvSpPr/>
          <p:nvPr/>
        </p:nvSpPr>
        <p:spPr>
          <a:xfrm>
            <a:off x="411480" y="1645920"/>
            <a:ext cx="6821241" cy="4828032"/>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1645920"/>
            <a:ext cx="6821241"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1645920"/>
            <a:ext cx="45720" cy="4828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9496" y="1696212"/>
            <a:ext cx="6565209"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요구사항 내용</a:t>
            </a:r>
          </a:p>
        </p:txBody>
      </p:sp>
      <p:sp>
        <p:nvSpPr>
          <p:cNvPr id="16" name="TextBox 15"/>
          <p:cNvSpPr txBox="1"/>
          <p:nvPr/>
        </p:nvSpPr>
        <p:spPr>
          <a:xfrm>
            <a:off x="557784" y="2029968"/>
            <a:ext cx="6528633" cy="399796"/>
          </a:xfrm>
          <a:prstGeom prst="rect">
            <a:avLst/>
          </a:prstGeom>
          <a:noFill/>
        </p:spPr>
        <p:txBody>
          <a:bodyPr wrap="square" lIns="0" rIns="0" tIns="0" bIns="0" anchor="t">
            <a:spAutoFit/>
          </a:bodyPr>
          <a:lstStyle/>
          <a:p>
            <a:pPr algn="l">
              <a:lnSpc>
                <a:spcPct val="130000"/>
              </a:lnSpc>
              <a:spcAft>
                <a:spcPts val="0"/>
              </a:spcAft>
            </a:pPr>
            <a:r>
              <a:rPr sz="1100" b="0">
                <a:solidFill>
                  <a:srgbClr val="1C2430"/>
                </a:solidFill>
                <a:latin typeface="맑은 고딕"/>
                <a:ea typeface="맑은 고딕"/>
                <a:cs typeface="맑은 고딕"/>
              </a:rPr>
              <a:t>AI가 추천한 배합비율과 원자재별 재고 현황을 생산현장 대형화면(55" LCD)에 상시 게시하여, 담당자 개별 조회 없이도 배합 기준과 재고 부족 여부를 현장에서 함께 확인한다.</a:t>
            </a:r>
          </a:p>
        </p:txBody>
      </p:sp>
      <p:sp>
        <p:nvSpPr>
          <p:cNvPr id="17" name="TextBox 16"/>
          <p:cNvSpPr txBox="1"/>
          <p:nvPr/>
        </p:nvSpPr>
        <p:spPr>
          <a:xfrm>
            <a:off x="557784" y="2594356"/>
            <a:ext cx="6528633" cy="201168"/>
          </a:xfrm>
          <a:prstGeom prst="rect">
            <a:avLst/>
          </a:prstGeom>
          <a:noFill/>
        </p:spPr>
        <p:txBody>
          <a:bodyPr wrap="square" lIns="0" rIns="0" tIns="0" bIns="0" anchor="t">
            <a:spAutoFit/>
          </a:bodyPr>
          <a:lstStyle/>
          <a:p>
            <a:pPr algn="l">
              <a:spcAft>
                <a:spcPts val="0"/>
              </a:spcAft>
            </a:pPr>
            <a:r>
              <a:rPr sz="1000" b="1">
                <a:solidFill>
                  <a:srgbClr val="162848"/>
                </a:solidFill>
                <a:latin typeface="맑은 고딕"/>
                <a:ea typeface="맑은 고딕"/>
                <a:cs typeface="맑은 고딕"/>
              </a:rPr>
              <a:t>세부 기능 · FP 산정(안)</a:t>
            </a:r>
          </a:p>
        </p:txBody>
      </p:sp>
      <p:sp>
        <p:nvSpPr>
          <p:cNvPr id="18" name="TextBox 17"/>
          <p:cNvSpPr txBox="1"/>
          <p:nvPr/>
        </p:nvSpPr>
        <p:spPr>
          <a:xfrm>
            <a:off x="557784" y="2850388"/>
            <a:ext cx="6528633" cy="599440"/>
          </a:xfrm>
          <a:prstGeom prst="rect">
            <a:avLst/>
          </a:prstGeom>
          <a:noFill/>
        </p:spPr>
        <p:txBody>
          <a:bodyPr wrap="square" lIns="0" rIns="0" tIns="0" bIns="0" anchor="t">
            <a:spAutoFit/>
          </a:bodyPr>
          <a:lstStyle/>
          <a:p>
            <a:pPr algn="l">
              <a:lnSpc>
                <a:spcPct val="124000"/>
              </a:lnSpc>
              <a:spcAft>
                <a:spcPts val="500"/>
              </a:spcAft>
            </a:pPr>
            <a:r>
              <a:rPr sz="1000" b="0">
                <a:solidFill>
                  <a:srgbClr val="4A5566"/>
                </a:solidFill>
                <a:latin typeface="맑은 고딕"/>
                <a:ea typeface="맑은 고딕"/>
                <a:cs typeface="맑은 고딕"/>
              </a:rPr>
              <a:t>·  1. 배합·재고 현황판 조회 (추천 배합비율·신뢰도, 원자재별 재고·임계재고 경고, 최근 배합 이력) (EQ, 가중치 4 FP)</a:t>
            </a:r>
          </a:p>
          <a:p>
            <a:pPr algn="l">
              <a:lnSpc>
                <a:spcPct val="124000"/>
              </a:lnSpc>
              <a:spcAft>
                <a:spcPts val="500"/>
              </a:spcAft>
            </a:pPr>
            <a:r>
              <a:rPr sz="1000" b="0">
                <a:solidFill>
                  <a:srgbClr val="4A5566"/>
                </a:solidFill>
                <a:latin typeface="맑은 고딕"/>
                <a:ea typeface="맑은 고딕"/>
                <a:cs typeface="맑은 고딕"/>
              </a:rPr>
              <a:t>·  2. 안전재고 기준 등록·수정 (원자재별 임계 수량·경고 단계) (EI, 가중치 3 FP)</a:t>
            </a:r>
          </a:p>
        </p:txBody>
      </p:sp>
      <p:sp>
        <p:nvSpPr>
          <p:cNvPr id="19" name="TextBox 18"/>
          <p:cNvSpPr txBox="1"/>
          <p:nvPr/>
        </p:nvSpPr>
        <p:spPr>
          <a:xfrm>
            <a:off x="557784" y="3541268"/>
            <a:ext cx="6528633" cy="201168"/>
          </a:xfrm>
          <a:prstGeom prst="rect">
            <a:avLst/>
          </a:prstGeom>
          <a:noFill/>
        </p:spPr>
        <p:txBody>
          <a:bodyPr wrap="square" lIns="0" rIns="0" tIns="0" bIns="0" anchor="t">
            <a:spAutoFit/>
          </a:bodyPr>
          <a:lstStyle/>
          <a:p>
            <a:pPr algn="l">
              <a:spcAft>
                <a:spcPts val="0"/>
              </a:spcAft>
            </a:pPr>
            <a:r>
              <a:rPr sz="1000" b="1">
                <a:solidFill>
                  <a:srgbClr val="162848"/>
                </a:solidFill>
                <a:latin typeface="맑은 고딕"/>
                <a:ea typeface="맑은 고딕"/>
                <a:cs typeface="맑은 고딕"/>
              </a:rPr>
              <a:t>제약사항</a:t>
            </a:r>
          </a:p>
        </p:txBody>
      </p:sp>
      <p:sp>
        <p:nvSpPr>
          <p:cNvPr id="20" name="TextBox 19"/>
          <p:cNvSpPr txBox="1"/>
          <p:nvPr/>
        </p:nvSpPr>
        <p:spPr>
          <a:xfrm>
            <a:off x="557784" y="3797300"/>
            <a:ext cx="6528633" cy="2548636"/>
          </a:xfrm>
          <a:prstGeom prst="rect">
            <a:avLst/>
          </a:prstGeom>
          <a:noFill/>
        </p:spPr>
        <p:txBody>
          <a:bodyPr wrap="square" lIns="0" rIns="0" tIns="0" bIns="0" anchor="t">
            <a:spAutoFit/>
          </a:bodyPr>
          <a:lstStyle/>
          <a:p>
            <a:pPr algn="l">
              <a:lnSpc>
                <a:spcPct val="128000"/>
              </a:lnSpc>
              <a:spcAft>
                <a:spcPts val="0"/>
              </a:spcAft>
            </a:pPr>
            <a:r>
              <a:rPr sz="950" b="0">
                <a:solidFill>
                  <a:srgbClr val="4A5566"/>
                </a:solidFill>
                <a:latin typeface="맑은 고딕"/>
                <a:ea typeface="맑은 고딕"/>
                <a:cs typeface="맑은 고딕"/>
              </a:rPr>
              <a:t>게시 대상 원자재는 Sn·Pb·Ag·Cu 4종 전체, 갱신 주기는 1분으로 하고 현황판은 생산현장 입구 55" LCD 1대에 상시 게시한다(킥오프 논의 '내용(안)' 반영). 원자재별 안전재고 기준 수량은 도입기업이 확정해야 하며 확정 전까지 경고가 동작하지 않는다. 배합 추천은 배합비율 최적화(MES-AD2-012), 재고는 입고관리(MES-AD2-005)가 적재한 데이터에 의존한다.</a:t>
            </a:r>
          </a:p>
        </p:txBody>
      </p:sp>
      <p:sp>
        <p:nvSpPr>
          <p:cNvPr id="21" name="Rectangle 20"/>
          <p:cNvSpPr/>
          <p:nvPr/>
        </p:nvSpPr>
        <p:spPr>
          <a:xfrm>
            <a:off x="7415601" y="1645920"/>
            <a:ext cx="4364614" cy="2331720"/>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15601" y="1645920"/>
            <a:ext cx="4364614"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15601" y="1645920"/>
            <a:ext cx="45720" cy="2331720"/>
          </a:xfrm>
          <a:prstGeom prst="rect">
            <a:avLst/>
          </a:prstGeom>
          <a:solidFill>
            <a:srgbClr val="2F6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43617" y="1696212"/>
            <a:ext cx="4108582"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요구사항 정보</a:t>
            </a:r>
          </a:p>
        </p:txBody>
      </p:sp>
      <p:sp>
        <p:nvSpPr>
          <p:cNvPr id="25" name="TextBox 24"/>
          <p:cNvSpPr txBox="1"/>
          <p:nvPr/>
        </p:nvSpPr>
        <p:spPr>
          <a:xfrm>
            <a:off x="7561905" y="2029968"/>
            <a:ext cx="105156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요구사항ID</a:t>
            </a:r>
          </a:p>
        </p:txBody>
      </p:sp>
      <p:sp>
        <p:nvSpPr>
          <p:cNvPr id="26" name="TextBox 25"/>
          <p:cNvSpPr txBox="1"/>
          <p:nvPr/>
        </p:nvSpPr>
        <p:spPr>
          <a:xfrm>
            <a:off x="8659185" y="2029968"/>
            <a:ext cx="2974726" cy="329184"/>
          </a:xfrm>
          <a:prstGeom prst="rect">
            <a:avLst/>
          </a:prstGeom>
          <a:noFill/>
        </p:spPr>
        <p:txBody>
          <a:bodyPr wrap="square" lIns="0" rIns="0" tIns="0" bIns="0" anchor="t">
            <a:spAutoFit/>
          </a:bodyPr>
          <a:lstStyle/>
          <a:p>
            <a:pPr algn="l">
              <a:lnSpc>
                <a:spcPct val="120000"/>
              </a:lnSpc>
              <a:spcAft>
                <a:spcPts val="0"/>
              </a:spcAft>
            </a:pPr>
            <a:r>
              <a:rPr sz="950" b="1">
                <a:solidFill>
                  <a:srgbClr val="1F3864"/>
                </a:solidFill>
                <a:latin typeface="맑은 고딕"/>
                <a:ea typeface="맑은 고딕"/>
                <a:cs typeface="맑은 고딕"/>
              </a:rPr>
              <a:t>MES-AD2-063</a:t>
            </a:r>
          </a:p>
        </p:txBody>
      </p:sp>
      <p:sp>
        <p:nvSpPr>
          <p:cNvPr id="27" name="TextBox 26"/>
          <p:cNvSpPr txBox="1"/>
          <p:nvPr/>
        </p:nvSpPr>
        <p:spPr>
          <a:xfrm>
            <a:off x="7561905" y="2395728"/>
            <a:ext cx="105156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구분 (SF-AD3)</a:t>
            </a:r>
          </a:p>
        </p:txBody>
      </p:sp>
      <p:sp>
        <p:nvSpPr>
          <p:cNvPr id="28" name="TextBox 27"/>
          <p:cNvSpPr txBox="1"/>
          <p:nvPr/>
        </p:nvSpPr>
        <p:spPr>
          <a:xfrm>
            <a:off x="8659185" y="2395728"/>
            <a:ext cx="2974726" cy="329184"/>
          </a:xfrm>
          <a:prstGeom prst="rect">
            <a:avLst/>
          </a:prstGeom>
          <a:noFill/>
        </p:spPr>
        <p:txBody>
          <a:bodyPr wrap="square" lIns="0" rIns="0" tIns="0" bIns="0" anchor="t">
            <a:spAutoFit/>
          </a:bodyPr>
          <a:lstStyle/>
          <a:p>
            <a:pPr algn="l">
              <a:lnSpc>
                <a:spcPct val="120000"/>
              </a:lnSpc>
              <a:spcAft>
                <a:spcPts val="0"/>
              </a:spcAft>
            </a:pPr>
            <a:r>
              <a:rPr sz="950" b="1">
                <a:solidFill>
                  <a:srgbClr val="1F3864"/>
                </a:solidFill>
                <a:latin typeface="맑은 고딕"/>
                <a:ea typeface="맑은 고딕"/>
                <a:cs typeface="맑은 고딕"/>
              </a:rPr>
              <a:t>추가</a:t>
            </a:r>
          </a:p>
        </p:txBody>
      </p:sp>
      <p:sp>
        <p:nvSpPr>
          <p:cNvPr id="29" name="TextBox 28"/>
          <p:cNvSpPr txBox="1"/>
          <p:nvPr/>
        </p:nvSpPr>
        <p:spPr>
          <a:xfrm>
            <a:off x="7561905" y="2761488"/>
            <a:ext cx="105156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업무영역</a:t>
            </a:r>
          </a:p>
        </p:txBody>
      </p:sp>
      <p:sp>
        <p:nvSpPr>
          <p:cNvPr id="30" name="TextBox 29"/>
          <p:cNvSpPr txBox="1"/>
          <p:nvPr/>
        </p:nvSpPr>
        <p:spPr>
          <a:xfrm>
            <a:off x="8659185" y="2761488"/>
            <a:ext cx="2974726" cy="329184"/>
          </a:xfrm>
          <a:prstGeom prst="rect">
            <a:avLst/>
          </a:prstGeom>
          <a:noFill/>
        </p:spPr>
        <p:txBody>
          <a:bodyPr wrap="square" lIns="0" rIns="0" tIns="0" bIns="0" anchor="t">
            <a:spAutoFit/>
          </a:bodyPr>
          <a:lstStyle/>
          <a:p>
            <a:pPr algn="l">
              <a:lnSpc>
                <a:spcPct val="120000"/>
              </a:lnSpc>
              <a:spcAft>
                <a:spcPts val="0"/>
              </a:spcAft>
            </a:pPr>
            <a:r>
              <a:rPr sz="950" b="0">
                <a:solidFill>
                  <a:srgbClr val="4A5566"/>
                </a:solidFill>
                <a:latin typeface="맑은 고딕"/>
                <a:ea typeface="맑은 고딕"/>
                <a:cs typeface="맑은 고딕"/>
              </a:rPr>
              <a:t>AI 대시보드</a:t>
            </a:r>
          </a:p>
        </p:txBody>
      </p:sp>
      <p:sp>
        <p:nvSpPr>
          <p:cNvPr id="31" name="TextBox 30"/>
          <p:cNvSpPr txBox="1"/>
          <p:nvPr/>
        </p:nvSpPr>
        <p:spPr>
          <a:xfrm>
            <a:off x="7561905" y="3127248"/>
            <a:ext cx="105156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연계 모듈</a:t>
            </a:r>
          </a:p>
        </p:txBody>
      </p:sp>
      <p:sp>
        <p:nvSpPr>
          <p:cNvPr id="32" name="TextBox 31"/>
          <p:cNvSpPr txBox="1"/>
          <p:nvPr/>
        </p:nvSpPr>
        <p:spPr>
          <a:xfrm>
            <a:off x="8659185" y="3127248"/>
            <a:ext cx="2974726" cy="329184"/>
          </a:xfrm>
          <a:prstGeom prst="rect">
            <a:avLst/>
          </a:prstGeom>
          <a:noFill/>
        </p:spPr>
        <p:txBody>
          <a:bodyPr wrap="square" lIns="0" rIns="0" tIns="0" bIns="0" anchor="t">
            <a:spAutoFit/>
          </a:bodyPr>
          <a:lstStyle/>
          <a:p>
            <a:pPr algn="l">
              <a:lnSpc>
                <a:spcPct val="120000"/>
              </a:lnSpc>
              <a:spcAft>
                <a:spcPts val="0"/>
              </a:spcAft>
            </a:pPr>
            <a:r>
              <a:rPr sz="950" b="0">
                <a:solidFill>
                  <a:srgbClr val="4A5566"/>
                </a:solidFill>
                <a:latin typeface="맑은 고딕"/>
                <a:ea typeface="맑은 고딕"/>
                <a:cs typeface="맑은 고딕"/>
              </a:rPr>
              <a:t>AI 대시보드(신규 화면) · 성분분석관리 · 입고보관관리 · 데이터허브관리</a:t>
            </a:r>
          </a:p>
        </p:txBody>
      </p:sp>
      <p:sp>
        <p:nvSpPr>
          <p:cNvPr id="33" name="TextBox 32"/>
          <p:cNvSpPr txBox="1"/>
          <p:nvPr/>
        </p:nvSpPr>
        <p:spPr>
          <a:xfrm>
            <a:off x="7561905" y="3493008"/>
            <a:ext cx="105156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담당자</a:t>
            </a:r>
          </a:p>
        </p:txBody>
      </p:sp>
      <p:sp>
        <p:nvSpPr>
          <p:cNvPr id="34" name="TextBox 33"/>
          <p:cNvSpPr txBox="1"/>
          <p:nvPr/>
        </p:nvSpPr>
        <p:spPr>
          <a:xfrm>
            <a:off x="8659185" y="3493008"/>
            <a:ext cx="2974726" cy="329184"/>
          </a:xfrm>
          <a:prstGeom prst="rect">
            <a:avLst/>
          </a:prstGeom>
          <a:noFill/>
        </p:spPr>
        <p:txBody>
          <a:bodyPr wrap="square" lIns="0" rIns="0" tIns="0" bIns="0" anchor="t">
            <a:spAutoFit/>
          </a:bodyPr>
          <a:lstStyle/>
          <a:p>
            <a:pPr algn="l">
              <a:lnSpc>
                <a:spcPct val="120000"/>
              </a:lnSpc>
              <a:spcAft>
                <a:spcPts val="0"/>
              </a:spcAft>
            </a:pPr>
            <a:r>
              <a:rPr sz="950" b="0">
                <a:solidFill>
                  <a:srgbClr val="4A5566"/>
                </a:solidFill>
                <a:latin typeface="맑은 고딕"/>
                <a:ea typeface="맑은 고딕"/>
                <a:cs typeface="맑은 고딕"/>
              </a:rPr>
              <a:t>미확인 — 담당자 확인 필요    (서명)</a:t>
            </a:r>
          </a:p>
        </p:txBody>
      </p:sp>
      <p:sp>
        <p:nvSpPr>
          <p:cNvPr id="35" name="Rectangle 34"/>
          <p:cNvSpPr/>
          <p:nvPr/>
        </p:nvSpPr>
        <p:spPr>
          <a:xfrm>
            <a:off x="7415601" y="4160520"/>
            <a:ext cx="4364614" cy="1298448"/>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415601" y="4160520"/>
            <a:ext cx="4364614"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15601" y="4160520"/>
            <a:ext cx="45720" cy="1298448"/>
          </a:xfrm>
          <a:prstGeom prst="rect">
            <a:avLst/>
          </a:prstGeom>
          <a:solidFill>
            <a:srgbClr val="7A85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43617" y="4210812"/>
            <a:ext cx="4108582"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비고</a:t>
            </a:r>
          </a:p>
        </p:txBody>
      </p:sp>
      <p:sp>
        <p:nvSpPr>
          <p:cNvPr id="39" name="TextBox 38"/>
          <p:cNvSpPr txBox="1"/>
          <p:nvPr/>
        </p:nvSpPr>
        <p:spPr>
          <a:xfrm>
            <a:off x="7561905" y="4544568"/>
            <a:ext cx="4072006" cy="768096"/>
          </a:xfrm>
          <a:prstGeom prst="rect">
            <a:avLst/>
          </a:prstGeom>
          <a:noFill/>
        </p:spPr>
        <p:txBody>
          <a:bodyPr wrap="square" lIns="0" rIns="0" tIns="0" bIns="0" anchor="t">
            <a:spAutoFit/>
          </a:bodyPr>
          <a:lstStyle/>
          <a:p>
            <a:pPr algn="l">
              <a:lnSpc>
                <a:spcPct val="128000"/>
              </a:lnSpc>
              <a:spcAft>
                <a:spcPts val="0"/>
              </a:spcAft>
            </a:pPr>
            <a:r>
              <a:rPr sz="900" b="0">
                <a:solidFill>
                  <a:srgbClr val="4A5566"/>
                </a:solidFill>
                <a:latin typeface="맑은 고딕"/>
                <a:ea typeface="맑은 고딕"/>
                <a:cs typeface="맑은 고딕"/>
              </a:rPr>
              <a:t>킥오프 신규 요구사항 REQ-01. 기존 설계에 없던 공용 게시 화면과 안전재고 임계치 개념을 새로 세우므로 기능대비표 구분 '추가'. 연계 모듈: AI 대시보드(신규 화면)·성분분석관리·입고보관관리·데이터허브관리. FP 7점(단위프로세스 2건)은 산정(안)이며 사업비 산출내역서 FP산정리스트 반영 여부는 협의 후 확정한다.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1. 배합·재고 현황판</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개선업무 (AS-IS → TO-BE)</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킥오프 회의 논의</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932688"/>
            <a:ext cx="5592927" cy="1350772"/>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932688"/>
            <a:ext cx="5592927"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932688"/>
            <a:ext cx="45720" cy="1350772"/>
          </a:xfrm>
          <a:prstGeom prst="rect">
            <a:avLst/>
          </a:prstGeom>
          <a:solidFill>
            <a:srgbClr val="7A85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9496" y="982980"/>
            <a:ext cx="5336895"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AS-IS · 현재</a:t>
            </a:r>
          </a:p>
        </p:txBody>
      </p:sp>
      <p:sp>
        <p:nvSpPr>
          <p:cNvPr id="12" name="TextBox 11"/>
          <p:cNvSpPr txBox="1"/>
          <p:nvPr/>
        </p:nvSpPr>
        <p:spPr>
          <a:xfrm>
            <a:off x="557784" y="1316736"/>
            <a:ext cx="5300319" cy="820420"/>
          </a:xfrm>
          <a:prstGeom prst="rect">
            <a:avLst/>
          </a:prstGeom>
          <a:noFill/>
        </p:spPr>
        <p:txBody>
          <a:bodyPr wrap="square" lIns="0" rIns="0" tIns="0" bIns="0" anchor="t">
            <a:spAutoFit/>
          </a:bodyPr>
          <a:lstStyle/>
          <a:p>
            <a:pPr algn="l">
              <a:lnSpc>
                <a:spcPct val="124000"/>
              </a:lnSpc>
              <a:spcAft>
                <a:spcPts val="500"/>
              </a:spcAft>
            </a:pPr>
            <a:r>
              <a:rPr sz="1000" b="0">
                <a:solidFill>
                  <a:srgbClr val="4A5566"/>
                </a:solidFill>
                <a:latin typeface="맑은 고딕"/>
                <a:ea typeface="맑은 고딕"/>
                <a:cs typeface="맑은 고딕"/>
              </a:rPr>
              <a:t>·  배합비율 추천 결과는 담당자 개별 조회 용도로만 설계되어 있고, 공용 대형화면 게시 기능이 없다.</a:t>
            </a:r>
          </a:p>
          <a:p>
            <a:pPr algn="l">
              <a:lnSpc>
                <a:spcPct val="124000"/>
              </a:lnSpc>
              <a:spcAft>
                <a:spcPts val="500"/>
              </a:spcAft>
            </a:pPr>
            <a:r>
              <a:rPr sz="1000" b="0">
                <a:solidFill>
                  <a:srgbClr val="4A5566"/>
                </a:solidFill>
                <a:latin typeface="맑은 고딕"/>
                <a:ea typeface="맑은 고딕"/>
                <a:cs typeface="맑은 고딕"/>
              </a:rPr>
              <a:t>·  재고현황은 개별 조회는 가능하나 상시 게시판 형태의 화면이 없다.</a:t>
            </a:r>
          </a:p>
          <a:p>
            <a:pPr algn="l">
              <a:lnSpc>
                <a:spcPct val="124000"/>
              </a:lnSpc>
              <a:spcAft>
                <a:spcPts val="500"/>
              </a:spcAft>
            </a:pPr>
            <a:r>
              <a:rPr sz="1000" b="0">
                <a:solidFill>
                  <a:srgbClr val="4A5566"/>
                </a:solidFill>
                <a:latin typeface="맑은 고딕"/>
                <a:ea typeface="맑은 고딕"/>
                <a:cs typeface="맑은 고딕"/>
              </a:rPr>
              <a:t>·  원자재 재고 임계치(안전재고 경고 기준) 개념이 현재 설계서에 없다.</a:t>
            </a:r>
          </a:p>
        </p:txBody>
      </p:sp>
      <p:sp>
        <p:nvSpPr>
          <p:cNvPr id="13" name="Rectangle 12"/>
          <p:cNvSpPr/>
          <p:nvPr/>
        </p:nvSpPr>
        <p:spPr>
          <a:xfrm>
            <a:off x="6187287" y="932688"/>
            <a:ext cx="5592927" cy="1350772"/>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87287" y="932688"/>
            <a:ext cx="5592927"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7287" y="932688"/>
            <a:ext cx="45720" cy="1350772"/>
          </a:xfrm>
          <a:prstGeom prst="rect">
            <a:avLst/>
          </a:prstGeom>
          <a:solidFill>
            <a:srgbClr val="4E8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15303" y="982980"/>
            <a:ext cx="5336895"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TO-BE · 개선 후</a:t>
            </a:r>
          </a:p>
        </p:txBody>
      </p:sp>
      <p:sp>
        <p:nvSpPr>
          <p:cNvPr id="17" name="TextBox 16"/>
          <p:cNvSpPr txBox="1"/>
          <p:nvPr/>
        </p:nvSpPr>
        <p:spPr>
          <a:xfrm>
            <a:off x="6333591" y="1316736"/>
            <a:ext cx="5300319" cy="820420"/>
          </a:xfrm>
          <a:prstGeom prst="rect">
            <a:avLst/>
          </a:prstGeom>
          <a:noFill/>
        </p:spPr>
        <p:txBody>
          <a:bodyPr wrap="square" lIns="0" rIns="0" tIns="0" bIns="0" anchor="t">
            <a:spAutoFit/>
          </a:bodyPr>
          <a:lstStyle/>
          <a:p>
            <a:pPr algn="l">
              <a:lnSpc>
                <a:spcPct val="124000"/>
              </a:lnSpc>
              <a:spcAft>
                <a:spcPts val="500"/>
              </a:spcAft>
            </a:pPr>
            <a:r>
              <a:rPr sz="1000" b="0">
                <a:solidFill>
                  <a:srgbClr val="4A5566"/>
                </a:solidFill>
                <a:latin typeface="맑은 고딕"/>
                <a:ea typeface="맑은 고딕"/>
                <a:cs typeface="맑은 고딕"/>
              </a:rPr>
              <a:t>·  AI 대시보드에 '배합·재고 현황판' 전용 화면을 신설해 55" LCD에 상시 게시한다.</a:t>
            </a:r>
          </a:p>
          <a:p>
            <a:pPr algn="l">
              <a:lnSpc>
                <a:spcPct val="124000"/>
              </a:lnSpc>
              <a:spcAft>
                <a:spcPts val="500"/>
              </a:spcAft>
            </a:pPr>
            <a:r>
              <a:rPr sz="1000" b="0">
                <a:solidFill>
                  <a:srgbClr val="4A5566"/>
                </a:solidFill>
                <a:latin typeface="맑은 고딕"/>
                <a:ea typeface="맑은 고딕"/>
                <a:cs typeface="맑은 고딕"/>
              </a:rPr>
              <a:t>·  추천 배합비율·신뢰도, 원자재별 실시간 재고·임계재고 경고, 최근 배합 이력을 한 화면에 표시한다.</a:t>
            </a:r>
          </a:p>
          <a:p>
            <a:pPr algn="l">
              <a:lnSpc>
                <a:spcPct val="124000"/>
              </a:lnSpc>
              <a:spcAft>
                <a:spcPts val="500"/>
              </a:spcAft>
            </a:pPr>
            <a:r>
              <a:rPr sz="1000" b="0">
                <a:solidFill>
                  <a:srgbClr val="4A5566"/>
                </a:solidFill>
                <a:latin typeface="맑은 고딕"/>
                <a:ea typeface="맑은 고딕"/>
                <a:cs typeface="맑은 고딕"/>
              </a:rPr>
              <a:t>·  재고 부족으로 인한 생산 차질을 사전에 방지한다.</a:t>
            </a:r>
          </a:p>
        </p:txBody>
      </p:sp>
      <p:sp>
        <p:nvSpPr>
          <p:cNvPr id="18" name="Rectangle 17"/>
          <p:cNvSpPr/>
          <p:nvPr/>
        </p:nvSpPr>
        <p:spPr>
          <a:xfrm>
            <a:off x="5885535" y="1480058"/>
            <a:ext cx="237744" cy="256032"/>
          </a:xfrm>
          <a:prstGeom prst="rect">
            <a:avLst/>
          </a:prstGeom>
          <a:solidFill>
            <a:srgbClr val="2F6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85535" y="1516634"/>
            <a:ext cx="237744" cy="182880"/>
          </a:xfrm>
          <a:prstGeom prst="rect">
            <a:avLst/>
          </a:prstGeom>
          <a:noFill/>
        </p:spPr>
        <p:txBody>
          <a:bodyPr wrap="square" lIns="0" rIns="0" tIns="0" bIns="0" anchor="t">
            <a:spAutoFit/>
          </a:bodyPr>
          <a:lstStyle/>
          <a:p>
            <a:pPr algn="ctr">
              <a:spcAft>
                <a:spcPts val="0"/>
              </a:spcAft>
            </a:pPr>
            <a:r>
              <a:rPr sz="1100" b="1">
                <a:solidFill>
                  <a:srgbClr val="FFFFFF"/>
                </a:solidFill>
                <a:latin typeface="맑은 고딕"/>
                <a:ea typeface="맑은 고딕"/>
                <a:cs typeface="맑은 고딕"/>
              </a:rPr>
              <a:t>▶</a:t>
            </a:r>
          </a:p>
        </p:txBody>
      </p:sp>
      <p:sp>
        <p:nvSpPr>
          <p:cNvPr id="20" name="Rectangle 19"/>
          <p:cNvSpPr/>
          <p:nvPr/>
        </p:nvSpPr>
        <p:spPr>
          <a:xfrm>
            <a:off x="411480" y="2484628"/>
            <a:ext cx="11368735" cy="1382268"/>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 y="2484628"/>
            <a:ext cx="11368735"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2484628"/>
            <a:ext cx="45720" cy="138226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9496" y="2534920"/>
            <a:ext cx="11112703"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설계로 풀어낸 방식</a:t>
            </a:r>
          </a:p>
        </p:txBody>
      </p:sp>
      <p:sp>
        <p:nvSpPr>
          <p:cNvPr id="24" name="TextBox 23"/>
          <p:cNvSpPr txBox="1"/>
          <p:nvPr/>
        </p:nvSpPr>
        <p:spPr>
          <a:xfrm>
            <a:off x="557784" y="2868676"/>
            <a:ext cx="11076127" cy="851916"/>
          </a:xfrm>
          <a:prstGeom prst="rect">
            <a:avLst/>
          </a:prstGeom>
          <a:noFill/>
        </p:spPr>
        <p:txBody>
          <a:bodyPr wrap="square" lIns="0" rIns="0" tIns="0" bIns="0" anchor="t">
            <a:spAutoFit/>
          </a:bodyPr>
          <a:lstStyle/>
          <a:p>
            <a:pPr algn="l">
              <a:lnSpc>
                <a:spcPct val="124000"/>
              </a:lnSpc>
              <a:spcAft>
                <a:spcPts val="500"/>
              </a:spcAft>
            </a:pPr>
            <a:r>
              <a:rPr sz="1050" b="0">
                <a:solidFill>
                  <a:srgbClr val="4A5566"/>
                </a:solidFill>
                <a:latin typeface="맑은 고딕"/>
                <a:ea typeface="맑은 고딕"/>
                <a:cs typeface="맑은 고딕"/>
              </a:rPr>
              <a:t>·  안전재고 임계치 개념이 설계에 없던 문제는 RCV_STOCK_THRESHOLDS 테이블을 새로 세워 해결했다 — 품목별 안전재고 수량·주의 임계 수량·경고 단계(정상/주의/부족)·현황판 게시여부를 둔다.</a:t>
            </a:r>
          </a:p>
          <a:p>
            <a:pPr algn="l">
              <a:lnSpc>
                <a:spcPct val="124000"/>
              </a:lnSpc>
              <a:spcAft>
                <a:spcPts val="500"/>
              </a:spcAft>
            </a:pPr>
            <a:r>
              <a:rPr sz="1050" b="0">
                <a:solidFill>
                  <a:srgbClr val="4A5566"/>
                </a:solidFill>
                <a:latin typeface="맑은 고딕"/>
                <a:ea typeface="맑은 고딕"/>
                <a:cs typeface="맑은 고딕"/>
              </a:rPr>
              <a:t>·  재고는 RCV_LOTS.REMAIN_QTY(입고LOT 잔량)를 품목별로 합산해 구하고, 그 값을 안전재고 기준과 대비해 경고 단계를 판정한다.</a:t>
            </a:r>
          </a:p>
          <a:p>
            <a:pPr algn="l">
              <a:lnSpc>
                <a:spcPct val="124000"/>
              </a:lnSpc>
              <a:spcAft>
                <a:spcPts val="500"/>
              </a:spcAft>
            </a:pPr>
            <a:r>
              <a:rPr sz="1050" b="0">
                <a:solidFill>
                  <a:srgbClr val="4A5566"/>
                </a:solidFill>
                <a:latin typeface="맑은 고딕"/>
                <a:ea typeface="맑은 고딕"/>
                <a:cs typeface="맑은 고딕"/>
              </a:rPr>
              <a:t>·  배합 추천값은 기존 배합비율 최적화(MES-TD3-012)가 적재한 ANL_BLEND_RECOMMENDATIONS를 읽기만 한다 — 현황판은 새로 계산하지 않는다.</a:t>
            </a:r>
          </a:p>
        </p:txBody>
      </p:sp>
      <p:sp>
        <p:nvSpPr>
          <p:cNvPr id="25" name="TextBox 24"/>
          <p:cNvSpPr txBox="1"/>
          <p:nvPr/>
        </p:nvSpPr>
        <p:spPr>
          <a:xfrm>
            <a:off x="411480" y="4104640"/>
            <a:ext cx="11368735" cy="219456"/>
          </a:xfrm>
          <a:prstGeom prst="rect">
            <a:avLst/>
          </a:prstGeom>
          <a:noFill/>
        </p:spPr>
        <p:txBody>
          <a:bodyPr wrap="square" lIns="0" rIns="0" tIns="0" bIns="0" anchor="t">
            <a:spAutoFit/>
          </a:bodyPr>
          <a:lstStyle/>
          <a:p>
            <a:pPr algn="l">
              <a:spcAft>
                <a:spcPts val="0"/>
              </a:spcAft>
            </a:pPr>
            <a:r>
              <a:rPr sz="1100" b="1">
                <a:solidFill>
                  <a:srgbClr val="162848"/>
                </a:solidFill>
                <a:latin typeface="맑은 고딕"/>
                <a:ea typeface="맑은 고딕"/>
                <a:cs typeface="맑은 고딕"/>
              </a:rPr>
              <a:t>확인 · 결정 필요 사항</a:t>
            </a:r>
          </a:p>
        </p:txBody>
      </p:sp>
      <p:graphicFrame>
        <p:nvGraphicFramePr>
          <p:cNvPr id="26" name="Table 25"/>
          <p:cNvGraphicFramePr>
            <a:graphicFrameLocks noGrp="1"/>
          </p:cNvGraphicFramePr>
          <p:nvPr/>
        </p:nvGraphicFramePr>
        <p:xfrm>
          <a:off x="411480" y="4378960"/>
          <a:ext cx="11365992" cy="1956816"/>
        </p:xfrm>
        <a:graphic>
          <a:graphicData uri="http://schemas.openxmlformats.org/drawingml/2006/table">
            <a:tbl>
              <a:tblPr firstRow="1" bandRow="1">
                <a:tableStyleId>{5C22544A-7EE6-4342-B048-85BDC9FD1C3A}</a:tableStyleId>
              </a:tblPr>
              <a:tblGrid>
                <a:gridCol w="2377440"/>
                <a:gridCol w="3657600"/>
                <a:gridCol w="5330952"/>
              </a:tblGrid>
              <a:tr h="310896">
                <a:tc>
                  <a:txBody>
                    <a:bodyPr wrap="square"/>
                    <a:lstStyle/>
                    <a:p>
                      <a:pPr algn="l"/>
                      <a:r>
                        <a:rPr sz="1050" b="1">
                          <a:solidFill>
                            <a:srgbClr val="1F3864"/>
                          </a:solidFill>
                          <a:latin typeface="맑은 고딕"/>
                          <a:ea typeface="맑은 고딕"/>
                          <a:cs typeface="맑은 고딕"/>
                        </a:rPr>
                        <a:t>항목</a:t>
                      </a:r>
                    </a:p>
                  </a:txBody>
                  <a:tcPr marL="54864" marR="54864" marT="18288" marB="18288" anchor="ctr">
                    <a:solidFill>
                      <a:srgbClr val="F2F5FA"/>
                    </a:solidFill>
                  </a:tcPr>
                </a:tc>
                <a:tc>
                  <a:txBody>
                    <a:bodyPr wrap="square"/>
                    <a:lstStyle/>
                    <a:p>
                      <a:pPr algn="l"/>
                      <a:r>
                        <a:rPr sz="1050" b="1">
                          <a:solidFill>
                            <a:srgbClr val="1F3864"/>
                          </a:solidFill>
                          <a:latin typeface="맑은 고딕"/>
                          <a:ea typeface="맑은 고딕"/>
                          <a:cs typeface="맑은 고딕"/>
                        </a:rPr>
                        <a:t>반영한 값</a:t>
                      </a:r>
                    </a:p>
                  </a:txBody>
                  <a:tcPr marL="54864" marR="54864" marT="18288" marB="18288" anchor="ctr">
                    <a:solidFill>
                      <a:srgbClr val="F2F5FA"/>
                    </a:solidFill>
                  </a:tcPr>
                </a:tc>
                <a:tc>
                  <a:txBody>
                    <a:bodyPr wrap="square"/>
                    <a:lstStyle/>
                    <a:p>
                      <a:pPr algn="l"/>
                      <a:r>
                        <a:rPr sz="1050" b="1">
                          <a:solidFill>
                            <a:srgbClr val="1F3864"/>
                          </a:solidFill>
                          <a:latin typeface="맑은 고딕"/>
                          <a:ea typeface="맑은 고딕"/>
                          <a:cs typeface="맑은 고딕"/>
                        </a:rPr>
                        <a:t>상태</a:t>
                      </a:r>
                    </a:p>
                  </a:txBody>
                  <a:tcPr marL="54864" marR="54864" marT="18288" marB="18288" anchor="ctr">
                    <a:solidFill>
                      <a:srgbClr val="F2F5FA"/>
                    </a:solidFill>
                  </a:tcPr>
                </a:tc>
              </a:tr>
              <a:tr h="274320">
                <a:tc>
                  <a:txBody>
                    <a:bodyPr wrap="square"/>
                    <a:lstStyle/>
                    <a:p>
                      <a:pPr algn="l"/>
                      <a:r>
                        <a:rPr sz="950" b="1">
                          <a:solidFill>
                            <a:srgbClr val="1C2430"/>
                          </a:solidFill>
                          <a:latin typeface="맑은 고딕"/>
                          <a:ea typeface="맑은 고딕"/>
                          <a:cs typeface="맑은 고딕"/>
                        </a:rPr>
                        <a:t>현황판 설치 위치·대수</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생산현장 입구 55" LCD 1대</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킥오프 '내용(안)' 채택 — 확정 필요</a:t>
                      </a:r>
                    </a:p>
                  </a:txBody>
                  <a:tcPr marL="54864" marR="54864" marT="18288" marB="18288" anchor="ctr">
                    <a:solidFill>
                      <a:srgbClr val="FFFFFF"/>
                    </a:solidFill>
                  </a:tcPr>
                </a:tc>
              </a:tr>
              <a:tr h="274320">
                <a:tc>
                  <a:txBody>
                    <a:bodyPr wrap="square"/>
                    <a:lstStyle/>
                    <a:p>
                      <a:pPr algn="l"/>
                      <a:r>
                        <a:rPr sz="950" b="1">
                          <a:solidFill>
                            <a:srgbClr val="1C2430"/>
                          </a:solidFill>
                          <a:latin typeface="맑은 고딕"/>
                          <a:ea typeface="맑은 고딕"/>
                          <a:cs typeface="맑은 고딕"/>
                        </a:rPr>
                        <a:t>갱신 주기</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1분 주기 자동 갱신</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킥오프 '내용(안)' 채택 — 확정 필요</a:t>
                      </a:r>
                    </a:p>
                  </a:txBody>
                  <a:tcPr marL="54864" marR="54864" marT="18288" marB="18288" anchor="ctr">
                    <a:solidFill>
                      <a:srgbClr val="FAFBFD"/>
                    </a:solidFill>
                  </a:tcPr>
                </a:tc>
              </a:tr>
              <a:tr h="274320">
                <a:tc>
                  <a:txBody>
                    <a:bodyPr wrap="square"/>
                    <a:lstStyle/>
                    <a:p>
                      <a:pPr algn="l"/>
                      <a:r>
                        <a:rPr sz="950" b="1">
                          <a:solidFill>
                            <a:srgbClr val="1C2430"/>
                          </a:solidFill>
                          <a:latin typeface="맑은 고딕"/>
                          <a:ea typeface="맑은 고딕"/>
                          <a:cs typeface="맑은 고딕"/>
                        </a:rPr>
                        <a:t>표시 원자재 범위</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Sn·Pb·Ag·Cu 4종 전체</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킥오프 '내용(안)' 채택 — 확정 필요</a:t>
                      </a:r>
                    </a:p>
                  </a:txBody>
                  <a:tcPr marL="54864" marR="54864" marT="18288" marB="18288" anchor="ctr">
                    <a:solidFill>
                      <a:srgbClr val="FFFFFF"/>
                    </a:solidFill>
                  </a:tcPr>
                </a:tc>
              </a:tr>
              <a:tr h="274320">
                <a:tc>
                  <a:txBody>
                    <a:bodyPr wrap="square"/>
                    <a:lstStyle/>
                    <a:p>
                      <a:pPr algn="l"/>
                      <a:r>
                        <a:rPr sz="950" b="1">
                          <a:solidFill>
                            <a:srgbClr val="1C2430"/>
                          </a:solidFill>
                          <a:latin typeface="맑은 고딕"/>
                          <a:ea typeface="맑은 고딕"/>
                          <a:cs typeface="맑은 고딕"/>
                        </a:rPr>
                        <a:t>재고 경고 기준(임계치)</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원자재별 안전재고 수량</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미확정 — 도입기업 확정 전까지 경고 미동작</a:t>
                      </a:r>
                    </a:p>
                  </a:txBody>
                  <a:tcPr marL="54864" marR="54864" marT="18288" marB="18288" anchor="ctr">
                    <a:solidFill>
                      <a:srgbClr val="FAFBFD"/>
                    </a:solidFill>
                  </a:tcPr>
                </a:tc>
              </a:tr>
              <a:tr h="274320">
                <a:tc>
                  <a:txBody>
                    <a:bodyPr wrap="square"/>
                    <a:lstStyle/>
                    <a:p>
                      <a:pPr algn="l"/>
                      <a:r>
                        <a:rPr sz="950" b="1">
                          <a:solidFill>
                            <a:srgbClr val="1C2430"/>
                          </a:solidFill>
                          <a:latin typeface="맑은 고딕"/>
                          <a:ea typeface="맑은 고딕"/>
                          <a:cs typeface="맑은 고딕"/>
                        </a:rPr>
                        <a:t>화면 레이아웃</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상단 카드 / 중앙 차트 / 우측 경고 목록</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확정 필요</a:t>
                      </a:r>
                    </a:p>
                  </a:txBody>
                  <a:tcPr marL="54864" marR="54864" marT="18288" marB="18288" anchor="ctr">
                    <a:solidFill>
                      <a:srgbClr val="FFFFFF"/>
                    </a:solidFill>
                  </a:tcPr>
                </a:tc>
              </a:tr>
              <a:tr h="274320">
                <a:tc>
                  <a:txBody>
                    <a:bodyPr wrap="square"/>
                    <a:lstStyle/>
                    <a:p>
                      <a:pPr algn="l"/>
                      <a:r>
                        <a:rPr sz="950" b="1">
                          <a:solidFill>
                            <a:srgbClr val="1C2430"/>
                          </a:solidFill>
                          <a:latin typeface="맑은 고딕"/>
                          <a:ea typeface="맑은 고딕"/>
                          <a:cs typeface="맑은 고딕"/>
                        </a:rPr>
                        <a:t>FP 산정 반영</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7점(안) · 단위프로세스 2건</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사업비 산출내역서 반영 여부 협의 필요</a:t>
                      </a:r>
                    </a:p>
                  </a:txBody>
                  <a:tcPr marL="54864" marR="54864" marT="18288" marB="18288" anchor="ctr">
                    <a:solidFill>
                      <a:srgbClr val="FAFBFD"/>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1. 배합·재고 현황판</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화면 · 프로그램</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SF-TD3 화면설계서 / SF-TD4</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932688"/>
            <a:ext cx="6991772" cy="3401568"/>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d3-MES-TD3-043.png"/>
          <p:cNvPicPr>
            <a:picLocks noChangeAspect="1"/>
          </p:cNvPicPr>
          <p:nvPr/>
        </p:nvPicPr>
        <p:blipFill>
          <a:blip r:embed="rId2"/>
          <a:stretch>
            <a:fillRect/>
          </a:stretch>
        </p:blipFill>
        <p:spPr>
          <a:xfrm>
            <a:off x="990545" y="987552"/>
            <a:ext cx="5833640" cy="3291840"/>
          </a:xfrm>
          <a:prstGeom prst="rect">
            <a:avLst/>
          </a:prstGeom>
        </p:spPr>
      </p:pic>
      <p:sp>
        <p:nvSpPr>
          <p:cNvPr id="10" name="TextBox 9"/>
          <p:cNvSpPr txBox="1"/>
          <p:nvPr/>
        </p:nvSpPr>
        <p:spPr>
          <a:xfrm>
            <a:off x="411480" y="4389120"/>
            <a:ext cx="6991772" cy="219456"/>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MES-TD3-043 배합·재고 현황판 화면 목업 — 설계 기준 와이어프레임이며 그리드·차트 수치는 예시값이다</a:t>
            </a:r>
          </a:p>
        </p:txBody>
      </p:sp>
      <p:sp>
        <p:nvSpPr>
          <p:cNvPr id="11" name="Rectangle 10"/>
          <p:cNvSpPr/>
          <p:nvPr/>
        </p:nvSpPr>
        <p:spPr>
          <a:xfrm>
            <a:off x="7586132" y="932688"/>
            <a:ext cx="4194083" cy="2103120"/>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586132" y="932688"/>
            <a:ext cx="4194083"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6132" y="932688"/>
            <a:ext cx="45720" cy="21031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14148" y="982980"/>
            <a:ext cx="3938051"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화면 정보</a:t>
            </a:r>
          </a:p>
        </p:txBody>
      </p:sp>
      <p:sp>
        <p:nvSpPr>
          <p:cNvPr id="15" name="TextBox 14"/>
          <p:cNvSpPr txBox="1"/>
          <p:nvPr/>
        </p:nvSpPr>
        <p:spPr>
          <a:xfrm>
            <a:off x="7732436" y="1316736"/>
            <a:ext cx="86868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화면ID</a:t>
            </a:r>
          </a:p>
        </p:txBody>
      </p:sp>
      <p:sp>
        <p:nvSpPr>
          <p:cNvPr id="16" name="TextBox 15"/>
          <p:cNvSpPr txBox="1"/>
          <p:nvPr/>
        </p:nvSpPr>
        <p:spPr>
          <a:xfrm>
            <a:off x="8646836" y="1316736"/>
            <a:ext cx="2987075" cy="530352"/>
          </a:xfrm>
          <a:prstGeom prst="rect">
            <a:avLst/>
          </a:prstGeom>
          <a:noFill/>
        </p:spPr>
        <p:txBody>
          <a:bodyPr wrap="square" lIns="0" rIns="0" tIns="0" bIns="0" anchor="t">
            <a:spAutoFit/>
          </a:bodyPr>
          <a:lstStyle/>
          <a:p>
            <a:pPr algn="l">
              <a:lnSpc>
                <a:spcPct val="122000"/>
              </a:lnSpc>
              <a:spcAft>
                <a:spcPts val="0"/>
              </a:spcAft>
            </a:pPr>
            <a:r>
              <a:rPr sz="950" b="1">
                <a:solidFill>
                  <a:srgbClr val="1F3864"/>
                </a:solidFill>
                <a:latin typeface="맑은 고딕"/>
                <a:ea typeface="맑은 고딕"/>
                <a:cs typeface="맑은 고딕"/>
              </a:rPr>
              <a:t>MES-TD3-043</a:t>
            </a:r>
          </a:p>
        </p:txBody>
      </p:sp>
      <p:sp>
        <p:nvSpPr>
          <p:cNvPr id="17" name="TextBox 16"/>
          <p:cNvSpPr txBox="1"/>
          <p:nvPr/>
        </p:nvSpPr>
        <p:spPr>
          <a:xfrm>
            <a:off x="7732436" y="1883664"/>
            <a:ext cx="86868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화면 경로</a:t>
            </a:r>
          </a:p>
        </p:txBody>
      </p:sp>
      <p:sp>
        <p:nvSpPr>
          <p:cNvPr id="18" name="TextBox 17"/>
          <p:cNvSpPr txBox="1"/>
          <p:nvPr/>
        </p:nvSpPr>
        <p:spPr>
          <a:xfrm>
            <a:off x="8646836" y="1883664"/>
            <a:ext cx="2987075" cy="530352"/>
          </a:xfrm>
          <a:prstGeom prst="rect">
            <a:avLst/>
          </a:prstGeom>
          <a:noFill/>
        </p:spPr>
        <p:txBody>
          <a:bodyPr wrap="square" lIns="0" rIns="0" tIns="0" bIns="0" anchor="t">
            <a:spAutoFit/>
          </a:bodyPr>
          <a:lstStyle/>
          <a:p>
            <a:pPr algn="l">
              <a:lnSpc>
                <a:spcPct val="122000"/>
              </a:lnSpc>
              <a:spcAft>
                <a:spcPts val="0"/>
              </a:spcAft>
            </a:pPr>
            <a:r>
              <a:rPr sz="950" b="0">
                <a:solidFill>
                  <a:srgbClr val="4A5566"/>
                </a:solidFill>
                <a:latin typeface="맑은 고딕"/>
                <a:ea typeface="맑은 고딕"/>
                <a:cs typeface="맑은 고딕"/>
              </a:rPr>
              <a:t>로그인 &gt; AI 대시보드 &gt; 배합·재고 현황판</a:t>
            </a:r>
          </a:p>
        </p:txBody>
      </p:sp>
      <p:sp>
        <p:nvSpPr>
          <p:cNvPr id="19" name="TextBox 18"/>
          <p:cNvSpPr txBox="1"/>
          <p:nvPr/>
        </p:nvSpPr>
        <p:spPr>
          <a:xfrm>
            <a:off x="7732436" y="2450591"/>
            <a:ext cx="86868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적용 채널</a:t>
            </a:r>
          </a:p>
        </p:txBody>
      </p:sp>
      <p:sp>
        <p:nvSpPr>
          <p:cNvPr id="20" name="TextBox 19"/>
          <p:cNvSpPr txBox="1"/>
          <p:nvPr/>
        </p:nvSpPr>
        <p:spPr>
          <a:xfrm>
            <a:off x="8646836" y="2450591"/>
            <a:ext cx="2987075" cy="530352"/>
          </a:xfrm>
          <a:prstGeom prst="rect">
            <a:avLst/>
          </a:prstGeom>
          <a:noFill/>
        </p:spPr>
        <p:txBody>
          <a:bodyPr wrap="square" lIns="0" rIns="0" tIns="0" bIns="0" anchor="t">
            <a:spAutoFit/>
          </a:bodyPr>
          <a:lstStyle/>
          <a:p>
            <a:pPr algn="l">
              <a:lnSpc>
                <a:spcPct val="122000"/>
              </a:lnSpc>
              <a:spcAft>
                <a:spcPts val="0"/>
              </a:spcAft>
            </a:pPr>
            <a:r>
              <a:rPr sz="950" b="0">
                <a:solidFill>
                  <a:srgbClr val="4A5566"/>
                </a:solidFill>
                <a:latin typeface="맑은 고딕"/>
                <a:ea typeface="맑은 고딕"/>
                <a:cs typeface="맑은 고딕"/>
              </a:rPr>
              <a:t>55" LCD 현황판(생산현장 입구 1대), 관리자 Web / 배합추천·재고 데이터, 갱신 주기 1분</a:t>
            </a:r>
          </a:p>
        </p:txBody>
      </p:sp>
      <p:sp>
        <p:nvSpPr>
          <p:cNvPr id="21" name="Rectangle 20"/>
          <p:cNvSpPr/>
          <p:nvPr/>
        </p:nvSpPr>
        <p:spPr>
          <a:xfrm>
            <a:off x="7586132" y="3218688"/>
            <a:ext cx="4194083" cy="3255264"/>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86132" y="3218688"/>
            <a:ext cx="4194083"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86132" y="3218688"/>
            <a:ext cx="45720" cy="3255264"/>
          </a:xfrm>
          <a:prstGeom prst="rect">
            <a:avLst/>
          </a:prstGeom>
          <a:solidFill>
            <a:srgbClr val="2F6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14148" y="3268980"/>
            <a:ext cx="3938051"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프로그램 MES-TD4-047</a:t>
            </a:r>
          </a:p>
        </p:txBody>
      </p:sp>
      <p:sp>
        <p:nvSpPr>
          <p:cNvPr id="25" name="TextBox 24"/>
          <p:cNvSpPr txBox="1"/>
          <p:nvPr/>
        </p:nvSpPr>
        <p:spPr>
          <a:xfrm>
            <a:off x="7732436" y="3602736"/>
            <a:ext cx="3901475" cy="182880"/>
          </a:xfrm>
          <a:prstGeom prst="rect">
            <a:avLst/>
          </a:prstGeom>
          <a:noFill/>
        </p:spPr>
        <p:txBody>
          <a:bodyPr wrap="square" lIns="0" rIns="0" tIns="0" bIns="0" anchor="t">
            <a:spAutoFit/>
          </a:bodyPr>
          <a:lstStyle/>
          <a:p>
            <a:pPr algn="l">
              <a:spcAft>
                <a:spcPts val="0"/>
              </a:spcAft>
            </a:pPr>
            <a:r>
              <a:rPr sz="950" b="1">
                <a:solidFill>
                  <a:srgbClr val="162848"/>
                </a:solidFill>
                <a:latin typeface="맑은 고딕"/>
                <a:ea typeface="맑은 고딕"/>
                <a:cs typeface="맑은 고딕"/>
              </a:rPr>
              <a:t>처리 흐름</a:t>
            </a:r>
          </a:p>
        </p:txBody>
      </p:sp>
      <p:sp>
        <p:nvSpPr>
          <p:cNvPr id="26" name="TextBox 25"/>
          <p:cNvSpPr txBox="1"/>
          <p:nvPr/>
        </p:nvSpPr>
        <p:spPr>
          <a:xfrm>
            <a:off x="7732436" y="3840480"/>
            <a:ext cx="3901475" cy="2468880"/>
          </a:xfrm>
          <a:prstGeom prst="rect">
            <a:avLst/>
          </a:prstGeom>
          <a:noFill/>
        </p:spPr>
        <p:txBody>
          <a:bodyPr wrap="square" lIns="0" rIns="0" tIns="0" bIns="0" anchor="t">
            <a:spAutoFit/>
          </a:bodyPr>
          <a:lstStyle/>
          <a:p>
            <a:pPr algn="l">
              <a:lnSpc>
                <a:spcPct val="126000"/>
              </a:lnSpc>
              <a:spcAft>
                <a:spcPts val="0"/>
              </a:spcAft>
            </a:pPr>
            <a:r>
              <a:rPr sz="900" b="0">
                <a:solidFill>
                  <a:srgbClr val="4A5566"/>
                </a:solidFill>
                <a:latin typeface="맑은 고딕"/>
                <a:ea typeface="맑은 고딕"/>
                <a:cs typeface="맑은 고딕"/>
              </a:rPr>
              <a:t>55" LCD 현황판(전용 계정 자동 로그인) → 현황판 API → 최신 ANL_BLEND_RECOMMENDATIONS 조회 → RCV_LOTS 잔량 합산 후 RCV_STOCK_THRESHOLDS 기준과 대비 → 경고 단계 판정 → 카드·차트·경고 목록 표시 → 60초 주기 폴링 재조회</a:t>
            </a:r>
          </a:p>
        </p:txBody>
      </p:sp>
      <p:sp>
        <p:nvSpPr>
          <p:cNvPr id="27" name="Rectangle 26"/>
          <p:cNvSpPr/>
          <p:nvPr/>
        </p:nvSpPr>
        <p:spPr>
          <a:xfrm>
            <a:off x="411480" y="4681727"/>
            <a:ext cx="6991772" cy="1234440"/>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 y="4681727"/>
            <a:ext cx="6991772"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4681727"/>
            <a:ext cx="45720" cy="1234440"/>
          </a:xfrm>
          <a:prstGeom prst="rect">
            <a:avLst/>
          </a:prstGeom>
          <a:solidFill>
            <a:srgbClr val="4E8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9496" y="4732019"/>
            <a:ext cx="6735740"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화면 구성 · 처리 절차</a:t>
            </a:r>
          </a:p>
        </p:txBody>
      </p:sp>
      <p:sp>
        <p:nvSpPr>
          <p:cNvPr id="31" name="TextBox 30"/>
          <p:cNvSpPr txBox="1"/>
          <p:nvPr/>
        </p:nvSpPr>
        <p:spPr>
          <a:xfrm>
            <a:off x="557784" y="5065775"/>
            <a:ext cx="6699164" cy="704088"/>
          </a:xfrm>
          <a:prstGeom prst="rect">
            <a:avLst/>
          </a:prstGeom>
          <a:noFill/>
        </p:spPr>
        <p:txBody>
          <a:bodyPr wrap="square" lIns="0" rIns="0" tIns="0" bIns="0" anchor="t">
            <a:spAutoFit/>
          </a:bodyPr>
          <a:lstStyle/>
          <a:p>
            <a:pPr algn="l">
              <a:lnSpc>
                <a:spcPct val="126000"/>
              </a:lnSpc>
              <a:spcAft>
                <a:spcPts val="500"/>
              </a:spcAft>
            </a:pPr>
            <a:r>
              <a:rPr sz="900" b="0">
                <a:solidFill>
                  <a:srgbClr val="4A5566"/>
                </a:solidFill>
                <a:latin typeface="맑은 고딕"/>
                <a:ea typeface="맑은 고딕"/>
                <a:cs typeface="맑은 고딕"/>
              </a:rPr>
              <a:t>&lt;기존화면&gt; 배합 추천은 담당자 개별 조회, 재고는 ERP·수기 대장 확인 — 공용 게시 화면 없음 &lt;신규화면&gt; 상단 추천 배합 카드, 중앙 원자재별 재고 대비 안전재고 차트, 우측 최근 배합 이력과 임계재고 경고 목록으로 신규 구성</a:t>
            </a:r>
          </a:p>
          <a:p>
            <a:pPr algn="l">
              <a:lnSpc>
                <a:spcPct val="126000"/>
              </a:lnSpc>
              <a:spcAft>
                <a:spcPts val="500"/>
              </a:spcAft>
            </a:pPr>
            <a:r>
              <a:rPr sz="900" b="0">
                <a:solidFill>
                  <a:srgbClr val="4A5566"/>
                </a:solidFill>
                <a:latin typeface="맑은 고딕"/>
                <a:ea typeface="맑은 고딕"/>
                <a:cs typeface="맑은 고딕"/>
              </a:rPr>
              <a:t>프로세스경로: 현황판 전용 계정 자동 로그인 → 최신 추천 배합비율·신뢰도 조회 → 원자재별 재고를 안전재고 기준과 대비 → 경고 단계 판정(정상/주의/부족) → 1분 주기 자동 갱신</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1. 배합·재고 현황판</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필요데이터 — 테이블 목록</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SF-TD5 데이터베이스설계서</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411480" y="932688"/>
          <a:ext cx="11375136" cy="1788795"/>
        </p:xfrm>
        <a:graphic>
          <a:graphicData uri="http://schemas.openxmlformats.org/drawingml/2006/table">
            <a:tbl>
              <a:tblPr firstRow="1" bandRow="1">
                <a:tableStyleId>{5C22544A-7EE6-4342-B048-85BDC9FD1C3A}</a:tableStyleId>
              </a:tblPr>
              <a:tblGrid>
                <a:gridCol w="2651760"/>
                <a:gridCol w="1920240"/>
                <a:gridCol w="1737360"/>
                <a:gridCol w="777240"/>
                <a:gridCol w="731520"/>
                <a:gridCol w="3557016"/>
              </a:tblGrid>
              <a:tr h="310896">
                <a:tc>
                  <a:txBody>
                    <a:bodyPr wrap="square"/>
                    <a:lstStyle/>
                    <a:p>
                      <a:pPr algn="l"/>
                      <a:r>
                        <a:rPr sz="1050" b="1">
                          <a:solidFill>
                            <a:srgbClr val="1F3864"/>
                          </a:solidFill>
                          <a:latin typeface="맑은 고딕"/>
                          <a:ea typeface="맑은 고딕"/>
                          <a:cs typeface="맑은 고딕"/>
                        </a:rPr>
                        <a:t>테이블명</a:t>
                      </a:r>
                    </a:p>
                  </a:txBody>
                  <a:tcPr marL="54864" marR="54864" marT="18288" marB="18288" anchor="ctr">
                    <a:solidFill>
                      <a:srgbClr val="F2F5FA"/>
                    </a:solidFill>
                  </a:tcPr>
                </a:tc>
                <a:tc>
                  <a:txBody>
                    <a:bodyPr wrap="square"/>
                    <a:lstStyle/>
                    <a:p>
                      <a:pPr algn="l"/>
                      <a:r>
                        <a:rPr sz="1050" b="1">
                          <a:solidFill>
                            <a:srgbClr val="1F3864"/>
                          </a:solidFill>
                          <a:latin typeface="맑은 고딕"/>
                          <a:ea typeface="맑은 고딕"/>
                          <a:cs typeface="맑은 고딕"/>
                        </a:rPr>
                        <a:t>한글명</a:t>
                      </a:r>
                    </a:p>
                  </a:txBody>
                  <a:tcPr marL="54864" marR="54864" marT="18288" marB="18288" anchor="ctr">
                    <a:solidFill>
                      <a:srgbClr val="F2F5FA"/>
                    </a:solidFill>
                  </a:tcPr>
                </a:tc>
                <a:tc>
                  <a:txBody>
                    <a:bodyPr wrap="square"/>
                    <a:lstStyle/>
                    <a:p>
                      <a:pPr algn="l"/>
                      <a:r>
                        <a:rPr sz="1050" b="1">
                          <a:solidFill>
                            <a:srgbClr val="1F3864"/>
                          </a:solidFill>
                          <a:latin typeface="맑은 고딕"/>
                          <a:ea typeface="맑은 고딕"/>
                          <a:cs typeface="맑은 고딕"/>
                        </a:rPr>
                        <a:t>업무영역</a:t>
                      </a:r>
                    </a:p>
                  </a:txBody>
                  <a:tcPr marL="54864" marR="54864" marT="18288" marB="18288" anchor="ctr">
                    <a:solidFill>
                      <a:srgbClr val="F2F5FA"/>
                    </a:solidFill>
                  </a:tcPr>
                </a:tc>
                <a:tc>
                  <a:txBody>
                    <a:bodyPr wrap="square"/>
                    <a:lstStyle/>
                    <a:p>
                      <a:pPr algn="ctr"/>
                      <a:r>
                        <a:rPr sz="1050" b="1">
                          <a:solidFill>
                            <a:srgbClr val="1F3864"/>
                          </a:solidFill>
                          <a:latin typeface="맑은 고딕"/>
                          <a:ea typeface="맑은 고딕"/>
                          <a:cs typeface="맑은 고딕"/>
                        </a:rPr>
                        <a:t>구분</a:t>
                      </a:r>
                    </a:p>
                  </a:txBody>
                  <a:tcPr marL="54864" marR="54864" marT="18288" marB="18288" anchor="ctr">
                    <a:solidFill>
                      <a:srgbClr val="F2F5FA"/>
                    </a:solidFill>
                  </a:tcPr>
                </a:tc>
                <a:tc>
                  <a:txBody>
                    <a:bodyPr wrap="square"/>
                    <a:lstStyle/>
                    <a:p>
                      <a:pPr algn="ctr"/>
                      <a:r>
                        <a:rPr sz="1050" b="1">
                          <a:solidFill>
                            <a:srgbClr val="1F3864"/>
                          </a:solidFill>
                          <a:latin typeface="맑은 고딕"/>
                          <a:ea typeface="맑은 고딕"/>
                          <a:cs typeface="맑은 고딕"/>
                        </a:rPr>
                        <a:t>컬럼</a:t>
                      </a:r>
                    </a:p>
                  </a:txBody>
                  <a:tcPr marL="54864" marR="54864" marT="18288" marB="18288" anchor="ctr">
                    <a:solidFill>
                      <a:srgbClr val="F2F5FA"/>
                    </a:solidFill>
                  </a:tcPr>
                </a:tc>
                <a:tc>
                  <a:txBody>
                    <a:bodyPr wrap="square"/>
                    <a:lstStyle/>
                    <a:p>
                      <a:pPr algn="l"/>
                      <a:r>
                        <a:rPr sz="1050" b="1">
                          <a:solidFill>
                            <a:srgbClr val="1F3864"/>
                          </a:solidFill>
                          <a:latin typeface="맑은 고딕"/>
                          <a:ea typeface="맑은 고딕"/>
                          <a:cs typeface="맑은 고딕"/>
                        </a:rPr>
                        <a:t>비고</a:t>
                      </a:r>
                    </a:p>
                  </a:txBody>
                  <a:tcPr marL="54864" marR="54864" marT="18288" marB="18288" anchor="ctr">
                    <a:solidFill>
                      <a:srgbClr val="F2F5FA"/>
                    </a:solidFill>
                  </a:tcPr>
                </a:tc>
              </a:tr>
              <a:tr h="274320">
                <a:tc>
                  <a:txBody>
                    <a:bodyPr wrap="square"/>
                    <a:lstStyle/>
                    <a:p>
                      <a:pPr algn="l"/>
                      <a:r>
                        <a:rPr sz="950" b="1">
                          <a:solidFill>
                            <a:srgbClr val="1F3864"/>
                          </a:solidFill>
                          <a:latin typeface="맑은 고딕"/>
                          <a:ea typeface="맑은 고딕"/>
                          <a:cs typeface="맑은 고딕"/>
                        </a:rPr>
                        <a:t>ANL_BLEND_RECOMMENDATIONS</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배합비율추천</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성분분석관리</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기존</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13</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기존 설계서에 정의됨 — 읽기 참조</a:t>
                      </a:r>
                    </a:p>
                  </a:txBody>
                  <a:tcPr marL="54864" marR="54864" marT="18288" marB="18288" anchor="ctr">
                    <a:solidFill>
                      <a:srgbClr val="FFFFFF"/>
                    </a:solidFill>
                  </a:tcPr>
                </a:tc>
              </a:tr>
              <a:tr h="274320">
                <a:tc>
                  <a:txBody>
                    <a:bodyPr wrap="square"/>
                    <a:lstStyle/>
                    <a:p>
                      <a:pPr algn="l"/>
                      <a:r>
                        <a:rPr sz="950" b="1">
                          <a:solidFill>
                            <a:srgbClr val="1F3864"/>
                          </a:solidFill>
                          <a:latin typeface="맑은 고딕"/>
                          <a:ea typeface="맑은 고딕"/>
                          <a:cs typeface="맑은 고딕"/>
                        </a:rPr>
                        <a:t>ANL_BLEND_EXECUTIONS</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배합실행이력</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성분분석관리</a:t>
                      </a:r>
                    </a:p>
                  </a:txBody>
                  <a:tcPr marL="54864" marR="54864" marT="18288" marB="18288" anchor="ctr">
                    <a:solidFill>
                      <a:srgbClr val="FAFBFD"/>
                    </a:solidFill>
                  </a:tcPr>
                </a:tc>
                <a:tc>
                  <a:txBody>
                    <a:bodyPr wrap="square"/>
                    <a:lstStyle/>
                    <a:p>
                      <a:pPr algn="ctr"/>
                      <a:r>
                        <a:rPr sz="950" b="0">
                          <a:solidFill>
                            <a:srgbClr val="4A5566"/>
                          </a:solidFill>
                          <a:latin typeface="맑은 고딕"/>
                          <a:ea typeface="맑은 고딕"/>
                          <a:cs typeface="맑은 고딕"/>
                        </a:rPr>
                        <a:t>기존</a:t>
                      </a:r>
                    </a:p>
                  </a:txBody>
                  <a:tcPr marL="54864" marR="54864" marT="18288" marB="18288" anchor="ctr">
                    <a:solidFill>
                      <a:srgbClr val="FAFBFD"/>
                    </a:solidFill>
                  </a:tcPr>
                </a:tc>
                <a:tc>
                  <a:txBody>
                    <a:bodyPr wrap="square"/>
                    <a:lstStyle/>
                    <a:p>
                      <a:pPr algn="ctr"/>
                      <a:r>
                        <a:rPr sz="950" b="0">
                          <a:solidFill>
                            <a:srgbClr val="4A5566"/>
                          </a:solidFill>
                          <a:latin typeface="맑은 고딕"/>
                          <a:ea typeface="맑은 고딕"/>
                          <a:cs typeface="맑은 고딕"/>
                        </a:rPr>
                        <a:t>9</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기존 설계서에 정의됨 — 읽기 참조</a:t>
                      </a:r>
                    </a:p>
                  </a:txBody>
                  <a:tcPr marL="54864" marR="54864" marT="18288" marB="18288" anchor="ctr">
                    <a:solidFill>
                      <a:srgbClr val="FAFBFD"/>
                    </a:solidFill>
                  </a:tcPr>
                </a:tc>
              </a:tr>
              <a:tr h="274320">
                <a:tc>
                  <a:txBody>
                    <a:bodyPr wrap="square"/>
                    <a:lstStyle/>
                    <a:p>
                      <a:pPr algn="l"/>
                      <a:r>
                        <a:rPr sz="950" b="1">
                          <a:solidFill>
                            <a:srgbClr val="1F3864"/>
                          </a:solidFill>
                          <a:latin typeface="맑은 고딕"/>
                          <a:ea typeface="맑은 고딕"/>
                          <a:cs typeface="맑은 고딕"/>
                        </a:rPr>
                        <a:t>RCV_LOTS</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입고LOT</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입고보관관리</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기존</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10</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기존 설계서에 정의됨 — 읽기 참조</a:t>
                      </a:r>
                    </a:p>
                  </a:txBody>
                  <a:tcPr marL="54864" marR="54864" marT="18288" marB="18288" anchor="ctr">
                    <a:solidFill>
                      <a:srgbClr val="FFFFFF"/>
                    </a:solidFill>
                  </a:tcPr>
                </a:tc>
              </a:tr>
              <a:tr h="380619">
                <a:tc>
                  <a:txBody>
                    <a:bodyPr wrap="square"/>
                    <a:lstStyle/>
                    <a:p>
                      <a:pPr algn="l"/>
                      <a:r>
                        <a:rPr sz="950" b="1">
                          <a:solidFill>
                            <a:srgbClr val="1F3864"/>
                          </a:solidFill>
                          <a:latin typeface="맑은 고딕"/>
                          <a:ea typeface="맑은 고딕"/>
                          <a:cs typeface="맑은 고딕"/>
                        </a:rPr>
                        <a:t>RCV_STOCK_THRESHOLDS</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안전재고기준</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입고보관관리</a:t>
                      </a:r>
                    </a:p>
                  </a:txBody>
                  <a:tcPr marL="54864" marR="54864" marT="18288" marB="18288" anchor="ctr">
                    <a:solidFill>
                      <a:srgbClr val="FAFBFD"/>
                    </a:solidFill>
                  </a:tcPr>
                </a:tc>
                <a:tc>
                  <a:txBody>
                    <a:bodyPr wrap="square"/>
                    <a:lstStyle/>
                    <a:p>
                      <a:pPr algn="ctr"/>
                      <a:r>
                        <a:rPr sz="950" b="0">
                          <a:solidFill>
                            <a:srgbClr val="4A5566"/>
                          </a:solidFill>
                          <a:latin typeface="맑은 고딕"/>
                          <a:ea typeface="맑은 고딕"/>
                          <a:cs typeface="맑은 고딕"/>
                        </a:rPr>
                        <a:t>신규</a:t>
                      </a:r>
                    </a:p>
                  </a:txBody>
                  <a:tcPr marL="54864" marR="54864" marT="18288" marB="18288" anchor="ctr">
                    <a:solidFill>
                      <a:srgbClr val="FAFBFD"/>
                    </a:solidFill>
                  </a:tcPr>
                </a:tc>
                <a:tc>
                  <a:txBody>
                    <a:bodyPr wrap="square"/>
                    <a:lstStyle/>
                    <a:p>
                      <a:pPr algn="ctr"/>
                      <a:r>
                        <a:rPr sz="950" b="0">
                          <a:solidFill>
                            <a:srgbClr val="4A5566"/>
                          </a:solidFill>
                          <a:latin typeface="맑은 고딕"/>
                          <a:ea typeface="맑은 고딕"/>
                          <a:cs typeface="맑은 고딕"/>
                        </a:rPr>
                        <a:t>10</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킥오프 신규 요구사항 MES-AD2-063 근거 / 참조 프로그램 1건</a:t>
                      </a:r>
                    </a:p>
                  </a:txBody>
                  <a:tcPr marL="54864" marR="54864" marT="18288" marB="18288" anchor="ctr">
                    <a:solidFill>
                      <a:srgbClr val="FAFBFD"/>
                    </a:solidFill>
                  </a:tcPr>
                </a:tc>
              </a:tr>
              <a:tr h="274320">
                <a:tc>
                  <a:txBody>
                    <a:bodyPr wrap="square"/>
                    <a:lstStyle/>
                    <a:p>
                      <a:pPr algn="l"/>
                      <a:r>
                        <a:rPr sz="950" b="1">
                          <a:solidFill>
                            <a:srgbClr val="1F3864"/>
                          </a:solidFill>
                          <a:latin typeface="맑은 고딕"/>
                          <a:ea typeface="맑은 고딕"/>
                          <a:cs typeface="맑은 고딕"/>
                        </a:rPr>
                        <a:t>BAS_ITEMS</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품목</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기준정보관리</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기존</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10</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기존 설계서에 정의됨 — 읽기 참조</a:t>
                      </a:r>
                    </a:p>
                  </a:txBody>
                  <a:tcPr marL="54864" marR="54864" marT="18288" marB="18288" anchor="ctr">
                    <a:solidFill>
                      <a:srgbClr val="FFFFFF"/>
                    </a:solidFill>
                  </a:tcPr>
                </a:tc>
              </a:tr>
            </a:tbl>
          </a:graphicData>
        </a:graphic>
      </p:graphicFrame>
      <p:sp>
        <p:nvSpPr>
          <p:cNvPr id="9" name="TextBox 8"/>
          <p:cNvSpPr txBox="1"/>
          <p:nvPr/>
        </p:nvSpPr>
        <p:spPr>
          <a:xfrm>
            <a:off x="411480" y="2944368"/>
            <a:ext cx="11368735" cy="365760"/>
          </a:xfrm>
          <a:prstGeom prst="rect">
            <a:avLst/>
          </a:prstGeom>
          <a:noFill/>
        </p:spPr>
        <p:txBody>
          <a:bodyPr wrap="square" lIns="0" rIns="0" tIns="0" bIns="0" anchor="t">
            <a:spAutoFit/>
          </a:bodyPr>
          <a:lstStyle/>
          <a:p>
            <a:pPr algn="l">
              <a:spcAft>
                <a:spcPts val="0"/>
              </a:spcAft>
            </a:pPr>
            <a:r>
              <a:rPr sz="950" b="0">
                <a:solidFill>
                  <a:srgbClr val="7A8598"/>
                </a:solidFill>
                <a:latin typeface="맑은 고딕"/>
                <a:ea typeface="맑은 고딕"/>
                <a:cs typeface="맑은 고딕"/>
              </a:rPr>
              <a:t>이 화면이 쓰는 테이블 5종 중 신규 1종. 다음 장에 신규 테이블의 컬럼 정의를 싣는다 — 기존 테이블 정의는 SF-TD5 데이터베이스설계서를 따른다.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1. 배합·재고 현황판</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RCV_STOCK_THRESHOLDS  안전재고기준</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신규 테이블</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411480" y="932688"/>
          <a:ext cx="11365992" cy="3054096"/>
        </p:xfrm>
        <a:graphic>
          <a:graphicData uri="http://schemas.openxmlformats.org/drawingml/2006/table">
            <a:tbl>
              <a:tblPr firstRow="1" bandRow="1">
                <a:tableStyleId>{5C22544A-7EE6-4342-B048-85BDC9FD1C3A}</a:tableStyleId>
              </a:tblPr>
              <a:tblGrid>
                <a:gridCol w="2103120"/>
                <a:gridCol w="2286000"/>
                <a:gridCol w="1554480"/>
                <a:gridCol w="566928"/>
                <a:gridCol w="566928"/>
                <a:gridCol w="658368"/>
                <a:gridCol w="3630168"/>
              </a:tblGrid>
              <a:tr h="310896">
                <a:tc>
                  <a:txBody>
                    <a:bodyPr wrap="square"/>
                    <a:lstStyle/>
                    <a:p>
                      <a:pPr algn="l"/>
                      <a:r>
                        <a:rPr sz="1000" b="1">
                          <a:solidFill>
                            <a:srgbClr val="1F3864"/>
                          </a:solidFill>
                          <a:latin typeface="맑은 고딕"/>
                          <a:ea typeface="맑은 고딕"/>
                          <a:cs typeface="맑은 고딕"/>
                        </a:rPr>
                        <a:t>항목명</a:t>
                      </a:r>
                    </a:p>
                  </a:txBody>
                  <a:tcPr marL="54864" marR="54864" marT="18288" marB="18288" anchor="ctr">
                    <a:solidFill>
                      <a:srgbClr val="F2F5FA"/>
                    </a:solidFill>
                  </a:tcPr>
                </a:tc>
                <a:tc>
                  <a:txBody>
                    <a:bodyPr wrap="square"/>
                    <a:lstStyle/>
                    <a:p>
                      <a:pPr algn="l"/>
                      <a:r>
                        <a:rPr sz="1000" b="1">
                          <a:solidFill>
                            <a:srgbClr val="1F3864"/>
                          </a:solidFill>
                          <a:latin typeface="맑은 고딕"/>
                          <a:ea typeface="맑은 고딕"/>
                          <a:cs typeface="맑은 고딕"/>
                        </a:rPr>
                        <a:t>컬럼명</a:t>
                      </a:r>
                    </a:p>
                  </a:txBody>
                  <a:tcPr marL="54864" marR="54864" marT="18288" marB="18288" anchor="ctr">
                    <a:solidFill>
                      <a:srgbClr val="F2F5FA"/>
                    </a:solidFill>
                  </a:tcPr>
                </a:tc>
                <a:tc>
                  <a:txBody>
                    <a:bodyPr wrap="square"/>
                    <a:lstStyle/>
                    <a:p>
                      <a:pPr algn="l"/>
                      <a:r>
                        <a:rPr sz="1000" b="1">
                          <a:solidFill>
                            <a:srgbClr val="1F3864"/>
                          </a:solidFill>
                          <a:latin typeface="맑은 고딕"/>
                          <a:ea typeface="맑은 고딕"/>
                          <a:cs typeface="맑은 고딕"/>
                        </a:rPr>
                        <a:t>타입</a:t>
                      </a:r>
                    </a:p>
                  </a:txBody>
                  <a:tcPr marL="54864" marR="54864" marT="18288" marB="18288" anchor="ctr">
                    <a:solidFill>
                      <a:srgbClr val="F2F5FA"/>
                    </a:solidFill>
                  </a:tcPr>
                </a:tc>
                <a:tc>
                  <a:txBody>
                    <a:bodyPr wrap="square"/>
                    <a:lstStyle/>
                    <a:p>
                      <a:pPr algn="ctr"/>
                      <a:r>
                        <a:rPr sz="1000" b="1">
                          <a:solidFill>
                            <a:srgbClr val="1F3864"/>
                          </a:solidFill>
                          <a:latin typeface="맑은 고딕"/>
                          <a:ea typeface="맑은 고딕"/>
                          <a:cs typeface="맑은 고딕"/>
                        </a:rPr>
                        <a:t>PK</a:t>
                      </a:r>
                    </a:p>
                  </a:txBody>
                  <a:tcPr marL="54864" marR="54864" marT="18288" marB="18288" anchor="ctr">
                    <a:solidFill>
                      <a:srgbClr val="F2F5FA"/>
                    </a:solidFill>
                  </a:tcPr>
                </a:tc>
                <a:tc>
                  <a:txBody>
                    <a:bodyPr wrap="square"/>
                    <a:lstStyle/>
                    <a:p>
                      <a:pPr algn="ctr"/>
                      <a:r>
                        <a:rPr sz="1000" b="1">
                          <a:solidFill>
                            <a:srgbClr val="1F3864"/>
                          </a:solidFill>
                          <a:latin typeface="맑은 고딕"/>
                          <a:ea typeface="맑은 고딕"/>
                          <a:cs typeface="맑은 고딕"/>
                        </a:rPr>
                        <a:t>FK</a:t>
                      </a:r>
                    </a:p>
                  </a:txBody>
                  <a:tcPr marL="54864" marR="54864" marT="18288" marB="18288" anchor="ctr">
                    <a:solidFill>
                      <a:srgbClr val="F2F5FA"/>
                    </a:solidFill>
                  </a:tcPr>
                </a:tc>
                <a:tc>
                  <a:txBody>
                    <a:bodyPr wrap="square"/>
                    <a:lstStyle/>
                    <a:p>
                      <a:pPr algn="ctr"/>
                      <a:r>
                        <a:rPr sz="1000" b="1">
                          <a:solidFill>
                            <a:srgbClr val="1F3864"/>
                          </a:solidFill>
                          <a:latin typeface="맑은 고딕"/>
                          <a:ea typeface="맑은 고딕"/>
                          <a:cs typeface="맑은 고딕"/>
                        </a:rPr>
                        <a:t>NULL</a:t>
                      </a:r>
                    </a:p>
                  </a:txBody>
                  <a:tcPr marL="54864" marR="54864" marT="18288" marB="18288" anchor="ctr">
                    <a:solidFill>
                      <a:srgbClr val="F2F5FA"/>
                    </a:solidFill>
                  </a:tcPr>
                </a:tc>
                <a:tc>
                  <a:txBody>
                    <a:bodyPr wrap="square"/>
                    <a:lstStyle/>
                    <a:p>
                      <a:pPr algn="l"/>
                      <a:r>
                        <a:rPr sz="1000" b="1">
                          <a:solidFill>
                            <a:srgbClr val="1F3864"/>
                          </a:solidFill>
                          <a:latin typeface="맑은 고딕"/>
                          <a:ea typeface="맑은 고딕"/>
                          <a:cs typeface="맑은 고딕"/>
                        </a:rPr>
                        <a:t>비고</a:t>
                      </a:r>
                    </a:p>
                  </a:txBody>
                  <a:tcPr marL="54864" marR="54864" marT="18288" marB="18288" anchor="ctr">
                    <a:solidFill>
                      <a:srgbClr val="F2F5FA"/>
                    </a:solidFill>
                  </a:tcPr>
                </a:tc>
              </a:tr>
              <a:tr h="274320">
                <a:tc>
                  <a:txBody>
                    <a:bodyPr wrap="square"/>
                    <a:lstStyle/>
                    <a:p>
                      <a:pPr algn="l"/>
                      <a:r>
                        <a:rPr sz="900" b="0">
                          <a:solidFill>
                            <a:srgbClr val="4A5566"/>
                          </a:solidFill>
                          <a:latin typeface="맑은 고딕"/>
                          <a:ea typeface="맑은 고딕"/>
                          <a:cs typeface="맑은 고딕"/>
                        </a:rPr>
                        <a:t>안전재고기준 ID</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STOCK_THRESHOLD_ID</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BIGSERIAL</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품목 ID</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ITEM_ID</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BIGINT</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FK: BAS_ITEMS (Sn·Pb·Ag·Cu 4종)</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안전재고 수량(kg)</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SAFETY_QTY</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NUMERIC(14,3)</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원자재별 기준 수량 미확정 — 담당자 확인 필요</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주의 임계 수량(kg)</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WARN_QTY</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NUMERIC(14,3)</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안전재고 위 경고 단계</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경고 단계 구분</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ALERT_LEVEL</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VARCHAR(20)</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정상/주의/부족</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현황판 게시여부</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BOARD_SHOW_YN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CHAR(1)</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기본값 Y (현황판 4종 전체 게시)</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적용 시작일</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EFFECTIVE_DATE</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DATE</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사용여부</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USE_YN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CHAR(1)</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기본값 Y</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등록 일시</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CREATED_DT</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TIMESTAMP</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수정 일시</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UPDATED_DT</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TIMESTAMP</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AFBFD"/>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2. 작업지시관리</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요구사항</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SF-AD2 요구사항정의서</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932688"/>
            <a:ext cx="11368735" cy="566928"/>
          </a:xfrm>
          <a:prstGeom prst="rect">
            <a:avLst/>
          </a:prstGeom>
          <a:solidFill>
            <a:srgbClr val="FBF7EC"/>
          </a:solidFill>
          <a:ln w="9525">
            <a:solidFill>
              <a:srgbClr val="B880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932688"/>
            <a:ext cx="45720" cy="566928"/>
          </a:xfrm>
          <a:prstGeom prst="rect">
            <a:avLst/>
          </a:prstGeom>
          <a:solidFill>
            <a:srgbClr val="B88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014984"/>
            <a:ext cx="11076127" cy="219456"/>
          </a:xfrm>
          <a:prstGeom prst="rect">
            <a:avLst/>
          </a:prstGeom>
          <a:noFill/>
        </p:spPr>
        <p:txBody>
          <a:bodyPr wrap="square" lIns="0" rIns="0" tIns="0" bIns="0" anchor="t">
            <a:spAutoFit/>
          </a:bodyPr>
          <a:lstStyle/>
          <a:p>
            <a:pPr algn="l">
              <a:spcAft>
                <a:spcPts val="0"/>
              </a:spcAft>
            </a:pPr>
            <a:r>
              <a:rPr sz="1100" b="1">
                <a:solidFill>
                  <a:srgbClr val="1C2430"/>
                </a:solidFill>
                <a:latin typeface="맑은 고딕"/>
                <a:ea typeface="맑은 고딕"/>
                <a:cs typeface="맑은 고딕"/>
              </a:rPr>
              <a:t>고려솔더 요청 원문 — “매일 작업지시서를 화면에 띄워줘. 각 역할별로 보여주면 좋겠다.”</a:t>
            </a:r>
          </a:p>
        </p:txBody>
      </p:sp>
      <p:sp>
        <p:nvSpPr>
          <p:cNvPr id="11" name="TextBox 10"/>
          <p:cNvSpPr txBox="1"/>
          <p:nvPr/>
        </p:nvSpPr>
        <p:spPr>
          <a:xfrm>
            <a:off x="557784" y="1243584"/>
            <a:ext cx="11076127" cy="182880"/>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영향도 큼 — 3건 중 가장 큼  ·  출처 고려솔더_신규요구사항_3건_1.pptx (2026-08 킥오프 회의 논의) · 킥오프 회의록 4-3 / 5장(5-1~5-3)</a:t>
            </a:r>
          </a:p>
        </p:txBody>
      </p:sp>
      <p:sp>
        <p:nvSpPr>
          <p:cNvPr id="12" name="Rectangle 11"/>
          <p:cNvSpPr/>
          <p:nvPr/>
        </p:nvSpPr>
        <p:spPr>
          <a:xfrm>
            <a:off x="411480" y="1645920"/>
            <a:ext cx="6821241" cy="4828032"/>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1645920"/>
            <a:ext cx="6821241"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1645920"/>
            <a:ext cx="45720" cy="4828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9496" y="1696212"/>
            <a:ext cx="6565209"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요구사항 내용</a:t>
            </a:r>
          </a:p>
        </p:txBody>
      </p:sp>
      <p:sp>
        <p:nvSpPr>
          <p:cNvPr id="16" name="TextBox 15"/>
          <p:cNvSpPr txBox="1"/>
          <p:nvPr/>
        </p:nvSpPr>
        <p:spPr>
          <a:xfrm>
            <a:off x="557784" y="2029968"/>
            <a:ext cx="6528633" cy="399796"/>
          </a:xfrm>
          <a:prstGeom prst="rect">
            <a:avLst/>
          </a:prstGeom>
          <a:noFill/>
        </p:spPr>
        <p:txBody>
          <a:bodyPr wrap="square" lIns="0" rIns="0" tIns="0" bIns="0" anchor="t">
            <a:spAutoFit/>
          </a:bodyPr>
          <a:lstStyle/>
          <a:p>
            <a:pPr algn="l">
              <a:lnSpc>
                <a:spcPct val="130000"/>
              </a:lnSpc>
              <a:spcAft>
                <a:spcPts val="0"/>
              </a:spcAft>
            </a:pPr>
            <a:r>
              <a:rPr sz="1100" b="0">
                <a:solidFill>
                  <a:srgbClr val="1C2430"/>
                </a:solidFill>
                <a:latin typeface="맑은 고딕"/>
                <a:ea typeface="맑은 고딕"/>
                <a:cs typeface="맑은 고딕"/>
              </a:rPr>
              <a:t>매일 생성되는 작업지시서를 8개 공정별로 구분해 현장 화면에 자동 게시하고, 담당자는 로그인한 화면에서 본인 담당 공정의 작업지시만 확인한다.</a:t>
            </a:r>
          </a:p>
        </p:txBody>
      </p:sp>
      <p:sp>
        <p:nvSpPr>
          <p:cNvPr id="17" name="TextBox 16"/>
          <p:cNvSpPr txBox="1"/>
          <p:nvPr/>
        </p:nvSpPr>
        <p:spPr>
          <a:xfrm>
            <a:off x="557784" y="2594356"/>
            <a:ext cx="6528633" cy="201168"/>
          </a:xfrm>
          <a:prstGeom prst="rect">
            <a:avLst/>
          </a:prstGeom>
          <a:noFill/>
        </p:spPr>
        <p:txBody>
          <a:bodyPr wrap="square" lIns="0" rIns="0" tIns="0" bIns="0" anchor="t">
            <a:spAutoFit/>
          </a:bodyPr>
          <a:lstStyle/>
          <a:p>
            <a:pPr algn="l">
              <a:spcAft>
                <a:spcPts val="0"/>
              </a:spcAft>
            </a:pPr>
            <a:r>
              <a:rPr sz="1000" b="1">
                <a:solidFill>
                  <a:srgbClr val="162848"/>
                </a:solidFill>
                <a:latin typeface="맑은 고딕"/>
                <a:ea typeface="맑은 고딕"/>
                <a:cs typeface="맑은 고딕"/>
              </a:rPr>
              <a:t>세부 기능 · FP 산정(안)</a:t>
            </a:r>
          </a:p>
        </p:txBody>
      </p:sp>
      <p:sp>
        <p:nvSpPr>
          <p:cNvPr id="18" name="TextBox 17"/>
          <p:cNvSpPr txBox="1"/>
          <p:nvPr/>
        </p:nvSpPr>
        <p:spPr>
          <a:xfrm>
            <a:off x="557784" y="2850388"/>
            <a:ext cx="6528633" cy="662940"/>
          </a:xfrm>
          <a:prstGeom prst="rect">
            <a:avLst/>
          </a:prstGeom>
          <a:noFill/>
        </p:spPr>
        <p:txBody>
          <a:bodyPr wrap="square" lIns="0" rIns="0" tIns="0" bIns="0" anchor="t">
            <a:spAutoFit/>
          </a:bodyPr>
          <a:lstStyle/>
          <a:p>
            <a:pPr algn="l">
              <a:lnSpc>
                <a:spcPct val="124000"/>
              </a:lnSpc>
              <a:spcAft>
                <a:spcPts val="500"/>
              </a:spcAft>
            </a:pPr>
            <a:r>
              <a:rPr sz="1000" b="0">
                <a:solidFill>
                  <a:srgbClr val="4A5566"/>
                </a:solidFill>
                <a:latin typeface="맑은 고딕"/>
                <a:ea typeface="맑은 고딕"/>
                <a:cs typeface="맑은 고딕"/>
              </a:rPr>
              <a:t>·  1. 작업지시 등록·수정 (생산 품목·목표 수량·배합비율·담당 공정·작업조건 기준) (EI, 가중치 4 FP)</a:t>
            </a:r>
          </a:p>
          <a:p>
            <a:pPr algn="l">
              <a:lnSpc>
                <a:spcPct val="124000"/>
              </a:lnSpc>
              <a:spcAft>
                <a:spcPts val="500"/>
              </a:spcAft>
            </a:pPr>
            <a:r>
              <a:rPr sz="1000" b="0">
                <a:solidFill>
                  <a:srgbClr val="4A5566"/>
                </a:solidFill>
                <a:latin typeface="맑은 고딕"/>
                <a:ea typeface="맑은 고딕"/>
                <a:cs typeface="맑은 고딕"/>
              </a:rPr>
              <a:t>·  2. 역할별 작업지시 게시 조회 (로그인 사용자의 담당 공정 지시만 표시) (EQ, 가중치 4 FP)</a:t>
            </a:r>
          </a:p>
          <a:p>
            <a:pPr algn="l">
              <a:lnSpc>
                <a:spcPct val="124000"/>
              </a:lnSpc>
              <a:spcAft>
                <a:spcPts val="500"/>
              </a:spcAft>
            </a:pPr>
            <a:r>
              <a:rPr sz="1000" b="0">
                <a:solidFill>
                  <a:srgbClr val="4A5566"/>
                </a:solidFill>
                <a:latin typeface="맑은 고딕"/>
                <a:ea typeface="맑은 고딕"/>
                <a:cs typeface="맑은 고딕"/>
              </a:rPr>
              <a:t>·  3. 작업지시 진행상태 갱신 (지시/진행/완료/보류) (EI, 가중치 3 FP)</a:t>
            </a:r>
          </a:p>
        </p:txBody>
      </p:sp>
      <p:sp>
        <p:nvSpPr>
          <p:cNvPr id="19" name="TextBox 18"/>
          <p:cNvSpPr txBox="1"/>
          <p:nvPr/>
        </p:nvSpPr>
        <p:spPr>
          <a:xfrm>
            <a:off x="557784" y="3604768"/>
            <a:ext cx="6528633" cy="201168"/>
          </a:xfrm>
          <a:prstGeom prst="rect">
            <a:avLst/>
          </a:prstGeom>
          <a:noFill/>
        </p:spPr>
        <p:txBody>
          <a:bodyPr wrap="square" lIns="0" rIns="0" tIns="0" bIns="0" anchor="t">
            <a:spAutoFit/>
          </a:bodyPr>
          <a:lstStyle/>
          <a:p>
            <a:pPr algn="l">
              <a:spcAft>
                <a:spcPts val="0"/>
              </a:spcAft>
            </a:pPr>
            <a:r>
              <a:rPr sz="1000" b="1">
                <a:solidFill>
                  <a:srgbClr val="162848"/>
                </a:solidFill>
                <a:latin typeface="맑은 고딕"/>
                <a:ea typeface="맑은 고딕"/>
                <a:cs typeface="맑은 고딕"/>
              </a:rPr>
              <a:t>제약사항</a:t>
            </a:r>
          </a:p>
        </p:txBody>
      </p:sp>
      <p:sp>
        <p:nvSpPr>
          <p:cNvPr id="20" name="TextBox 19"/>
          <p:cNvSpPr txBox="1"/>
          <p:nvPr/>
        </p:nvSpPr>
        <p:spPr>
          <a:xfrm>
            <a:off x="557784" y="3860800"/>
            <a:ext cx="6528633" cy="2485136"/>
          </a:xfrm>
          <a:prstGeom prst="rect">
            <a:avLst/>
          </a:prstGeom>
          <a:noFill/>
        </p:spPr>
        <p:txBody>
          <a:bodyPr wrap="square" lIns="0" rIns="0" tIns="0" bIns="0" anchor="t">
            <a:spAutoFit/>
          </a:bodyPr>
          <a:lstStyle/>
          <a:p>
            <a:pPr algn="l">
              <a:lnSpc>
                <a:spcPct val="128000"/>
              </a:lnSpc>
              <a:spcAft>
                <a:spcPts val="0"/>
              </a:spcAft>
            </a:pPr>
            <a:r>
              <a:rPr sz="950" b="0">
                <a:solidFill>
                  <a:srgbClr val="4A5566"/>
                </a:solidFill>
                <a:latin typeface="맑은 고딕"/>
                <a:ea typeface="맑은 고딕"/>
                <a:cs typeface="맑은 고딕"/>
              </a:rPr>
              <a:t>작업지시서는 1단계 수동 입력으로 시작하고 ERP 생산계획 연계 자동 생성은 ERP 연계 방식(MES-AD2-059) 확정 이후 2단계로 적용한다(킥오프 논의 '내용(안)' 반영). 역할 구분은 8개 공정(입고·보관 / 용해 / 성분분석 / 주조 / 압출 / 절단 / 품질검사 / 포장·출하) 기준이며, 게시 단말은 현장 Panel PC와 관리자 Web이다. 공정별 담당자 배정이 사용자·권한관리(MES-AD2-024)에 등록되어야 역할별 게시가 성립한다. 현행 작업지시는 시스템화되어 있지 않고 구두·수기로 전달되는 것으로 파악되어 현행 전달 방식 확인이 필요하다.</a:t>
            </a:r>
          </a:p>
        </p:txBody>
      </p:sp>
      <p:sp>
        <p:nvSpPr>
          <p:cNvPr id="21" name="Rectangle 20"/>
          <p:cNvSpPr/>
          <p:nvPr/>
        </p:nvSpPr>
        <p:spPr>
          <a:xfrm>
            <a:off x="7415601" y="1645920"/>
            <a:ext cx="4364614" cy="2331720"/>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15601" y="1645920"/>
            <a:ext cx="4364614"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15601" y="1645920"/>
            <a:ext cx="45720" cy="2331720"/>
          </a:xfrm>
          <a:prstGeom prst="rect">
            <a:avLst/>
          </a:prstGeom>
          <a:solidFill>
            <a:srgbClr val="2F6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43617" y="1696212"/>
            <a:ext cx="4108582"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요구사항 정보</a:t>
            </a:r>
          </a:p>
        </p:txBody>
      </p:sp>
      <p:sp>
        <p:nvSpPr>
          <p:cNvPr id="25" name="TextBox 24"/>
          <p:cNvSpPr txBox="1"/>
          <p:nvPr/>
        </p:nvSpPr>
        <p:spPr>
          <a:xfrm>
            <a:off x="7561905" y="2029968"/>
            <a:ext cx="105156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요구사항ID</a:t>
            </a:r>
          </a:p>
        </p:txBody>
      </p:sp>
      <p:sp>
        <p:nvSpPr>
          <p:cNvPr id="26" name="TextBox 25"/>
          <p:cNvSpPr txBox="1"/>
          <p:nvPr/>
        </p:nvSpPr>
        <p:spPr>
          <a:xfrm>
            <a:off x="8659185" y="2029968"/>
            <a:ext cx="2974726" cy="329184"/>
          </a:xfrm>
          <a:prstGeom prst="rect">
            <a:avLst/>
          </a:prstGeom>
          <a:noFill/>
        </p:spPr>
        <p:txBody>
          <a:bodyPr wrap="square" lIns="0" rIns="0" tIns="0" bIns="0" anchor="t">
            <a:spAutoFit/>
          </a:bodyPr>
          <a:lstStyle/>
          <a:p>
            <a:pPr algn="l">
              <a:lnSpc>
                <a:spcPct val="120000"/>
              </a:lnSpc>
              <a:spcAft>
                <a:spcPts val="0"/>
              </a:spcAft>
            </a:pPr>
            <a:r>
              <a:rPr sz="950" b="1">
                <a:solidFill>
                  <a:srgbClr val="1F3864"/>
                </a:solidFill>
                <a:latin typeface="맑은 고딕"/>
                <a:ea typeface="맑은 고딕"/>
                <a:cs typeface="맑은 고딕"/>
              </a:rPr>
              <a:t>MES-AD2-064</a:t>
            </a:r>
          </a:p>
        </p:txBody>
      </p:sp>
      <p:sp>
        <p:nvSpPr>
          <p:cNvPr id="27" name="TextBox 26"/>
          <p:cNvSpPr txBox="1"/>
          <p:nvPr/>
        </p:nvSpPr>
        <p:spPr>
          <a:xfrm>
            <a:off x="7561905" y="2395728"/>
            <a:ext cx="105156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구분 (SF-AD3)</a:t>
            </a:r>
          </a:p>
        </p:txBody>
      </p:sp>
      <p:sp>
        <p:nvSpPr>
          <p:cNvPr id="28" name="TextBox 27"/>
          <p:cNvSpPr txBox="1"/>
          <p:nvPr/>
        </p:nvSpPr>
        <p:spPr>
          <a:xfrm>
            <a:off x="8659185" y="2395728"/>
            <a:ext cx="2974726" cy="329184"/>
          </a:xfrm>
          <a:prstGeom prst="rect">
            <a:avLst/>
          </a:prstGeom>
          <a:noFill/>
        </p:spPr>
        <p:txBody>
          <a:bodyPr wrap="square" lIns="0" rIns="0" tIns="0" bIns="0" anchor="t">
            <a:spAutoFit/>
          </a:bodyPr>
          <a:lstStyle/>
          <a:p>
            <a:pPr algn="l">
              <a:lnSpc>
                <a:spcPct val="120000"/>
              </a:lnSpc>
              <a:spcAft>
                <a:spcPts val="0"/>
              </a:spcAft>
            </a:pPr>
            <a:r>
              <a:rPr sz="950" b="1">
                <a:solidFill>
                  <a:srgbClr val="1F3864"/>
                </a:solidFill>
                <a:latin typeface="맑은 고딕"/>
                <a:ea typeface="맑은 고딕"/>
                <a:cs typeface="맑은 고딕"/>
              </a:rPr>
              <a:t>추가</a:t>
            </a:r>
          </a:p>
        </p:txBody>
      </p:sp>
      <p:sp>
        <p:nvSpPr>
          <p:cNvPr id="29" name="TextBox 28"/>
          <p:cNvSpPr txBox="1"/>
          <p:nvPr/>
        </p:nvSpPr>
        <p:spPr>
          <a:xfrm>
            <a:off x="7561905" y="2761488"/>
            <a:ext cx="105156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업무영역</a:t>
            </a:r>
          </a:p>
        </p:txBody>
      </p:sp>
      <p:sp>
        <p:nvSpPr>
          <p:cNvPr id="30" name="TextBox 29"/>
          <p:cNvSpPr txBox="1"/>
          <p:nvPr/>
        </p:nvSpPr>
        <p:spPr>
          <a:xfrm>
            <a:off x="8659185" y="2761488"/>
            <a:ext cx="2974726" cy="329184"/>
          </a:xfrm>
          <a:prstGeom prst="rect">
            <a:avLst/>
          </a:prstGeom>
          <a:noFill/>
        </p:spPr>
        <p:txBody>
          <a:bodyPr wrap="square" lIns="0" rIns="0" tIns="0" bIns="0" anchor="t">
            <a:spAutoFit/>
          </a:bodyPr>
          <a:lstStyle/>
          <a:p>
            <a:pPr algn="l">
              <a:lnSpc>
                <a:spcPct val="120000"/>
              </a:lnSpc>
              <a:spcAft>
                <a:spcPts val="0"/>
              </a:spcAft>
            </a:pPr>
            <a:r>
              <a:rPr sz="950" b="0">
                <a:solidFill>
                  <a:srgbClr val="4A5566"/>
                </a:solidFill>
                <a:latin typeface="맑은 고딕"/>
                <a:ea typeface="맑은 고딕"/>
                <a:cs typeface="맑은 고딕"/>
              </a:rPr>
              <a:t>공정관리</a:t>
            </a:r>
          </a:p>
        </p:txBody>
      </p:sp>
      <p:sp>
        <p:nvSpPr>
          <p:cNvPr id="31" name="TextBox 30"/>
          <p:cNvSpPr txBox="1"/>
          <p:nvPr/>
        </p:nvSpPr>
        <p:spPr>
          <a:xfrm>
            <a:off x="7561905" y="3127248"/>
            <a:ext cx="105156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연계 모듈</a:t>
            </a:r>
          </a:p>
        </p:txBody>
      </p:sp>
      <p:sp>
        <p:nvSpPr>
          <p:cNvPr id="32" name="TextBox 31"/>
          <p:cNvSpPr txBox="1"/>
          <p:nvPr/>
        </p:nvSpPr>
        <p:spPr>
          <a:xfrm>
            <a:off x="8659185" y="3127248"/>
            <a:ext cx="2974726" cy="329184"/>
          </a:xfrm>
          <a:prstGeom prst="rect">
            <a:avLst/>
          </a:prstGeom>
          <a:noFill/>
        </p:spPr>
        <p:txBody>
          <a:bodyPr wrap="square" lIns="0" rIns="0" tIns="0" bIns="0" anchor="t">
            <a:spAutoFit/>
          </a:bodyPr>
          <a:lstStyle/>
          <a:p>
            <a:pPr algn="l">
              <a:lnSpc>
                <a:spcPct val="120000"/>
              </a:lnSpc>
              <a:spcAft>
                <a:spcPts val="0"/>
              </a:spcAft>
            </a:pPr>
            <a:r>
              <a:rPr sz="950" b="0">
                <a:solidFill>
                  <a:srgbClr val="4A5566"/>
                </a:solidFill>
                <a:latin typeface="맑은 고딕"/>
                <a:ea typeface="맑은 고딕"/>
                <a:cs typeface="맑은 고딕"/>
              </a:rPr>
              <a:t>공정관리(신규 기능) · 기준정보관리 · 사용자/시스템관리 · AI Agent 통합관리</a:t>
            </a:r>
          </a:p>
        </p:txBody>
      </p:sp>
      <p:sp>
        <p:nvSpPr>
          <p:cNvPr id="33" name="TextBox 32"/>
          <p:cNvSpPr txBox="1"/>
          <p:nvPr/>
        </p:nvSpPr>
        <p:spPr>
          <a:xfrm>
            <a:off x="7561905" y="3493008"/>
            <a:ext cx="105156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담당자</a:t>
            </a:r>
          </a:p>
        </p:txBody>
      </p:sp>
      <p:sp>
        <p:nvSpPr>
          <p:cNvPr id="34" name="TextBox 33"/>
          <p:cNvSpPr txBox="1"/>
          <p:nvPr/>
        </p:nvSpPr>
        <p:spPr>
          <a:xfrm>
            <a:off x="8659185" y="3493008"/>
            <a:ext cx="2974726" cy="329184"/>
          </a:xfrm>
          <a:prstGeom prst="rect">
            <a:avLst/>
          </a:prstGeom>
          <a:noFill/>
        </p:spPr>
        <p:txBody>
          <a:bodyPr wrap="square" lIns="0" rIns="0" tIns="0" bIns="0" anchor="t">
            <a:spAutoFit/>
          </a:bodyPr>
          <a:lstStyle/>
          <a:p>
            <a:pPr algn="l">
              <a:lnSpc>
                <a:spcPct val="120000"/>
              </a:lnSpc>
              <a:spcAft>
                <a:spcPts val="0"/>
              </a:spcAft>
            </a:pPr>
            <a:r>
              <a:rPr sz="950" b="0">
                <a:solidFill>
                  <a:srgbClr val="4A5566"/>
                </a:solidFill>
                <a:latin typeface="맑은 고딕"/>
                <a:ea typeface="맑은 고딕"/>
                <a:cs typeface="맑은 고딕"/>
              </a:rPr>
              <a:t>미확인 — 담당자 확인 필요    (서명)</a:t>
            </a:r>
          </a:p>
        </p:txBody>
      </p:sp>
      <p:sp>
        <p:nvSpPr>
          <p:cNvPr id="35" name="Rectangle 34"/>
          <p:cNvSpPr/>
          <p:nvPr/>
        </p:nvSpPr>
        <p:spPr>
          <a:xfrm>
            <a:off x="7415601" y="4160520"/>
            <a:ext cx="4364614" cy="1444752"/>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415601" y="4160520"/>
            <a:ext cx="4364614"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15601" y="4160520"/>
            <a:ext cx="45720" cy="1444752"/>
          </a:xfrm>
          <a:prstGeom prst="rect">
            <a:avLst/>
          </a:prstGeom>
          <a:solidFill>
            <a:srgbClr val="7A85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43617" y="4210812"/>
            <a:ext cx="4108582"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비고</a:t>
            </a:r>
          </a:p>
        </p:txBody>
      </p:sp>
      <p:sp>
        <p:nvSpPr>
          <p:cNvPr id="39" name="TextBox 38"/>
          <p:cNvSpPr txBox="1"/>
          <p:nvPr/>
        </p:nvSpPr>
        <p:spPr>
          <a:xfrm>
            <a:off x="7561905" y="4544568"/>
            <a:ext cx="4072006" cy="914400"/>
          </a:xfrm>
          <a:prstGeom prst="rect">
            <a:avLst/>
          </a:prstGeom>
          <a:noFill/>
        </p:spPr>
        <p:txBody>
          <a:bodyPr wrap="square" lIns="0" rIns="0" tIns="0" bIns="0" anchor="t">
            <a:spAutoFit/>
          </a:bodyPr>
          <a:lstStyle/>
          <a:p>
            <a:pPr algn="l">
              <a:lnSpc>
                <a:spcPct val="128000"/>
              </a:lnSpc>
              <a:spcAft>
                <a:spcPts val="0"/>
              </a:spcAft>
            </a:pPr>
            <a:r>
              <a:rPr sz="900" b="0">
                <a:solidFill>
                  <a:srgbClr val="4A5566"/>
                </a:solidFill>
                <a:latin typeface="맑은 고딕"/>
                <a:ea typeface="맑은 고딕"/>
                <a:cs typeface="맑은 고딕"/>
              </a:rPr>
              <a:t>킥오프 신규 요구사항 REQ-02. '오늘 무엇을 얼마나 생산하는지'를 지시하는 기능이 기존 설계에 없어(작업조건관리 MES-AD2-021은 공정 조건 기준만 다룸) 공정관리 모듈에 신규 기능으로 세운다 → 기능대비표 구분 '추가'. 연계 모듈: 공정관리(신규)·기준정보관리·사용자/시스템관리·AI Agent 통합관리. 3건 중 영향도가 가장 크며 FP 11점(단위프로세스 3건)은 산정(안)이다 — 신규 FP 산정 및 추가 계약 범위 협의가 필요하다.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2. 작업지시관리</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개선업무 (AS-IS → TO-BE)</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킥오프 회의 논의</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932688"/>
            <a:ext cx="5592927" cy="1287271"/>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932688"/>
            <a:ext cx="5592927"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932688"/>
            <a:ext cx="45720" cy="1287271"/>
          </a:xfrm>
          <a:prstGeom prst="rect">
            <a:avLst/>
          </a:prstGeom>
          <a:solidFill>
            <a:srgbClr val="7A85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9496" y="982980"/>
            <a:ext cx="5336895"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AS-IS · 현재</a:t>
            </a:r>
          </a:p>
        </p:txBody>
      </p:sp>
      <p:sp>
        <p:nvSpPr>
          <p:cNvPr id="12" name="TextBox 11"/>
          <p:cNvSpPr txBox="1"/>
          <p:nvPr/>
        </p:nvSpPr>
        <p:spPr>
          <a:xfrm>
            <a:off x="557784" y="1316736"/>
            <a:ext cx="5300319" cy="756919"/>
          </a:xfrm>
          <a:prstGeom prst="rect">
            <a:avLst/>
          </a:prstGeom>
          <a:noFill/>
        </p:spPr>
        <p:txBody>
          <a:bodyPr wrap="square" lIns="0" rIns="0" tIns="0" bIns="0" anchor="t">
            <a:spAutoFit/>
          </a:bodyPr>
          <a:lstStyle/>
          <a:p>
            <a:pPr algn="l">
              <a:lnSpc>
                <a:spcPct val="124000"/>
              </a:lnSpc>
              <a:spcAft>
                <a:spcPts val="500"/>
              </a:spcAft>
            </a:pPr>
            <a:r>
              <a:rPr sz="1000" b="0">
                <a:solidFill>
                  <a:srgbClr val="4A5566"/>
                </a:solidFill>
                <a:latin typeface="맑은 고딕"/>
                <a:ea typeface="맑은 고딕"/>
                <a:cs typeface="맑은 고딕"/>
              </a:rPr>
              <a:t>·  작업지시가 시스템화되어 있지 않고, 현장에서 구두·수기 문서로 전달되는 것으로 추정된다(확인 필요).</a:t>
            </a:r>
          </a:p>
          <a:p>
            <a:pPr algn="l">
              <a:lnSpc>
                <a:spcPct val="124000"/>
              </a:lnSpc>
              <a:spcAft>
                <a:spcPts val="500"/>
              </a:spcAft>
            </a:pPr>
            <a:r>
              <a:rPr sz="1000" b="0">
                <a:solidFill>
                  <a:srgbClr val="4A5566"/>
                </a:solidFill>
                <a:latin typeface="맑은 고딕"/>
                <a:ea typeface="맑은 고딕"/>
                <a:cs typeface="맑은 고딕"/>
              </a:rPr>
              <a:t>·  작업조건관리(MES-AD2-021)는 '공정 조건 기준'을 다루지만, '오늘 무엇을 얼마나 생산하는지'를 지시하는 기능은 없다.</a:t>
            </a:r>
          </a:p>
        </p:txBody>
      </p:sp>
      <p:sp>
        <p:nvSpPr>
          <p:cNvPr id="13" name="Rectangle 12"/>
          <p:cNvSpPr/>
          <p:nvPr/>
        </p:nvSpPr>
        <p:spPr>
          <a:xfrm>
            <a:off x="6187287" y="932688"/>
            <a:ext cx="5592927" cy="1287271"/>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87287" y="932688"/>
            <a:ext cx="5592927"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7287" y="932688"/>
            <a:ext cx="45720" cy="1287271"/>
          </a:xfrm>
          <a:prstGeom prst="rect">
            <a:avLst/>
          </a:prstGeom>
          <a:solidFill>
            <a:srgbClr val="4E8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15303" y="982980"/>
            <a:ext cx="5336895"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TO-BE · 개선 후</a:t>
            </a:r>
          </a:p>
        </p:txBody>
      </p:sp>
      <p:sp>
        <p:nvSpPr>
          <p:cNvPr id="17" name="TextBox 16"/>
          <p:cNvSpPr txBox="1"/>
          <p:nvPr/>
        </p:nvSpPr>
        <p:spPr>
          <a:xfrm>
            <a:off x="6333591" y="1316736"/>
            <a:ext cx="5300319" cy="756919"/>
          </a:xfrm>
          <a:prstGeom prst="rect">
            <a:avLst/>
          </a:prstGeom>
          <a:noFill/>
        </p:spPr>
        <p:txBody>
          <a:bodyPr wrap="square" lIns="0" rIns="0" tIns="0" bIns="0" anchor="t">
            <a:spAutoFit/>
          </a:bodyPr>
          <a:lstStyle/>
          <a:p>
            <a:pPr algn="l">
              <a:lnSpc>
                <a:spcPct val="124000"/>
              </a:lnSpc>
              <a:spcAft>
                <a:spcPts val="500"/>
              </a:spcAft>
            </a:pPr>
            <a:r>
              <a:rPr sz="1000" b="0">
                <a:solidFill>
                  <a:srgbClr val="4A5566"/>
                </a:solidFill>
                <a:latin typeface="맑은 고딕"/>
                <a:ea typeface="맑은 고딕"/>
                <a:cs typeface="맑은 고딕"/>
              </a:rPr>
              <a:t>·  공정관리 모듈에 '작업지시관리' 기능을 신설한다.</a:t>
            </a:r>
          </a:p>
          <a:p>
            <a:pPr algn="l">
              <a:lnSpc>
                <a:spcPct val="124000"/>
              </a:lnSpc>
              <a:spcAft>
                <a:spcPts val="500"/>
              </a:spcAft>
            </a:pPr>
            <a:r>
              <a:rPr sz="1000" b="0">
                <a:solidFill>
                  <a:srgbClr val="4A5566"/>
                </a:solidFill>
                <a:latin typeface="맑은 고딕"/>
                <a:ea typeface="맑은 고딕"/>
                <a:cs typeface="맑은 고딕"/>
              </a:rPr>
              <a:t>·  매일 생성되는 작업지시서를 역할(공정)별로 구분해 현장 화면에 자동 게시한다.</a:t>
            </a:r>
          </a:p>
          <a:p>
            <a:pPr algn="l">
              <a:lnSpc>
                <a:spcPct val="124000"/>
              </a:lnSpc>
              <a:spcAft>
                <a:spcPts val="500"/>
              </a:spcAft>
            </a:pPr>
            <a:r>
              <a:rPr sz="1000" b="0">
                <a:solidFill>
                  <a:srgbClr val="4A5566"/>
                </a:solidFill>
                <a:latin typeface="맑은 고딕"/>
                <a:ea typeface="맑은 고딕"/>
                <a:cs typeface="맑은 고딕"/>
              </a:rPr>
              <a:t>·  담당자는 로그인한 화면에서 본인 담당 공정의 작업지시만 확인한다.</a:t>
            </a:r>
          </a:p>
        </p:txBody>
      </p:sp>
      <p:sp>
        <p:nvSpPr>
          <p:cNvPr id="18" name="Rectangle 17"/>
          <p:cNvSpPr/>
          <p:nvPr/>
        </p:nvSpPr>
        <p:spPr>
          <a:xfrm>
            <a:off x="5885535" y="1448307"/>
            <a:ext cx="237744" cy="256032"/>
          </a:xfrm>
          <a:prstGeom prst="rect">
            <a:avLst/>
          </a:prstGeom>
          <a:solidFill>
            <a:srgbClr val="2F6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85535" y="1484883"/>
            <a:ext cx="237744" cy="182880"/>
          </a:xfrm>
          <a:prstGeom prst="rect">
            <a:avLst/>
          </a:prstGeom>
          <a:noFill/>
        </p:spPr>
        <p:txBody>
          <a:bodyPr wrap="square" lIns="0" rIns="0" tIns="0" bIns="0" anchor="t">
            <a:spAutoFit/>
          </a:bodyPr>
          <a:lstStyle/>
          <a:p>
            <a:pPr algn="ctr">
              <a:spcAft>
                <a:spcPts val="0"/>
              </a:spcAft>
            </a:pPr>
            <a:r>
              <a:rPr sz="1100" b="1">
                <a:solidFill>
                  <a:srgbClr val="FFFFFF"/>
                </a:solidFill>
                <a:latin typeface="맑은 고딕"/>
                <a:ea typeface="맑은 고딕"/>
                <a:cs typeface="맑은 고딕"/>
              </a:rPr>
              <a:t>▶</a:t>
            </a:r>
          </a:p>
        </p:txBody>
      </p:sp>
      <p:sp>
        <p:nvSpPr>
          <p:cNvPr id="20" name="Rectangle 19"/>
          <p:cNvSpPr/>
          <p:nvPr/>
        </p:nvSpPr>
        <p:spPr>
          <a:xfrm>
            <a:off x="411480" y="2421128"/>
            <a:ext cx="11368735" cy="1611122"/>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 y="2421128"/>
            <a:ext cx="11368735"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2421128"/>
            <a:ext cx="45720" cy="161112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9496" y="2471420"/>
            <a:ext cx="11112703"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설계로 풀어낸 방식</a:t>
            </a:r>
          </a:p>
        </p:txBody>
      </p:sp>
      <p:sp>
        <p:nvSpPr>
          <p:cNvPr id="24" name="TextBox 23"/>
          <p:cNvSpPr txBox="1"/>
          <p:nvPr/>
        </p:nvSpPr>
        <p:spPr>
          <a:xfrm>
            <a:off x="557784" y="2805176"/>
            <a:ext cx="11076127" cy="1080770"/>
          </a:xfrm>
          <a:prstGeom prst="rect">
            <a:avLst/>
          </a:prstGeom>
          <a:noFill/>
        </p:spPr>
        <p:txBody>
          <a:bodyPr wrap="square" lIns="0" rIns="0" tIns="0" bIns="0" anchor="t">
            <a:spAutoFit/>
          </a:bodyPr>
          <a:lstStyle/>
          <a:p>
            <a:pPr algn="l">
              <a:lnSpc>
                <a:spcPct val="124000"/>
              </a:lnSpc>
              <a:spcAft>
                <a:spcPts val="500"/>
              </a:spcAft>
            </a:pPr>
            <a:r>
              <a:rPr sz="1050" b="0">
                <a:solidFill>
                  <a:srgbClr val="4A5566"/>
                </a:solidFill>
                <a:latin typeface="맑은 고딕"/>
                <a:ea typeface="맑은 고딕"/>
                <a:cs typeface="맑은 고딕"/>
              </a:rPr>
              <a:t>·  '역할별로 보여준다'를 데이터 구조로 풀었다 — 지시 헤더(PRC_WORK_ORDERS)와 공정별 지시(PRC_WORK_ORDER_TASKS)를 나누고, 후자의 PROCESS_ID가 BAS_PROCESSES의 8개 공정을, ASSIGNEE_ID가 SYS_USERS를 가리킨다. 즉 역할 = 공정이다.</a:t>
            </a:r>
          </a:p>
          <a:p>
            <a:pPr algn="l">
              <a:lnSpc>
                <a:spcPct val="124000"/>
              </a:lnSpc>
              <a:spcAft>
                <a:spcPts val="500"/>
              </a:spcAft>
            </a:pPr>
            <a:r>
              <a:rPr sz="1050" b="0">
                <a:solidFill>
                  <a:srgbClr val="4A5566"/>
                </a:solidFill>
                <a:latin typeface="맑은 고딕"/>
                <a:ea typeface="맑은 고딕"/>
                <a:cs typeface="맑은 고딕"/>
              </a:rPr>
              <a:t>·  담당자가 배정되지 않은 지시는 그 공정 담당 전원에게 게시된다(ASSIGNEE_ID NULL 허용).</a:t>
            </a:r>
          </a:p>
          <a:p>
            <a:pPr algn="l">
              <a:lnSpc>
                <a:spcPct val="124000"/>
              </a:lnSpc>
              <a:spcAft>
                <a:spcPts val="500"/>
              </a:spcAft>
            </a:pPr>
            <a:r>
              <a:rPr sz="1050" b="0">
                <a:solidFill>
                  <a:srgbClr val="4A5566"/>
                </a:solidFill>
                <a:latin typeface="맑은 고딕"/>
                <a:ea typeface="맑은 고딕"/>
                <a:cs typeface="맑은 고딕"/>
              </a:rPr>
              <a:t>·  생성 방식은 헤더의 CREATE_TYPE(수동/ERP연계)이 가른다 — 1단계는 수동 입력, ERP 생산계획 연계 자동 생성은 ERP 연계 방식(MES-AD2-059) 확정 후 2단계로 켠다.</a:t>
            </a:r>
          </a:p>
          <a:p>
            <a:pPr algn="l">
              <a:lnSpc>
                <a:spcPct val="124000"/>
              </a:lnSpc>
              <a:spcAft>
                <a:spcPts val="500"/>
              </a:spcAft>
            </a:pPr>
            <a:r>
              <a:rPr sz="1050" b="0">
                <a:solidFill>
                  <a:srgbClr val="4A5566"/>
                </a:solidFill>
                <a:latin typeface="맑은 고딕"/>
                <a:ea typeface="맑은 고딕"/>
                <a:cs typeface="맑은 고딕"/>
              </a:rPr>
              <a:t>·  지시에 실을 배합비율은 BLEND_REC_ID로 ANL_BLEND_RECOMMENDATIONS를, 작업조건 기준은 BAS_WORK_STANDARDS·PRC_WORK_CONDITIONS를 참조한다.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2. 작업지시관리</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화면 · 프로그램</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SF-TD3 화면설계서 / SF-TD4</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932688"/>
            <a:ext cx="6991772" cy="3401568"/>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d3-MES-TD3-044.png"/>
          <p:cNvPicPr>
            <a:picLocks noChangeAspect="1"/>
          </p:cNvPicPr>
          <p:nvPr/>
        </p:nvPicPr>
        <p:blipFill>
          <a:blip r:embed="rId2"/>
          <a:stretch>
            <a:fillRect/>
          </a:stretch>
        </p:blipFill>
        <p:spPr>
          <a:xfrm>
            <a:off x="990545" y="987552"/>
            <a:ext cx="5833640" cy="3291840"/>
          </a:xfrm>
          <a:prstGeom prst="rect">
            <a:avLst/>
          </a:prstGeom>
        </p:spPr>
      </p:pic>
      <p:sp>
        <p:nvSpPr>
          <p:cNvPr id="10" name="TextBox 9"/>
          <p:cNvSpPr txBox="1"/>
          <p:nvPr/>
        </p:nvSpPr>
        <p:spPr>
          <a:xfrm>
            <a:off x="411480" y="4389120"/>
            <a:ext cx="6991772" cy="219456"/>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MES-TD3-044 작업지시관리 화면 목업 — 설계 기준 와이어프레임이며 그리드·차트 수치는 예시값이다</a:t>
            </a:r>
          </a:p>
        </p:txBody>
      </p:sp>
      <p:sp>
        <p:nvSpPr>
          <p:cNvPr id="11" name="Rectangle 10"/>
          <p:cNvSpPr/>
          <p:nvPr/>
        </p:nvSpPr>
        <p:spPr>
          <a:xfrm>
            <a:off x="7586132" y="932688"/>
            <a:ext cx="4194083" cy="2103120"/>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586132" y="932688"/>
            <a:ext cx="4194083"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6132" y="932688"/>
            <a:ext cx="45720" cy="21031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14148" y="982980"/>
            <a:ext cx="3938051"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화면 정보</a:t>
            </a:r>
          </a:p>
        </p:txBody>
      </p:sp>
      <p:sp>
        <p:nvSpPr>
          <p:cNvPr id="15" name="TextBox 14"/>
          <p:cNvSpPr txBox="1"/>
          <p:nvPr/>
        </p:nvSpPr>
        <p:spPr>
          <a:xfrm>
            <a:off x="7732436" y="1316736"/>
            <a:ext cx="86868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화면ID</a:t>
            </a:r>
          </a:p>
        </p:txBody>
      </p:sp>
      <p:sp>
        <p:nvSpPr>
          <p:cNvPr id="16" name="TextBox 15"/>
          <p:cNvSpPr txBox="1"/>
          <p:nvPr/>
        </p:nvSpPr>
        <p:spPr>
          <a:xfrm>
            <a:off x="8646836" y="1316736"/>
            <a:ext cx="2987075" cy="530352"/>
          </a:xfrm>
          <a:prstGeom prst="rect">
            <a:avLst/>
          </a:prstGeom>
          <a:noFill/>
        </p:spPr>
        <p:txBody>
          <a:bodyPr wrap="square" lIns="0" rIns="0" tIns="0" bIns="0" anchor="t">
            <a:spAutoFit/>
          </a:bodyPr>
          <a:lstStyle/>
          <a:p>
            <a:pPr algn="l">
              <a:lnSpc>
                <a:spcPct val="122000"/>
              </a:lnSpc>
              <a:spcAft>
                <a:spcPts val="0"/>
              </a:spcAft>
            </a:pPr>
            <a:r>
              <a:rPr sz="950" b="1">
                <a:solidFill>
                  <a:srgbClr val="1F3864"/>
                </a:solidFill>
                <a:latin typeface="맑은 고딕"/>
                <a:ea typeface="맑은 고딕"/>
                <a:cs typeface="맑은 고딕"/>
              </a:rPr>
              <a:t>MES-TD3-044</a:t>
            </a:r>
          </a:p>
        </p:txBody>
      </p:sp>
      <p:sp>
        <p:nvSpPr>
          <p:cNvPr id="17" name="TextBox 16"/>
          <p:cNvSpPr txBox="1"/>
          <p:nvPr/>
        </p:nvSpPr>
        <p:spPr>
          <a:xfrm>
            <a:off x="7732436" y="1883664"/>
            <a:ext cx="86868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화면 경로</a:t>
            </a:r>
          </a:p>
        </p:txBody>
      </p:sp>
      <p:sp>
        <p:nvSpPr>
          <p:cNvPr id="18" name="TextBox 17"/>
          <p:cNvSpPr txBox="1"/>
          <p:nvPr/>
        </p:nvSpPr>
        <p:spPr>
          <a:xfrm>
            <a:off x="8646836" y="1883664"/>
            <a:ext cx="2987075" cy="530352"/>
          </a:xfrm>
          <a:prstGeom prst="rect">
            <a:avLst/>
          </a:prstGeom>
          <a:noFill/>
        </p:spPr>
        <p:txBody>
          <a:bodyPr wrap="square" lIns="0" rIns="0" tIns="0" bIns="0" anchor="t">
            <a:spAutoFit/>
          </a:bodyPr>
          <a:lstStyle/>
          <a:p>
            <a:pPr algn="l">
              <a:lnSpc>
                <a:spcPct val="122000"/>
              </a:lnSpc>
              <a:spcAft>
                <a:spcPts val="0"/>
              </a:spcAft>
            </a:pPr>
            <a:r>
              <a:rPr sz="950" b="0">
                <a:solidFill>
                  <a:srgbClr val="4A5566"/>
                </a:solidFill>
                <a:latin typeface="맑은 고딕"/>
                <a:ea typeface="맑은 고딕"/>
                <a:cs typeface="맑은 고딕"/>
              </a:rPr>
              <a:t>로그인 &gt; 공정관리 &gt; 작업지시관리</a:t>
            </a:r>
          </a:p>
        </p:txBody>
      </p:sp>
      <p:sp>
        <p:nvSpPr>
          <p:cNvPr id="19" name="TextBox 18"/>
          <p:cNvSpPr txBox="1"/>
          <p:nvPr/>
        </p:nvSpPr>
        <p:spPr>
          <a:xfrm>
            <a:off x="7732436" y="2450591"/>
            <a:ext cx="86868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적용 채널</a:t>
            </a:r>
          </a:p>
        </p:txBody>
      </p:sp>
      <p:sp>
        <p:nvSpPr>
          <p:cNvPr id="20" name="TextBox 19"/>
          <p:cNvSpPr txBox="1"/>
          <p:nvPr/>
        </p:nvSpPr>
        <p:spPr>
          <a:xfrm>
            <a:off x="8646836" y="2450591"/>
            <a:ext cx="2987075" cy="530352"/>
          </a:xfrm>
          <a:prstGeom prst="rect">
            <a:avLst/>
          </a:prstGeom>
          <a:noFill/>
        </p:spPr>
        <p:txBody>
          <a:bodyPr wrap="square" lIns="0" rIns="0" tIns="0" bIns="0" anchor="t">
            <a:spAutoFit/>
          </a:bodyPr>
          <a:lstStyle/>
          <a:p>
            <a:pPr algn="l">
              <a:lnSpc>
                <a:spcPct val="122000"/>
              </a:lnSpc>
              <a:spcAft>
                <a:spcPts val="0"/>
              </a:spcAft>
            </a:pPr>
            <a:r>
              <a:rPr sz="950" b="0">
                <a:solidFill>
                  <a:srgbClr val="4A5566"/>
                </a:solidFill>
                <a:latin typeface="맑은 고딕"/>
                <a:ea typeface="맑은 고딕"/>
                <a:cs typeface="맑은 고딕"/>
              </a:rPr>
              <a:t>17" Panel PC(현장 공정별 게시), 관리자 Web, Smart Pad / 작업지시·공정 담당 데이터</a:t>
            </a:r>
          </a:p>
        </p:txBody>
      </p:sp>
      <p:sp>
        <p:nvSpPr>
          <p:cNvPr id="21" name="Rectangle 20"/>
          <p:cNvSpPr/>
          <p:nvPr/>
        </p:nvSpPr>
        <p:spPr>
          <a:xfrm>
            <a:off x="7586132" y="3218688"/>
            <a:ext cx="4194083" cy="3255264"/>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86132" y="3218688"/>
            <a:ext cx="4194083"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86132" y="3218688"/>
            <a:ext cx="45720" cy="3255264"/>
          </a:xfrm>
          <a:prstGeom prst="rect">
            <a:avLst/>
          </a:prstGeom>
          <a:solidFill>
            <a:srgbClr val="2F6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14148" y="3268980"/>
            <a:ext cx="3938051"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프로그램 MES-TD4-048</a:t>
            </a:r>
          </a:p>
        </p:txBody>
      </p:sp>
      <p:sp>
        <p:nvSpPr>
          <p:cNvPr id="25" name="TextBox 24"/>
          <p:cNvSpPr txBox="1"/>
          <p:nvPr/>
        </p:nvSpPr>
        <p:spPr>
          <a:xfrm>
            <a:off x="7732436" y="3602736"/>
            <a:ext cx="3901475" cy="182880"/>
          </a:xfrm>
          <a:prstGeom prst="rect">
            <a:avLst/>
          </a:prstGeom>
          <a:noFill/>
        </p:spPr>
        <p:txBody>
          <a:bodyPr wrap="square" lIns="0" rIns="0" tIns="0" bIns="0" anchor="t">
            <a:spAutoFit/>
          </a:bodyPr>
          <a:lstStyle/>
          <a:p>
            <a:pPr algn="l">
              <a:spcAft>
                <a:spcPts val="0"/>
              </a:spcAft>
            </a:pPr>
            <a:r>
              <a:rPr sz="950" b="1">
                <a:solidFill>
                  <a:srgbClr val="162848"/>
                </a:solidFill>
                <a:latin typeface="맑은 고딕"/>
                <a:ea typeface="맑은 고딕"/>
                <a:cs typeface="맑은 고딕"/>
              </a:rPr>
              <a:t>처리 흐름</a:t>
            </a:r>
          </a:p>
        </p:txBody>
      </p:sp>
      <p:sp>
        <p:nvSpPr>
          <p:cNvPr id="26" name="TextBox 25"/>
          <p:cNvSpPr txBox="1"/>
          <p:nvPr/>
        </p:nvSpPr>
        <p:spPr>
          <a:xfrm>
            <a:off x="7732436" y="3840480"/>
            <a:ext cx="3901475" cy="2468880"/>
          </a:xfrm>
          <a:prstGeom prst="rect">
            <a:avLst/>
          </a:prstGeom>
          <a:noFill/>
        </p:spPr>
        <p:txBody>
          <a:bodyPr wrap="square" lIns="0" rIns="0" tIns="0" bIns="0" anchor="t">
            <a:spAutoFit/>
          </a:bodyPr>
          <a:lstStyle/>
          <a:p>
            <a:pPr algn="l">
              <a:lnSpc>
                <a:spcPct val="126000"/>
              </a:lnSpc>
              <a:spcAft>
                <a:spcPts val="0"/>
              </a:spcAft>
            </a:pPr>
            <a:r>
              <a:rPr sz="900" b="0">
                <a:solidFill>
                  <a:srgbClr val="4A5566"/>
                </a:solidFill>
                <a:latin typeface="맑은 고딕"/>
                <a:ea typeface="맑은 고딕"/>
                <a:cs typeface="맑은 고딕"/>
              </a:rPr>
              <a:t>관리자 Web(등록)·현장 Panel PC(게시) → 작업지시 API → 필수값 검증(품목·목표 수량·담당 공정) → PRC_WORK_ORDERS 저장 → 공정별 PRC_WORK_ORDER_TASKS 분해 → 로그인 사용자의 담당 공정으로 필터 조회 → 진행상태 갱신 → Data Hub 적재</a:t>
            </a:r>
          </a:p>
        </p:txBody>
      </p:sp>
      <p:sp>
        <p:nvSpPr>
          <p:cNvPr id="27" name="Rectangle 26"/>
          <p:cNvSpPr/>
          <p:nvPr/>
        </p:nvSpPr>
        <p:spPr>
          <a:xfrm>
            <a:off x="411480" y="4681727"/>
            <a:ext cx="6991772" cy="1234440"/>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 y="4681727"/>
            <a:ext cx="6991772"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4681727"/>
            <a:ext cx="45720" cy="1234440"/>
          </a:xfrm>
          <a:prstGeom prst="rect">
            <a:avLst/>
          </a:prstGeom>
          <a:solidFill>
            <a:srgbClr val="4E8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9496" y="4732019"/>
            <a:ext cx="6735740"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화면 구성 · 처리 절차</a:t>
            </a:r>
          </a:p>
        </p:txBody>
      </p:sp>
      <p:sp>
        <p:nvSpPr>
          <p:cNvPr id="31" name="TextBox 30"/>
          <p:cNvSpPr txBox="1"/>
          <p:nvPr/>
        </p:nvSpPr>
        <p:spPr>
          <a:xfrm>
            <a:off x="557784" y="5065775"/>
            <a:ext cx="6699164" cy="704088"/>
          </a:xfrm>
          <a:prstGeom prst="rect">
            <a:avLst/>
          </a:prstGeom>
          <a:noFill/>
        </p:spPr>
        <p:txBody>
          <a:bodyPr wrap="square" lIns="0" rIns="0" tIns="0" bIns="0" anchor="t">
            <a:spAutoFit/>
          </a:bodyPr>
          <a:lstStyle/>
          <a:p>
            <a:pPr algn="l">
              <a:lnSpc>
                <a:spcPct val="126000"/>
              </a:lnSpc>
              <a:spcAft>
                <a:spcPts val="500"/>
              </a:spcAft>
            </a:pPr>
            <a:r>
              <a:rPr sz="900" b="0">
                <a:solidFill>
                  <a:srgbClr val="4A5566"/>
                </a:solidFill>
                <a:latin typeface="맑은 고딕"/>
                <a:ea typeface="맑은 고딕"/>
                <a:cs typeface="맑은 고딕"/>
              </a:rPr>
              <a:t>&lt;기존화면&gt; 없음 — 작업지시가 구두·수기 문서로 전달됨 &lt;신규화면&gt; 상단 조회조건(지시일자·공정·상태), 중앙 작업지시 목록 그리드, 우측 설명 패널로 신규 구성. 현장 Panel PC는 로그인 사용자의 담당 공정만 필터해 게시</a:t>
            </a:r>
          </a:p>
          <a:p>
            <a:pPr algn="l">
              <a:lnSpc>
                <a:spcPct val="126000"/>
              </a:lnSpc>
              <a:spcAft>
                <a:spcPts val="500"/>
              </a:spcAft>
            </a:pPr>
            <a:r>
              <a:rPr sz="900" b="0">
                <a:solidFill>
                  <a:srgbClr val="4A5566"/>
                </a:solidFill>
                <a:latin typeface="맑은 고딕"/>
                <a:ea typeface="맑은 고딕"/>
                <a:cs typeface="맑은 고딕"/>
              </a:rPr>
              <a:t>프로세스경로: 작업지시 등록(수동 입력) → 생산 품목·목표 수량·배합비율·작업조건 기준 지정 → 8개 공정별 담당 배정 → 게시 → 담당자 화면에 본인 공정 지시만 표시 → 진행상태 갱신</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2. 작업지시관리</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필요데이터 — 테이블 목록</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SF-TD5 데이터베이스설계서</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411480" y="932688"/>
          <a:ext cx="11375136" cy="2169414"/>
        </p:xfrm>
        <a:graphic>
          <a:graphicData uri="http://schemas.openxmlformats.org/drawingml/2006/table">
            <a:tbl>
              <a:tblPr firstRow="1" bandRow="1">
                <a:tableStyleId>{5C22544A-7EE6-4342-B048-85BDC9FD1C3A}</a:tableStyleId>
              </a:tblPr>
              <a:tblGrid>
                <a:gridCol w="2651760"/>
                <a:gridCol w="1920240"/>
                <a:gridCol w="1737360"/>
                <a:gridCol w="777240"/>
                <a:gridCol w="731520"/>
                <a:gridCol w="3557016"/>
              </a:tblGrid>
              <a:tr h="310896">
                <a:tc>
                  <a:txBody>
                    <a:bodyPr wrap="square"/>
                    <a:lstStyle/>
                    <a:p>
                      <a:pPr algn="l"/>
                      <a:r>
                        <a:rPr sz="1050" b="1">
                          <a:solidFill>
                            <a:srgbClr val="1F3864"/>
                          </a:solidFill>
                          <a:latin typeface="맑은 고딕"/>
                          <a:ea typeface="맑은 고딕"/>
                          <a:cs typeface="맑은 고딕"/>
                        </a:rPr>
                        <a:t>테이블명</a:t>
                      </a:r>
                    </a:p>
                  </a:txBody>
                  <a:tcPr marL="54864" marR="54864" marT="18288" marB="18288" anchor="ctr">
                    <a:solidFill>
                      <a:srgbClr val="F2F5FA"/>
                    </a:solidFill>
                  </a:tcPr>
                </a:tc>
                <a:tc>
                  <a:txBody>
                    <a:bodyPr wrap="square"/>
                    <a:lstStyle/>
                    <a:p>
                      <a:pPr algn="l"/>
                      <a:r>
                        <a:rPr sz="1050" b="1">
                          <a:solidFill>
                            <a:srgbClr val="1F3864"/>
                          </a:solidFill>
                          <a:latin typeface="맑은 고딕"/>
                          <a:ea typeface="맑은 고딕"/>
                          <a:cs typeface="맑은 고딕"/>
                        </a:rPr>
                        <a:t>한글명</a:t>
                      </a:r>
                    </a:p>
                  </a:txBody>
                  <a:tcPr marL="54864" marR="54864" marT="18288" marB="18288" anchor="ctr">
                    <a:solidFill>
                      <a:srgbClr val="F2F5FA"/>
                    </a:solidFill>
                  </a:tcPr>
                </a:tc>
                <a:tc>
                  <a:txBody>
                    <a:bodyPr wrap="square"/>
                    <a:lstStyle/>
                    <a:p>
                      <a:pPr algn="l"/>
                      <a:r>
                        <a:rPr sz="1050" b="1">
                          <a:solidFill>
                            <a:srgbClr val="1F3864"/>
                          </a:solidFill>
                          <a:latin typeface="맑은 고딕"/>
                          <a:ea typeface="맑은 고딕"/>
                          <a:cs typeface="맑은 고딕"/>
                        </a:rPr>
                        <a:t>업무영역</a:t>
                      </a:r>
                    </a:p>
                  </a:txBody>
                  <a:tcPr marL="54864" marR="54864" marT="18288" marB="18288" anchor="ctr">
                    <a:solidFill>
                      <a:srgbClr val="F2F5FA"/>
                    </a:solidFill>
                  </a:tcPr>
                </a:tc>
                <a:tc>
                  <a:txBody>
                    <a:bodyPr wrap="square"/>
                    <a:lstStyle/>
                    <a:p>
                      <a:pPr algn="ctr"/>
                      <a:r>
                        <a:rPr sz="1050" b="1">
                          <a:solidFill>
                            <a:srgbClr val="1F3864"/>
                          </a:solidFill>
                          <a:latin typeface="맑은 고딕"/>
                          <a:ea typeface="맑은 고딕"/>
                          <a:cs typeface="맑은 고딕"/>
                        </a:rPr>
                        <a:t>구분</a:t>
                      </a:r>
                    </a:p>
                  </a:txBody>
                  <a:tcPr marL="54864" marR="54864" marT="18288" marB="18288" anchor="ctr">
                    <a:solidFill>
                      <a:srgbClr val="F2F5FA"/>
                    </a:solidFill>
                  </a:tcPr>
                </a:tc>
                <a:tc>
                  <a:txBody>
                    <a:bodyPr wrap="square"/>
                    <a:lstStyle/>
                    <a:p>
                      <a:pPr algn="ctr"/>
                      <a:r>
                        <a:rPr sz="1050" b="1">
                          <a:solidFill>
                            <a:srgbClr val="1F3864"/>
                          </a:solidFill>
                          <a:latin typeface="맑은 고딕"/>
                          <a:ea typeface="맑은 고딕"/>
                          <a:cs typeface="맑은 고딕"/>
                        </a:rPr>
                        <a:t>컬럼</a:t>
                      </a:r>
                    </a:p>
                  </a:txBody>
                  <a:tcPr marL="54864" marR="54864" marT="18288" marB="18288" anchor="ctr">
                    <a:solidFill>
                      <a:srgbClr val="F2F5FA"/>
                    </a:solidFill>
                  </a:tcPr>
                </a:tc>
                <a:tc>
                  <a:txBody>
                    <a:bodyPr wrap="square"/>
                    <a:lstStyle/>
                    <a:p>
                      <a:pPr algn="l"/>
                      <a:r>
                        <a:rPr sz="1050" b="1">
                          <a:solidFill>
                            <a:srgbClr val="1F3864"/>
                          </a:solidFill>
                          <a:latin typeface="맑은 고딕"/>
                          <a:ea typeface="맑은 고딕"/>
                          <a:cs typeface="맑은 고딕"/>
                        </a:rPr>
                        <a:t>비고</a:t>
                      </a:r>
                    </a:p>
                  </a:txBody>
                  <a:tcPr marL="54864" marR="54864" marT="18288" marB="18288" anchor="ctr">
                    <a:solidFill>
                      <a:srgbClr val="F2F5FA"/>
                    </a:solidFill>
                  </a:tcPr>
                </a:tc>
              </a:tr>
              <a:tr h="380619">
                <a:tc>
                  <a:txBody>
                    <a:bodyPr wrap="square"/>
                    <a:lstStyle/>
                    <a:p>
                      <a:pPr algn="l"/>
                      <a:r>
                        <a:rPr sz="950" b="1">
                          <a:solidFill>
                            <a:srgbClr val="1F3864"/>
                          </a:solidFill>
                          <a:latin typeface="맑은 고딕"/>
                          <a:ea typeface="맑은 고딕"/>
                          <a:cs typeface="맑은 고딕"/>
                        </a:rPr>
                        <a:t>PRC_WORK_ORDERS</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작업지시</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공정관리</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신규</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13</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킥오프 신규 요구사항 MES-AD2-064 근거 / 참조 프로그램 1건</a:t>
                      </a:r>
                    </a:p>
                  </a:txBody>
                  <a:tcPr marL="54864" marR="54864" marT="18288" marB="18288" anchor="ctr">
                    <a:solidFill>
                      <a:srgbClr val="FFFFFF"/>
                    </a:solidFill>
                  </a:tcPr>
                </a:tc>
              </a:tr>
              <a:tr h="380619">
                <a:tc>
                  <a:txBody>
                    <a:bodyPr wrap="square"/>
                    <a:lstStyle/>
                    <a:p>
                      <a:pPr algn="l"/>
                      <a:r>
                        <a:rPr sz="950" b="1">
                          <a:solidFill>
                            <a:srgbClr val="1F3864"/>
                          </a:solidFill>
                          <a:latin typeface="맑은 고딕"/>
                          <a:ea typeface="맑은 고딕"/>
                          <a:cs typeface="맑은 고딕"/>
                        </a:rPr>
                        <a:t>PRC_WORK_ORDER_TASKS</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작업지시공정별</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공정관리</a:t>
                      </a:r>
                    </a:p>
                  </a:txBody>
                  <a:tcPr marL="54864" marR="54864" marT="18288" marB="18288" anchor="ctr">
                    <a:solidFill>
                      <a:srgbClr val="FAFBFD"/>
                    </a:solidFill>
                  </a:tcPr>
                </a:tc>
                <a:tc>
                  <a:txBody>
                    <a:bodyPr wrap="square"/>
                    <a:lstStyle/>
                    <a:p>
                      <a:pPr algn="ctr"/>
                      <a:r>
                        <a:rPr sz="950" b="0">
                          <a:solidFill>
                            <a:srgbClr val="4A5566"/>
                          </a:solidFill>
                          <a:latin typeface="맑은 고딕"/>
                          <a:ea typeface="맑은 고딕"/>
                          <a:cs typeface="맑은 고딕"/>
                        </a:rPr>
                        <a:t>신규</a:t>
                      </a:r>
                    </a:p>
                  </a:txBody>
                  <a:tcPr marL="54864" marR="54864" marT="18288" marB="18288" anchor="ctr">
                    <a:solidFill>
                      <a:srgbClr val="FAFBFD"/>
                    </a:solidFill>
                  </a:tcPr>
                </a:tc>
                <a:tc>
                  <a:txBody>
                    <a:bodyPr wrap="square"/>
                    <a:lstStyle/>
                    <a:p>
                      <a:pPr algn="ctr"/>
                      <a:r>
                        <a:rPr sz="950" b="0">
                          <a:solidFill>
                            <a:srgbClr val="4A5566"/>
                          </a:solidFill>
                          <a:latin typeface="맑은 고딕"/>
                          <a:ea typeface="맑은 고딕"/>
                          <a:cs typeface="맑은 고딕"/>
                        </a:rPr>
                        <a:t>12</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킥오프 신규 요구사항 MES-AD2-064 근거 / 참조 프로그램 1건</a:t>
                      </a:r>
                    </a:p>
                  </a:txBody>
                  <a:tcPr marL="54864" marR="54864" marT="18288" marB="18288" anchor="ctr">
                    <a:solidFill>
                      <a:srgbClr val="FAFBFD"/>
                    </a:solidFill>
                  </a:tcPr>
                </a:tc>
              </a:tr>
              <a:tr h="274320">
                <a:tc>
                  <a:txBody>
                    <a:bodyPr wrap="square"/>
                    <a:lstStyle/>
                    <a:p>
                      <a:pPr algn="l"/>
                      <a:r>
                        <a:rPr sz="950" b="1">
                          <a:solidFill>
                            <a:srgbClr val="1F3864"/>
                          </a:solidFill>
                          <a:latin typeface="맑은 고딕"/>
                          <a:ea typeface="맑은 고딕"/>
                          <a:cs typeface="맑은 고딕"/>
                        </a:rPr>
                        <a:t>BAS_PROCESSES</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공정기준</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기준정보관리</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기존</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8</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기존 설계서에 정의됨 — 읽기 참조</a:t>
                      </a:r>
                    </a:p>
                  </a:txBody>
                  <a:tcPr marL="54864" marR="54864" marT="18288" marB="18288" anchor="ctr">
                    <a:solidFill>
                      <a:srgbClr val="FFFFFF"/>
                    </a:solidFill>
                  </a:tcPr>
                </a:tc>
              </a:tr>
              <a:tr h="274320">
                <a:tc>
                  <a:txBody>
                    <a:bodyPr wrap="square"/>
                    <a:lstStyle/>
                    <a:p>
                      <a:pPr algn="l"/>
                      <a:r>
                        <a:rPr sz="950" b="1">
                          <a:solidFill>
                            <a:srgbClr val="1F3864"/>
                          </a:solidFill>
                          <a:latin typeface="맑은 고딕"/>
                          <a:ea typeface="맑은 고딕"/>
                          <a:cs typeface="맑은 고딕"/>
                        </a:rPr>
                        <a:t>BAS_WORK_STANDARDS</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작업표준</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기준정보관리</a:t>
                      </a:r>
                    </a:p>
                  </a:txBody>
                  <a:tcPr marL="54864" marR="54864" marT="18288" marB="18288" anchor="ctr">
                    <a:solidFill>
                      <a:srgbClr val="FAFBFD"/>
                    </a:solidFill>
                  </a:tcPr>
                </a:tc>
                <a:tc>
                  <a:txBody>
                    <a:bodyPr wrap="square"/>
                    <a:lstStyle/>
                    <a:p>
                      <a:pPr algn="ctr"/>
                      <a:r>
                        <a:rPr sz="950" b="0">
                          <a:solidFill>
                            <a:srgbClr val="4A5566"/>
                          </a:solidFill>
                          <a:latin typeface="맑은 고딕"/>
                          <a:ea typeface="맑은 고딕"/>
                          <a:cs typeface="맑은 고딕"/>
                        </a:rPr>
                        <a:t>기존</a:t>
                      </a:r>
                    </a:p>
                  </a:txBody>
                  <a:tcPr marL="54864" marR="54864" marT="18288" marB="18288" anchor="ctr">
                    <a:solidFill>
                      <a:srgbClr val="FAFBFD"/>
                    </a:solidFill>
                  </a:tcPr>
                </a:tc>
                <a:tc>
                  <a:txBody>
                    <a:bodyPr wrap="square"/>
                    <a:lstStyle/>
                    <a:p>
                      <a:pPr algn="ctr"/>
                      <a:r>
                        <a:rPr sz="950" b="0">
                          <a:solidFill>
                            <a:srgbClr val="4A5566"/>
                          </a:solidFill>
                          <a:latin typeface="맑은 고딕"/>
                          <a:ea typeface="맑은 고딕"/>
                          <a:cs typeface="맑은 고딕"/>
                        </a:rPr>
                        <a:t>11</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기존 설계서에 정의됨 — 읽기 참조</a:t>
                      </a:r>
                    </a:p>
                  </a:txBody>
                  <a:tcPr marL="54864" marR="54864" marT="18288" marB="18288" anchor="ctr">
                    <a:solidFill>
                      <a:srgbClr val="FAFBFD"/>
                    </a:solidFill>
                  </a:tcPr>
                </a:tc>
              </a:tr>
              <a:tr h="274320">
                <a:tc>
                  <a:txBody>
                    <a:bodyPr wrap="square"/>
                    <a:lstStyle/>
                    <a:p>
                      <a:pPr algn="l"/>
                      <a:r>
                        <a:rPr sz="950" b="1">
                          <a:solidFill>
                            <a:srgbClr val="1F3864"/>
                          </a:solidFill>
                          <a:latin typeface="맑은 고딕"/>
                          <a:ea typeface="맑은 고딕"/>
                          <a:cs typeface="맑은 고딕"/>
                        </a:rPr>
                        <a:t>ANL_BLEND_RECOMMENDATIONS</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배합비율추천</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성분분석관리</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기존</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13</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기존 설계서에 정의됨 — 읽기 참조</a:t>
                      </a:r>
                    </a:p>
                  </a:txBody>
                  <a:tcPr marL="54864" marR="54864" marT="18288" marB="18288" anchor="ctr">
                    <a:solidFill>
                      <a:srgbClr val="FFFFFF"/>
                    </a:solidFill>
                  </a:tcPr>
                </a:tc>
              </a:tr>
              <a:tr h="274320">
                <a:tc>
                  <a:txBody>
                    <a:bodyPr wrap="square"/>
                    <a:lstStyle/>
                    <a:p>
                      <a:pPr algn="l"/>
                      <a:r>
                        <a:rPr sz="950" b="1">
                          <a:solidFill>
                            <a:srgbClr val="1F3864"/>
                          </a:solidFill>
                          <a:latin typeface="맑은 고딕"/>
                          <a:ea typeface="맑은 고딕"/>
                          <a:cs typeface="맑은 고딕"/>
                        </a:rPr>
                        <a:t>SYS_USERS</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사용자</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사용자/시스템관리</a:t>
                      </a:r>
                    </a:p>
                  </a:txBody>
                  <a:tcPr marL="54864" marR="54864" marT="18288" marB="18288" anchor="ctr">
                    <a:solidFill>
                      <a:srgbClr val="FAFBFD"/>
                    </a:solidFill>
                  </a:tcPr>
                </a:tc>
                <a:tc>
                  <a:txBody>
                    <a:bodyPr wrap="square"/>
                    <a:lstStyle/>
                    <a:p>
                      <a:pPr algn="ctr"/>
                      <a:r>
                        <a:rPr sz="950" b="0">
                          <a:solidFill>
                            <a:srgbClr val="4A5566"/>
                          </a:solidFill>
                          <a:latin typeface="맑은 고딕"/>
                          <a:ea typeface="맑은 고딕"/>
                          <a:cs typeface="맑은 고딕"/>
                        </a:rPr>
                        <a:t>기존</a:t>
                      </a:r>
                    </a:p>
                  </a:txBody>
                  <a:tcPr marL="54864" marR="54864" marT="18288" marB="18288" anchor="ctr">
                    <a:solidFill>
                      <a:srgbClr val="FAFBFD"/>
                    </a:solidFill>
                  </a:tcPr>
                </a:tc>
                <a:tc>
                  <a:txBody>
                    <a:bodyPr wrap="square"/>
                    <a:lstStyle/>
                    <a:p>
                      <a:pPr algn="ctr"/>
                      <a:r>
                        <a:rPr sz="950" b="0">
                          <a:solidFill>
                            <a:srgbClr val="4A5566"/>
                          </a:solidFill>
                          <a:latin typeface="맑은 고딕"/>
                          <a:ea typeface="맑은 고딕"/>
                          <a:cs typeface="맑은 고딕"/>
                        </a:rPr>
                        <a:t>12</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기존 설계서에 정의됨 — 읽기 참조</a:t>
                      </a:r>
                    </a:p>
                  </a:txBody>
                  <a:tcPr marL="54864" marR="54864" marT="18288" marB="18288" anchor="ctr">
                    <a:solidFill>
                      <a:srgbClr val="FAFBFD"/>
                    </a:solidFill>
                  </a:tcPr>
                </a:tc>
              </a:tr>
            </a:tbl>
          </a:graphicData>
        </a:graphic>
      </p:graphicFrame>
      <p:sp>
        <p:nvSpPr>
          <p:cNvPr id="9" name="TextBox 8"/>
          <p:cNvSpPr txBox="1"/>
          <p:nvPr/>
        </p:nvSpPr>
        <p:spPr>
          <a:xfrm>
            <a:off x="411480" y="3255264"/>
            <a:ext cx="11368735" cy="365760"/>
          </a:xfrm>
          <a:prstGeom prst="rect">
            <a:avLst/>
          </a:prstGeom>
          <a:noFill/>
        </p:spPr>
        <p:txBody>
          <a:bodyPr wrap="square" lIns="0" rIns="0" tIns="0" bIns="0" anchor="t">
            <a:spAutoFit/>
          </a:bodyPr>
          <a:lstStyle/>
          <a:p>
            <a:pPr algn="l">
              <a:spcAft>
                <a:spcPts val="0"/>
              </a:spcAft>
            </a:pPr>
            <a:r>
              <a:rPr sz="950" b="0">
                <a:solidFill>
                  <a:srgbClr val="7A8598"/>
                </a:solidFill>
                <a:latin typeface="맑은 고딕"/>
                <a:ea typeface="맑은 고딕"/>
                <a:cs typeface="맑은 고딕"/>
              </a:rPr>
              <a:t>이 화면이 쓰는 테이블 6종 중 신규 2종. 다음 장에 신규 테이블의 컬럼 정의를 싣는다 — 기존 테이블 정의는 SF-TD5 데이터베이스설계서를 따른다.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2. 작업지시관리</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PRC_WORK_ORDERS  작업지시</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신규 테이블</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411480" y="932688"/>
          <a:ext cx="11365992" cy="3877056"/>
        </p:xfrm>
        <a:graphic>
          <a:graphicData uri="http://schemas.openxmlformats.org/drawingml/2006/table">
            <a:tbl>
              <a:tblPr firstRow="1" bandRow="1">
                <a:tableStyleId>{5C22544A-7EE6-4342-B048-85BDC9FD1C3A}</a:tableStyleId>
              </a:tblPr>
              <a:tblGrid>
                <a:gridCol w="2103120"/>
                <a:gridCol w="2286000"/>
                <a:gridCol w="1554480"/>
                <a:gridCol w="566928"/>
                <a:gridCol w="566928"/>
                <a:gridCol w="658368"/>
                <a:gridCol w="3630168"/>
              </a:tblGrid>
              <a:tr h="310896">
                <a:tc>
                  <a:txBody>
                    <a:bodyPr wrap="square"/>
                    <a:lstStyle/>
                    <a:p>
                      <a:pPr algn="l"/>
                      <a:r>
                        <a:rPr sz="1000" b="1">
                          <a:solidFill>
                            <a:srgbClr val="1F3864"/>
                          </a:solidFill>
                          <a:latin typeface="맑은 고딕"/>
                          <a:ea typeface="맑은 고딕"/>
                          <a:cs typeface="맑은 고딕"/>
                        </a:rPr>
                        <a:t>항목명</a:t>
                      </a:r>
                    </a:p>
                  </a:txBody>
                  <a:tcPr marL="54864" marR="54864" marT="18288" marB="18288" anchor="ctr">
                    <a:solidFill>
                      <a:srgbClr val="F2F5FA"/>
                    </a:solidFill>
                  </a:tcPr>
                </a:tc>
                <a:tc>
                  <a:txBody>
                    <a:bodyPr wrap="square"/>
                    <a:lstStyle/>
                    <a:p>
                      <a:pPr algn="l"/>
                      <a:r>
                        <a:rPr sz="1000" b="1">
                          <a:solidFill>
                            <a:srgbClr val="1F3864"/>
                          </a:solidFill>
                          <a:latin typeface="맑은 고딕"/>
                          <a:ea typeface="맑은 고딕"/>
                          <a:cs typeface="맑은 고딕"/>
                        </a:rPr>
                        <a:t>컬럼명</a:t>
                      </a:r>
                    </a:p>
                  </a:txBody>
                  <a:tcPr marL="54864" marR="54864" marT="18288" marB="18288" anchor="ctr">
                    <a:solidFill>
                      <a:srgbClr val="F2F5FA"/>
                    </a:solidFill>
                  </a:tcPr>
                </a:tc>
                <a:tc>
                  <a:txBody>
                    <a:bodyPr wrap="square"/>
                    <a:lstStyle/>
                    <a:p>
                      <a:pPr algn="l"/>
                      <a:r>
                        <a:rPr sz="1000" b="1">
                          <a:solidFill>
                            <a:srgbClr val="1F3864"/>
                          </a:solidFill>
                          <a:latin typeface="맑은 고딕"/>
                          <a:ea typeface="맑은 고딕"/>
                          <a:cs typeface="맑은 고딕"/>
                        </a:rPr>
                        <a:t>타입</a:t>
                      </a:r>
                    </a:p>
                  </a:txBody>
                  <a:tcPr marL="54864" marR="54864" marT="18288" marB="18288" anchor="ctr">
                    <a:solidFill>
                      <a:srgbClr val="F2F5FA"/>
                    </a:solidFill>
                  </a:tcPr>
                </a:tc>
                <a:tc>
                  <a:txBody>
                    <a:bodyPr wrap="square"/>
                    <a:lstStyle/>
                    <a:p>
                      <a:pPr algn="ctr"/>
                      <a:r>
                        <a:rPr sz="1000" b="1">
                          <a:solidFill>
                            <a:srgbClr val="1F3864"/>
                          </a:solidFill>
                          <a:latin typeface="맑은 고딕"/>
                          <a:ea typeface="맑은 고딕"/>
                          <a:cs typeface="맑은 고딕"/>
                        </a:rPr>
                        <a:t>PK</a:t>
                      </a:r>
                    </a:p>
                  </a:txBody>
                  <a:tcPr marL="54864" marR="54864" marT="18288" marB="18288" anchor="ctr">
                    <a:solidFill>
                      <a:srgbClr val="F2F5FA"/>
                    </a:solidFill>
                  </a:tcPr>
                </a:tc>
                <a:tc>
                  <a:txBody>
                    <a:bodyPr wrap="square"/>
                    <a:lstStyle/>
                    <a:p>
                      <a:pPr algn="ctr"/>
                      <a:r>
                        <a:rPr sz="1000" b="1">
                          <a:solidFill>
                            <a:srgbClr val="1F3864"/>
                          </a:solidFill>
                          <a:latin typeface="맑은 고딕"/>
                          <a:ea typeface="맑은 고딕"/>
                          <a:cs typeface="맑은 고딕"/>
                        </a:rPr>
                        <a:t>FK</a:t>
                      </a:r>
                    </a:p>
                  </a:txBody>
                  <a:tcPr marL="54864" marR="54864" marT="18288" marB="18288" anchor="ctr">
                    <a:solidFill>
                      <a:srgbClr val="F2F5FA"/>
                    </a:solidFill>
                  </a:tcPr>
                </a:tc>
                <a:tc>
                  <a:txBody>
                    <a:bodyPr wrap="square"/>
                    <a:lstStyle/>
                    <a:p>
                      <a:pPr algn="ctr"/>
                      <a:r>
                        <a:rPr sz="1000" b="1">
                          <a:solidFill>
                            <a:srgbClr val="1F3864"/>
                          </a:solidFill>
                          <a:latin typeface="맑은 고딕"/>
                          <a:ea typeface="맑은 고딕"/>
                          <a:cs typeface="맑은 고딕"/>
                        </a:rPr>
                        <a:t>NULL</a:t>
                      </a:r>
                    </a:p>
                  </a:txBody>
                  <a:tcPr marL="54864" marR="54864" marT="18288" marB="18288" anchor="ctr">
                    <a:solidFill>
                      <a:srgbClr val="F2F5FA"/>
                    </a:solidFill>
                  </a:tcPr>
                </a:tc>
                <a:tc>
                  <a:txBody>
                    <a:bodyPr wrap="square"/>
                    <a:lstStyle/>
                    <a:p>
                      <a:pPr algn="l"/>
                      <a:r>
                        <a:rPr sz="1000" b="1">
                          <a:solidFill>
                            <a:srgbClr val="1F3864"/>
                          </a:solidFill>
                          <a:latin typeface="맑은 고딕"/>
                          <a:ea typeface="맑은 고딕"/>
                          <a:cs typeface="맑은 고딕"/>
                        </a:rPr>
                        <a:t>비고</a:t>
                      </a:r>
                    </a:p>
                  </a:txBody>
                  <a:tcPr marL="54864" marR="54864" marT="18288" marB="18288" anchor="ctr">
                    <a:solidFill>
                      <a:srgbClr val="F2F5FA"/>
                    </a:solidFill>
                  </a:tcPr>
                </a:tc>
              </a:tr>
              <a:tr h="274320">
                <a:tc>
                  <a:txBody>
                    <a:bodyPr wrap="square"/>
                    <a:lstStyle/>
                    <a:p>
                      <a:pPr algn="l"/>
                      <a:r>
                        <a:rPr sz="900" b="0">
                          <a:solidFill>
                            <a:srgbClr val="4A5566"/>
                          </a:solidFill>
                          <a:latin typeface="맑은 고딕"/>
                          <a:ea typeface="맑은 고딕"/>
                          <a:cs typeface="맑은 고딕"/>
                        </a:rPr>
                        <a:t>작업지시 ID</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WORK_ORDER_ID</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BIGSERIAL</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작업지시번호</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WORK_ORDER_NO</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VARCHAR(50)</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Unique, 채번 규칙 확정 필요</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지시 일자</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ORDER_DATE</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DATE</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일일 단위 생성</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품목 ID</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ITEM_ID</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BIGINT</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FK: BAS_ITEMS</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목표 수량(kg)</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TARGET_QTY</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NUMERIC(14,3)</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배합추천 ID</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BLEND_REC_ID</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BIGINT</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FK: ANL_BLEND_RECOMMENDATIONS (지시에 실을 배합비율)</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작업표준 ID</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WORK_STANDARD_ID</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BIGINT</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FK: BAS_WORK_STANDARDS</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생성 구분</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CREATE_TYPE</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VARCHAR(20)</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수동/ERP연계 — 1단계 수동, ERP 연계는 MES-AD2-059 확정 후</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게시 상태</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POST_STATUS</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VARCHAR(20)</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작성중/게시/마감</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진행 상태</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ORDER_STATUS</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VARCHAR(20)</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지시/진행/완료/보류</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등록자 ID</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CREATED_BY</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BIGINT</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FK: SYS_USERS</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등록 일시</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CREATED_DT</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TIMESTAMP</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수정 일시</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UPDATED_DT</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TIMESTAMP</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2. 작업지시관리</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PRC_WORK_ORDER_TASKS  작업지시공정별</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신규 테이블</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411480" y="932688"/>
          <a:ext cx="11365992" cy="3602736"/>
        </p:xfrm>
        <a:graphic>
          <a:graphicData uri="http://schemas.openxmlformats.org/drawingml/2006/table">
            <a:tbl>
              <a:tblPr firstRow="1" bandRow="1">
                <a:tableStyleId>{5C22544A-7EE6-4342-B048-85BDC9FD1C3A}</a:tableStyleId>
              </a:tblPr>
              <a:tblGrid>
                <a:gridCol w="2103120"/>
                <a:gridCol w="2286000"/>
                <a:gridCol w="1554480"/>
                <a:gridCol w="566928"/>
                <a:gridCol w="566928"/>
                <a:gridCol w="658368"/>
                <a:gridCol w="3630168"/>
              </a:tblGrid>
              <a:tr h="310896">
                <a:tc>
                  <a:txBody>
                    <a:bodyPr wrap="square"/>
                    <a:lstStyle/>
                    <a:p>
                      <a:pPr algn="l"/>
                      <a:r>
                        <a:rPr sz="1000" b="1">
                          <a:solidFill>
                            <a:srgbClr val="1F3864"/>
                          </a:solidFill>
                          <a:latin typeface="맑은 고딕"/>
                          <a:ea typeface="맑은 고딕"/>
                          <a:cs typeface="맑은 고딕"/>
                        </a:rPr>
                        <a:t>항목명</a:t>
                      </a:r>
                    </a:p>
                  </a:txBody>
                  <a:tcPr marL="54864" marR="54864" marT="18288" marB="18288" anchor="ctr">
                    <a:solidFill>
                      <a:srgbClr val="F2F5FA"/>
                    </a:solidFill>
                  </a:tcPr>
                </a:tc>
                <a:tc>
                  <a:txBody>
                    <a:bodyPr wrap="square"/>
                    <a:lstStyle/>
                    <a:p>
                      <a:pPr algn="l"/>
                      <a:r>
                        <a:rPr sz="1000" b="1">
                          <a:solidFill>
                            <a:srgbClr val="1F3864"/>
                          </a:solidFill>
                          <a:latin typeface="맑은 고딕"/>
                          <a:ea typeface="맑은 고딕"/>
                          <a:cs typeface="맑은 고딕"/>
                        </a:rPr>
                        <a:t>컬럼명</a:t>
                      </a:r>
                    </a:p>
                  </a:txBody>
                  <a:tcPr marL="54864" marR="54864" marT="18288" marB="18288" anchor="ctr">
                    <a:solidFill>
                      <a:srgbClr val="F2F5FA"/>
                    </a:solidFill>
                  </a:tcPr>
                </a:tc>
                <a:tc>
                  <a:txBody>
                    <a:bodyPr wrap="square"/>
                    <a:lstStyle/>
                    <a:p>
                      <a:pPr algn="l"/>
                      <a:r>
                        <a:rPr sz="1000" b="1">
                          <a:solidFill>
                            <a:srgbClr val="1F3864"/>
                          </a:solidFill>
                          <a:latin typeface="맑은 고딕"/>
                          <a:ea typeface="맑은 고딕"/>
                          <a:cs typeface="맑은 고딕"/>
                        </a:rPr>
                        <a:t>타입</a:t>
                      </a:r>
                    </a:p>
                  </a:txBody>
                  <a:tcPr marL="54864" marR="54864" marT="18288" marB="18288" anchor="ctr">
                    <a:solidFill>
                      <a:srgbClr val="F2F5FA"/>
                    </a:solidFill>
                  </a:tcPr>
                </a:tc>
                <a:tc>
                  <a:txBody>
                    <a:bodyPr wrap="square"/>
                    <a:lstStyle/>
                    <a:p>
                      <a:pPr algn="ctr"/>
                      <a:r>
                        <a:rPr sz="1000" b="1">
                          <a:solidFill>
                            <a:srgbClr val="1F3864"/>
                          </a:solidFill>
                          <a:latin typeface="맑은 고딕"/>
                          <a:ea typeface="맑은 고딕"/>
                          <a:cs typeface="맑은 고딕"/>
                        </a:rPr>
                        <a:t>PK</a:t>
                      </a:r>
                    </a:p>
                  </a:txBody>
                  <a:tcPr marL="54864" marR="54864" marT="18288" marB="18288" anchor="ctr">
                    <a:solidFill>
                      <a:srgbClr val="F2F5FA"/>
                    </a:solidFill>
                  </a:tcPr>
                </a:tc>
                <a:tc>
                  <a:txBody>
                    <a:bodyPr wrap="square"/>
                    <a:lstStyle/>
                    <a:p>
                      <a:pPr algn="ctr"/>
                      <a:r>
                        <a:rPr sz="1000" b="1">
                          <a:solidFill>
                            <a:srgbClr val="1F3864"/>
                          </a:solidFill>
                          <a:latin typeface="맑은 고딕"/>
                          <a:ea typeface="맑은 고딕"/>
                          <a:cs typeface="맑은 고딕"/>
                        </a:rPr>
                        <a:t>FK</a:t>
                      </a:r>
                    </a:p>
                  </a:txBody>
                  <a:tcPr marL="54864" marR="54864" marT="18288" marB="18288" anchor="ctr">
                    <a:solidFill>
                      <a:srgbClr val="F2F5FA"/>
                    </a:solidFill>
                  </a:tcPr>
                </a:tc>
                <a:tc>
                  <a:txBody>
                    <a:bodyPr wrap="square"/>
                    <a:lstStyle/>
                    <a:p>
                      <a:pPr algn="ctr"/>
                      <a:r>
                        <a:rPr sz="1000" b="1">
                          <a:solidFill>
                            <a:srgbClr val="1F3864"/>
                          </a:solidFill>
                          <a:latin typeface="맑은 고딕"/>
                          <a:ea typeface="맑은 고딕"/>
                          <a:cs typeface="맑은 고딕"/>
                        </a:rPr>
                        <a:t>NULL</a:t>
                      </a:r>
                    </a:p>
                  </a:txBody>
                  <a:tcPr marL="54864" marR="54864" marT="18288" marB="18288" anchor="ctr">
                    <a:solidFill>
                      <a:srgbClr val="F2F5FA"/>
                    </a:solidFill>
                  </a:tcPr>
                </a:tc>
                <a:tc>
                  <a:txBody>
                    <a:bodyPr wrap="square"/>
                    <a:lstStyle/>
                    <a:p>
                      <a:pPr algn="l"/>
                      <a:r>
                        <a:rPr sz="1000" b="1">
                          <a:solidFill>
                            <a:srgbClr val="1F3864"/>
                          </a:solidFill>
                          <a:latin typeface="맑은 고딕"/>
                          <a:ea typeface="맑은 고딕"/>
                          <a:cs typeface="맑은 고딕"/>
                        </a:rPr>
                        <a:t>비고</a:t>
                      </a:r>
                    </a:p>
                  </a:txBody>
                  <a:tcPr marL="54864" marR="54864" marT="18288" marB="18288" anchor="ctr">
                    <a:solidFill>
                      <a:srgbClr val="F2F5FA"/>
                    </a:solidFill>
                  </a:tcPr>
                </a:tc>
              </a:tr>
              <a:tr h="274320">
                <a:tc>
                  <a:txBody>
                    <a:bodyPr wrap="square"/>
                    <a:lstStyle/>
                    <a:p>
                      <a:pPr algn="l"/>
                      <a:r>
                        <a:rPr sz="900" b="0">
                          <a:solidFill>
                            <a:srgbClr val="4A5566"/>
                          </a:solidFill>
                          <a:latin typeface="맑은 고딕"/>
                          <a:ea typeface="맑은 고딕"/>
                          <a:cs typeface="맑은 고딕"/>
                        </a:rPr>
                        <a:t>작업지시공정 ID</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WORK_ORDER_TASK_ID</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BIGSERIAL</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작업지시 ID</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WORK_ORDER_ID</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BIGINT</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FK: PRC_WORK_ORDERS</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공정 ID</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PROCESS_ID</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BIGINT</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FK: BAS_PROCESSES (8개 공정 — 역할 구분 기준)</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공정 순서</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TASK_SEQ</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INT</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입고·보관 → … → 포장·출하</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담당자 ID</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ASSIGNEE_ID</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BIGINT</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FK: SYS_USERS (미배정 시 공정 담당 전원에게 게시)</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작업조건 ID</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WORK_CONDITION_ID</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BIGINT</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FK: PRC_WORK_CONDITIONS</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지시 수량(kg)</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TASK_QTY</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NUMERIC(14,3)</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진행 상태</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TASK_STATUS</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VARCHAR(20)</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지시/진행/완료/보류</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시작 일시</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START_DT</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TIMESTAMP</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종료 일시</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END_DT</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TIMESTAMP</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등록 일시</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CREATED_DT</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TIMESTAMP</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수정 일시</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UPDATED_DT</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TIMESTAMP</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AFBFD"/>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2. 작업지시관리</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확인 · 결정 필요 사항</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협의 후 확정</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411480" y="932688"/>
          <a:ext cx="11365992" cy="2080260"/>
        </p:xfrm>
        <a:graphic>
          <a:graphicData uri="http://schemas.openxmlformats.org/drawingml/2006/table">
            <a:tbl>
              <a:tblPr firstRow="1" bandRow="1">
                <a:tableStyleId>{5C22544A-7EE6-4342-B048-85BDC9FD1C3A}</a:tableStyleId>
              </a:tblPr>
              <a:tblGrid>
                <a:gridCol w="2377440"/>
                <a:gridCol w="3657600"/>
                <a:gridCol w="5330952"/>
              </a:tblGrid>
              <a:tr h="310896">
                <a:tc>
                  <a:txBody>
                    <a:bodyPr wrap="square"/>
                    <a:lstStyle/>
                    <a:p>
                      <a:pPr algn="l"/>
                      <a:r>
                        <a:rPr sz="1100" b="1">
                          <a:solidFill>
                            <a:srgbClr val="1F3864"/>
                          </a:solidFill>
                          <a:latin typeface="맑은 고딕"/>
                          <a:ea typeface="맑은 고딕"/>
                          <a:cs typeface="맑은 고딕"/>
                        </a:rPr>
                        <a:t>항목</a:t>
                      </a:r>
                    </a:p>
                  </a:txBody>
                  <a:tcPr marL="54864" marR="54864" marT="18288" marB="18288" anchor="ctr">
                    <a:solidFill>
                      <a:srgbClr val="F2F5FA"/>
                    </a:solidFill>
                  </a:tcPr>
                </a:tc>
                <a:tc>
                  <a:txBody>
                    <a:bodyPr wrap="square"/>
                    <a:lstStyle/>
                    <a:p>
                      <a:pPr algn="l"/>
                      <a:r>
                        <a:rPr sz="1100" b="1">
                          <a:solidFill>
                            <a:srgbClr val="1F3864"/>
                          </a:solidFill>
                          <a:latin typeface="맑은 고딕"/>
                          <a:ea typeface="맑은 고딕"/>
                          <a:cs typeface="맑은 고딕"/>
                        </a:rPr>
                        <a:t>반영한 값</a:t>
                      </a:r>
                    </a:p>
                  </a:txBody>
                  <a:tcPr marL="54864" marR="54864" marT="18288" marB="18288" anchor="ctr">
                    <a:solidFill>
                      <a:srgbClr val="F2F5FA"/>
                    </a:solidFill>
                  </a:tcPr>
                </a:tc>
                <a:tc>
                  <a:txBody>
                    <a:bodyPr wrap="square"/>
                    <a:lstStyle/>
                    <a:p>
                      <a:pPr algn="l"/>
                      <a:r>
                        <a:rPr sz="1100" b="1">
                          <a:solidFill>
                            <a:srgbClr val="1F3864"/>
                          </a:solidFill>
                          <a:latin typeface="맑은 고딕"/>
                          <a:ea typeface="맑은 고딕"/>
                          <a:cs typeface="맑은 고딕"/>
                        </a:rPr>
                        <a:t>상태</a:t>
                      </a:r>
                    </a:p>
                  </a:txBody>
                  <a:tcPr marL="54864" marR="54864" marT="18288" marB="18288" anchor="ctr">
                    <a:solidFill>
                      <a:srgbClr val="F2F5FA"/>
                    </a:solidFill>
                  </a:tcPr>
                </a:tc>
              </a:tr>
              <a:tr h="274320">
                <a:tc>
                  <a:txBody>
                    <a:bodyPr wrap="square"/>
                    <a:lstStyle/>
                    <a:p>
                      <a:pPr algn="l"/>
                      <a:r>
                        <a:rPr sz="1000" b="1">
                          <a:solidFill>
                            <a:srgbClr val="1C2430"/>
                          </a:solidFill>
                          <a:latin typeface="맑은 고딕"/>
                          <a:ea typeface="맑은 고딕"/>
                          <a:cs typeface="맑은 고딕"/>
                        </a:rPr>
                        <a:t>작업지시서 생성 주체</a:t>
                      </a:r>
                    </a:p>
                  </a:txBody>
                  <a:tcPr marL="54864" marR="54864" marT="18288" marB="18288" anchor="ctr">
                    <a:solidFill>
                      <a:srgbClr val="FFFFFF"/>
                    </a:solidFill>
                  </a:tcPr>
                </a:tc>
                <a:tc>
                  <a:txBody>
                    <a:bodyPr wrap="square"/>
                    <a:lstStyle/>
                    <a:p>
                      <a:pPr algn="l"/>
                      <a:r>
                        <a:rPr sz="1000" b="0">
                          <a:solidFill>
                            <a:srgbClr val="4A5566"/>
                          </a:solidFill>
                          <a:latin typeface="맑은 고딕"/>
                          <a:ea typeface="맑은 고딕"/>
                          <a:cs typeface="맑은 고딕"/>
                        </a:rPr>
                        <a:t>1단계 수동 입력 / 2단계 ERP 생산계획 연계</a:t>
                      </a:r>
                    </a:p>
                  </a:txBody>
                  <a:tcPr marL="54864" marR="54864" marT="18288" marB="18288" anchor="ctr">
                    <a:solidFill>
                      <a:srgbClr val="FFFFFF"/>
                    </a:solidFill>
                  </a:tcPr>
                </a:tc>
                <a:tc>
                  <a:txBody>
                    <a:bodyPr wrap="square"/>
                    <a:lstStyle/>
                    <a:p>
                      <a:pPr algn="l"/>
                      <a:r>
                        <a:rPr sz="1000" b="0">
                          <a:solidFill>
                            <a:srgbClr val="4A5566"/>
                          </a:solidFill>
                          <a:latin typeface="맑은 고딕"/>
                          <a:ea typeface="맑은 고딕"/>
                          <a:cs typeface="맑은 고딕"/>
                        </a:rPr>
                        <a:t>ERP 연계 방식(MES-AD2-059) 확정이 선행</a:t>
                      </a:r>
                    </a:p>
                  </a:txBody>
                  <a:tcPr marL="54864" marR="54864" marT="18288" marB="18288" anchor="ctr">
                    <a:solidFill>
                      <a:srgbClr val="FFFFFF"/>
                    </a:solidFill>
                  </a:tcPr>
                </a:tc>
              </a:tr>
              <a:tr h="274320">
                <a:tc>
                  <a:txBody>
                    <a:bodyPr wrap="square"/>
                    <a:lstStyle/>
                    <a:p>
                      <a:pPr algn="l"/>
                      <a:r>
                        <a:rPr sz="1000" b="1">
                          <a:solidFill>
                            <a:srgbClr val="1C2430"/>
                          </a:solidFill>
                          <a:latin typeface="맑은 고딕"/>
                          <a:ea typeface="맑은 고딕"/>
                          <a:cs typeface="맑은 고딕"/>
                        </a:rPr>
                        <a:t>작업지시서 포함 항목</a:t>
                      </a:r>
                    </a:p>
                  </a:txBody>
                  <a:tcPr marL="54864" marR="54864" marT="18288" marB="18288" anchor="ctr">
                    <a:solidFill>
                      <a:srgbClr val="FAFBFD"/>
                    </a:solidFill>
                  </a:tcPr>
                </a:tc>
                <a:tc>
                  <a:txBody>
                    <a:bodyPr wrap="square"/>
                    <a:lstStyle/>
                    <a:p>
                      <a:pPr algn="l"/>
                      <a:r>
                        <a:rPr sz="1000" b="0">
                          <a:solidFill>
                            <a:srgbClr val="4A5566"/>
                          </a:solidFill>
                          <a:latin typeface="맑은 고딕"/>
                          <a:ea typeface="맑은 고딕"/>
                          <a:cs typeface="맑은 고딕"/>
                        </a:rPr>
                        <a:t>생산 품목·목표 수량·배합비율·담당 공정·작업조건 기준</a:t>
                      </a:r>
                    </a:p>
                  </a:txBody>
                  <a:tcPr marL="54864" marR="54864" marT="18288" marB="18288" anchor="ctr">
                    <a:solidFill>
                      <a:srgbClr val="FAFBFD"/>
                    </a:solidFill>
                  </a:tcPr>
                </a:tc>
                <a:tc>
                  <a:txBody>
                    <a:bodyPr wrap="square"/>
                    <a:lstStyle/>
                    <a:p>
                      <a:pPr algn="l"/>
                      <a:r>
                        <a:rPr sz="1000" b="0">
                          <a:solidFill>
                            <a:srgbClr val="4A5566"/>
                          </a:solidFill>
                          <a:latin typeface="맑은 고딕"/>
                          <a:ea typeface="맑은 고딕"/>
                          <a:cs typeface="맑은 고딕"/>
                        </a:rPr>
                        <a:t>킥오프 '내용(안)' 채택 — 확정 필요</a:t>
                      </a:r>
                    </a:p>
                  </a:txBody>
                  <a:tcPr marL="54864" marR="54864" marT="18288" marB="18288" anchor="ctr">
                    <a:solidFill>
                      <a:srgbClr val="FAFBFD"/>
                    </a:solidFill>
                  </a:tcPr>
                </a:tc>
              </a:tr>
              <a:tr h="397764">
                <a:tc>
                  <a:txBody>
                    <a:bodyPr wrap="square"/>
                    <a:lstStyle/>
                    <a:p>
                      <a:pPr algn="l"/>
                      <a:r>
                        <a:rPr sz="1000" b="1">
                          <a:solidFill>
                            <a:srgbClr val="1C2430"/>
                          </a:solidFill>
                          <a:latin typeface="맑은 고딕"/>
                          <a:ea typeface="맑은 고딕"/>
                          <a:cs typeface="맑은 고딕"/>
                        </a:rPr>
                        <a:t>역할 구분 기준</a:t>
                      </a:r>
                    </a:p>
                  </a:txBody>
                  <a:tcPr marL="54864" marR="54864" marT="18288" marB="18288" anchor="ctr">
                    <a:solidFill>
                      <a:srgbClr val="FFFFFF"/>
                    </a:solidFill>
                  </a:tcPr>
                </a:tc>
                <a:tc>
                  <a:txBody>
                    <a:bodyPr wrap="square"/>
                    <a:lstStyle/>
                    <a:p>
                      <a:pPr algn="l"/>
                      <a:r>
                        <a:rPr sz="1000" b="0">
                          <a:solidFill>
                            <a:srgbClr val="4A5566"/>
                          </a:solidFill>
                          <a:latin typeface="맑은 고딕"/>
                          <a:ea typeface="맑은 고딕"/>
                          <a:cs typeface="맑은 고딕"/>
                        </a:rPr>
                        <a:t>8개 공정별(입고·보관/용해/성분분석/주조/압출/절단/품질검사/포장·출하)</a:t>
                      </a:r>
                    </a:p>
                  </a:txBody>
                  <a:tcPr marL="54864" marR="54864" marT="18288" marB="18288" anchor="ctr">
                    <a:solidFill>
                      <a:srgbClr val="FFFFFF"/>
                    </a:solidFill>
                  </a:tcPr>
                </a:tc>
                <a:tc>
                  <a:txBody>
                    <a:bodyPr wrap="square"/>
                    <a:lstStyle/>
                    <a:p>
                      <a:pPr algn="l"/>
                      <a:r>
                        <a:rPr sz="1000" b="0">
                          <a:solidFill>
                            <a:srgbClr val="4A5566"/>
                          </a:solidFill>
                          <a:latin typeface="맑은 고딕"/>
                          <a:ea typeface="맑은 고딕"/>
                          <a:cs typeface="맑은 고딕"/>
                        </a:rPr>
                        <a:t>직무별 구분이 필요하면 재설계</a:t>
                      </a:r>
                    </a:p>
                  </a:txBody>
                  <a:tcPr marL="54864" marR="54864" marT="18288" marB="18288" anchor="ctr">
                    <a:solidFill>
                      <a:srgbClr val="FFFFFF"/>
                    </a:solidFill>
                  </a:tcPr>
                </a:tc>
              </a:tr>
              <a:tr h="274320">
                <a:tc>
                  <a:txBody>
                    <a:bodyPr wrap="square"/>
                    <a:lstStyle/>
                    <a:p>
                      <a:pPr algn="l"/>
                      <a:r>
                        <a:rPr sz="1000" b="1">
                          <a:solidFill>
                            <a:srgbClr val="1C2430"/>
                          </a:solidFill>
                          <a:latin typeface="맑은 고딕"/>
                          <a:ea typeface="맑은 고딕"/>
                          <a:cs typeface="맑은 고딕"/>
                        </a:rPr>
                        <a:t>게시 화면(단말)</a:t>
                      </a:r>
                    </a:p>
                  </a:txBody>
                  <a:tcPr marL="54864" marR="54864" marT="18288" marB="18288" anchor="ctr">
                    <a:solidFill>
                      <a:srgbClr val="FAFBFD"/>
                    </a:solidFill>
                  </a:tcPr>
                </a:tc>
                <a:tc>
                  <a:txBody>
                    <a:bodyPr wrap="square"/>
                    <a:lstStyle/>
                    <a:p>
                      <a:pPr algn="l"/>
                      <a:r>
                        <a:rPr sz="1000" b="0">
                          <a:solidFill>
                            <a:srgbClr val="4A5566"/>
                          </a:solidFill>
                          <a:latin typeface="맑은 고딕"/>
                          <a:ea typeface="맑은 고딕"/>
                          <a:cs typeface="맑은 고딕"/>
                        </a:rPr>
                        <a:t>현장 17" Panel PC + 관리자 Web</a:t>
                      </a:r>
                    </a:p>
                  </a:txBody>
                  <a:tcPr marL="54864" marR="54864" marT="18288" marB="18288" anchor="ctr">
                    <a:solidFill>
                      <a:srgbClr val="FAFBFD"/>
                    </a:solidFill>
                  </a:tcPr>
                </a:tc>
                <a:tc>
                  <a:txBody>
                    <a:bodyPr wrap="square"/>
                    <a:lstStyle/>
                    <a:p>
                      <a:pPr algn="l"/>
                      <a:r>
                        <a:rPr sz="1000" b="0">
                          <a:solidFill>
                            <a:srgbClr val="4A5566"/>
                          </a:solidFill>
                          <a:latin typeface="맑은 고딕"/>
                          <a:ea typeface="맑은 고딕"/>
                          <a:cs typeface="맑은 고딕"/>
                        </a:rPr>
                        <a:t>Smart Pad 포함 여부 확정 필요</a:t>
                      </a:r>
                    </a:p>
                  </a:txBody>
                  <a:tcPr marL="54864" marR="54864" marT="18288" marB="18288" anchor="ctr">
                    <a:solidFill>
                      <a:srgbClr val="FAFBFD"/>
                    </a:solidFill>
                  </a:tcPr>
                </a:tc>
              </a:tr>
              <a:tr h="274320">
                <a:tc>
                  <a:txBody>
                    <a:bodyPr wrap="square"/>
                    <a:lstStyle/>
                    <a:p>
                      <a:pPr algn="l"/>
                      <a:r>
                        <a:rPr sz="1000" b="1">
                          <a:solidFill>
                            <a:srgbClr val="1C2430"/>
                          </a:solidFill>
                          <a:latin typeface="맑은 고딕"/>
                          <a:ea typeface="맑은 고딕"/>
                          <a:cs typeface="맑은 고딕"/>
                        </a:rPr>
                        <a:t>현행 전달 방식</a:t>
                      </a:r>
                    </a:p>
                  </a:txBody>
                  <a:tcPr marL="54864" marR="54864" marT="18288" marB="18288" anchor="ctr">
                    <a:solidFill>
                      <a:srgbClr val="FFFFFF"/>
                    </a:solidFill>
                  </a:tcPr>
                </a:tc>
                <a:tc>
                  <a:txBody>
                    <a:bodyPr wrap="square"/>
                    <a:lstStyle/>
                    <a:p>
                      <a:pPr algn="l"/>
                      <a:r>
                        <a:rPr sz="1000" b="0">
                          <a:solidFill>
                            <a:srgbClr val="4A5566"/>
                          </a:solidFill>
                          <a:latin typeface="맑은 고딕"/>
                          <a:ea typeface="맑은 고딕"/>
                          <a:cs typeface="맑은 고딕"/>
                        </a:rPr>
                        <a:t>구두·수기로 추정</a:t>
                      </a:r>
                    </a:p>
                  </a:txBody>
                  <a:tcPr marL="54864" marR="54864" marT="18288" marB="18288" anchor="ctr">
                    <a:solidFill>
                      <a:srgbClr val="FFFFFF"/>
                    </a:solidFill>
                  </a:tcPr>
                </a:tc>
                <a:tc>
                  <a:txBody>
                    <a:bodyPr wrap="square"/>
                    <a:lstStyle/>
                    <a:p>
                      <a:pPr algn="l"/>
                      <a:r>
                        <a:rPr sz="1000" b="0">
                          <a:solidFill>
                            <a:srgbClr val="4A5566"/>
                          </a:solidFill>
                          <a:latin typeface="맑은 고딕"/>
                          <a:ea typeface="맑은 고딕"/>
                          <a:cs typeface="맑은 고딕"/>
                        </a:rPr>
                        <a:t>확인 필요 — 현행 확인 후 전환 범위 결정</a:t>
                      </a:r>
                    </a:p>
                  </a:txBody>
                  <a:tcPr marL="54864" marR="54864" marT="18288" marB="18288" anchor="ctr">
                    <a:solidFill>
                      <a:srgbClr val="FFFFFF"/>
                    </a:solidFill>
                  </a:tcPr>
                </a:tc>
              </a:tr>
              <a:tr h="274320">
                <a:tc>
                  <a:txBody>
                    <a:bodyPr wrap="square"/>
                    <a:lstStyle/>
                    <a:p>
                      <a:pPr algn="l"/>
                      <a:r>
                        <a:rPr sz="1000" b="1">
                          <a:solidFill>
                            <a:srgbClr val="1C2430"/>
                          </a:solidFill>
                          <a:latin typeface="맑은 고딕"/>
                          <a:ea typeface="맑은 고딕"/>
                          <a:cs typeface="맑은 고딕"/>
                        </a:rPr>
                        <a:t>FP 산정 반영</a:t>
                      </a:r>
                    </a:p>
                  </a:txBody>
                  <a:tcPr marL="54864" marR="54864" marT="18288" marB="18288" anchor="ctr">
                    <a:solidFill>
                      <a:srgbClr val="FAFBFD"/>
                    </a:solidFill>
                  </a:tcPr>
                </a:tc>
                <a:tc>
                  <a:txBody>
                    <a:bodyPr wrap="square"/>
                    <a:lstStyle/>
                    <a:p>
                      <a:pPr algn="l"/>
                      <a:r>
                        <a:rPr sz="1000" b="0">
                          <a:solidFill>
                            <a:srgbClr val="4A5566"/>
                          </a:solidFill>
                          <a:latin typeface="맑은 고딕"/>
                          <a:ea typeface="맑은 고딕"/>
                          <a:cs typeface="맑은 고딕"/>
                        </a:rPr>
                        <a:t>11점(안) · 단위프로세스 3건</a:t>
                      </a:r>
                    </a:p>
                  </a:txBody>
                  <a:tcPr marL="54864" marR="54864" marT="18288" marB="18288" anchor="ctr">
                    <a:solidFill>
                      <a:srgbClr val="FAFBFD"/>
                    </a:solidFill>
                  </a:tcPr>
                </a:tc>
                <a:tc>
                  <a:txBody>
                    <a:bodyPr wrap="square"/>
                    <a:lstStyle/>
                    <a:p>
                      <a:pPr algn="l"/>
                      <a:r>
                        <a:rPr sz="1000" b="0">
                          <a:solidFill>
                            <a:srgbClr val="4A5566"/>
                          </a:solidFill>
                          <a:latin typeface="맑은 고딕"/>
                          <a:ea typeface="맑은 고딕"/>
                          <a:cs typeface="맑은 고딕"/>
                        </a:rPr>
                        <a:t>신규 FP 산정 및 추가 계약 범위 협의 필요</a:t>
                      </a:r>
                    </a:p>
                  </a:txBody>
                  <a:tcPr marL="54864" marR="54864" marT="18288" marB="18288" anchor="ctr">
                    <a:solidFill>
                      <a:srgbClr val="FAFBFD"/>
                    </a:solidFill>
                  </a:tcPr>
                </a:tc>
              </a:tr>
            </a:tbl>
          </a:graphicData>
        </a:graphic>
      </p:graphicFrame>
      <p:sp>
        <p:nvSpPr>
          <p:cNvPr id="9" name="TextBox 8"/>
          <p:cNvSpPr txBox="1"/>
          <p:nvPr/>
        </p:nvSpPr>
        <p:spPr>
          <a:xfrm>
            <a:off x="411480" y="3268980"/>
            <a:ext cx="11368735" cy="365760"/>
          </a:xfrm>
          <a:prstGeom prst="rect">
            <a:avLst/>
          </a:prstGeom>
          <a:noFill/>
        </p:spPr>
        <p:txBody>
          <a:bodyPr wrap="square" lIns="0" rIns="0" tIns="0" bIns="0" anchor="t">
            <a:spAutoFit/>
          </a:bodyPr>
          <a:lstStyle/>
          <a:p>
            <a:pPr algn="l">
              <a:spcAft>
                <a:spcPts val="0"/>
              </a:spcAft>
            </a:pPr>
            <a:r>
              <a:rPr sz="950" b="0">
                <a:solidFill>
                  <a:srgbClr val="7A8598"/>
                </a:solidFill>
                <a:latin typeface="맑은 고딕"/>
                <a:ea typeface="맑은 고딕"/>
                <a:cs typeface="맑은 고딕"/>
              </a:rPr>
              <a:t>‘반영한 값’은 킥오프 회의 자료의 ‘내용(안)’을 채택한 것이다. 확정 근거가 없는 항목은 기존 산출물 관례대로 미확정으로 두었다.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3. 출고서류 발행</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요구사항</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SF-AD2 요구사항정의서</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932688"/>
            <a:ext cx="11368735" cy="566928"/>
          </a:xfrm>
          <a:prstGeom prst="rect">
            <a:avLst/>
          </a:prstGeom>
          <a:solidFill>
            <a:srgbClr val="FBF7EC"/>
          </a:solidFill>
          <a:ln w="9525">
            <a:solidFill>
              <a:srgbClr val="B880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932688"/>
            <a:ext cx="45720" cy="566928"/>
          </a:xfrm>
          <a:prstGeom prst="rect">
            <a:avLst/>
          </a:prstGeom>
          <a:solidFill>
            <a:srgbClr val="B88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 y="1014984"/>
            <a:ext cx="11076127" cy="219456"/>
          </a:xfrm>
          <a:prstGeom prst="rect">
            <a:avLst/>
          </a:prstGeom>
          <a:noFill/>
        </p:spPr>
        <p:txBody>
          <a:bodyPr wrap="square" lIns="0" rIns="0" tIns="0" bIns="0" anchor="t">
            <a:spAutoFit/>
          </a:bodyPr>
          <a:lstStyle/>
          <a:p>
            <a:pPr algn="l">
              <a:spcAft>
                <a:spcPts val="0"/>
              </a:spcAft>
            </a:pPr>
            <a:r>
              <a:rPr sz="1100" b="1">
                <a:solidFill>
                  <a:srgbClr val="1C2430"/>
                </a:solidFill>
                <a:latin typeface="맑은 고딕"/>
                <a:ea typeface="맑은 고딕"/>
                <a:cs typeface="맑은 고딕"/>
              </a:rPr>
              <a:t>고려솔더 요청 원문 — “출하 시 출고서류를 자동으로 뽑아주면 좋겠다.”</a:t>
            </a:r>
          </a:p>
        </p:txBody>
      </p:sp>
      <p:sp>
        <p:nvSpPr>
          <p:cNvPr id="11" name="TextBox 10"/>
          <p:cNvSpPr txBox="1"/>
          <p:nvPr/>
        </p:nvSpPr>
        <p:spPr>
          <a:xfrm>
            <a:off x="557784" y="1243584"/>
            <a:ext cx="11076127" cy="182880"/>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영향도 작음~중간  ·  출처 고려솔더_신규요구사항_3건_1.pptx (2026-08 킥오프 회의 논의) · 킥오프 회의록 4-3 / 5장(5-1~5-3)</a:t>
            </a:r>
          </a:p>
        </p:txBody>
      </p:sp>
      <p:sp>
        <p:nvSpPr>
          <p:cNvPr id="12" name="Rectangle 11"/>
          <p:cNvSpPr/>
          <p:nvPr/>
        </p:nvSpPr>
        <p:spPr>
          <a:xfrm>
            <a:off x="411480" y="1645920"/>
            <a:ext cx="6821241" cy="4828032"/>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1645920"/>
            <a:ext cx="6821241"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1645920"/>
            <a:ext cx="45720" cy="48280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9496" y="1696212"/>
            <a:ext cx="6565209"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요구사항 내용</a:t>
            </a:r>
          </a:p>
        </p:txBody>
      </p:sp>
      <p:sp>
        <p:nvSpPr>
          <p:cNvPr id="16" name="TextBox 15"/>
          <p:cNvSpPr txBox="1"/>
          <p:nvPr/>
        </p:nvSpPr>
        <p:spPr>
          <a:xfrm>
            <a:off x="557784" y="2029968"/>
            <a:ext cx="6528633" cy="399796"/>
          </a:xfrm>
          <a:prstGeom prst="rect">
            <a:avLst/>
          </a:prstGeom>
          <a:noFill/>
        </p:spPr>
        <p:txBody>
          <a:bodyPr wrap="square" lIns="0" rIns="0" tIns="0" bIns="0" anchor="t">
            <a:spAutoFit/>
          </a:bodyPr>
          <a:lstStyle/>
          <a:p>
            <a:pPr algn="l">
              <a:lnSpc>
                <a:spcPct val="130000"/>
              </a:lnSpc>
              <a:spcAft>
                <a:spcPts val="0"/>
              </a:spcAft>
            </a:pPr>
            <a:r>
              <a:rPr sz="1100" b="0">
                <a:solidFill>
                  <a:srgbClr val="1C2430"/>
                </a:solidFill>
                <a:latin typeface="맑은 고딕"/>
                <a:ea typeface="맑은 고딕"/>
                <a:cs typeface="맑은 고딕"/>
              </a:rPr>
              <a:t>출하 승인이 완료되는 시점에 거래명세서·출하증명서·품질성적서를 자동 생성하고, 포장 시점의 바코드·중량 데이터를 서류에 자동 반영한다.</a:t>
            </a:r>
          </a:p>
        </p:txBody>
      </p:sp>
      <p:sp>
        <p:nvSpPr>
          <p:cNvPr id="17" name="TextBox 16"/>
          <p:cNvSpPr txBox="1"/>
          <p:nvPr/>
        </p:nvSpPr>
        <p:spPr>
          <a:xfrm>
            <a:off x="557784" y="2594356"/>
            <a:ext cx="6528633" cy="201168"/>
          </a:xfrm>
          <a:prstGeom prst="rect">
            <a:avLst/>
          </a:prstGeom>
          <a:noFill/>
        </p:spPr>
        <p:txBody>
          <a:bodyPr wrap="square" lIns="0" rIns="0" tIns="0" bIns="0" anchor="t">
            <a:spAutoFit/>
          </a:bodyPr>
          <a:lstStyle/>
          <a:p>
            <a:pPr algn="l">
              <a:spcAft>
                <a:spcPts val="0"/>
              </a:spcAft>
            </a:pPr>
            <a:r>
              <a:rPr sz="1000" b="1">
                <a:solidFill>
                  <a:srgbClr val="162848"/>
                </a:solidFill>
                <a:latin typeface="맑은 고딕"/>
                <a:ea typeface="맑은 고딕"/>
                <a:cs typeface="맑은 고딕"/>
              </a:rPr>
              <a:t>세부 기능 · FP 산정(안)</a:t>
            </a:r>
          </a:p>
        </p:txBody>
      </p:sp>
      <p:sp>
        <p:nvSpPr>
          <p:cNvPr id="18" name="TextBox 17"/>
          <p:cNvSpPr txBox="1"/>
          <p:nvPr/>
        </p:nvSpPr>
        <p:spPr>
          <a:xfrm>
            <a:off x="557784" y="2850388"/>
            <a:ext cx="6528633" cy="441960"/>
          </a:xfrm>
          <a:prstGeom prst="rect">
            <a:avLst/>
          </a:prstGeom>
          <a:noFill/>
        </p:spPr>
        <p:txBody>
          <a:bodyPr wrap="square" lIns="0" rIns="0" tIns="0" bIns="0" anchor="t">
            <a:spAutoFit/>
          </a:bodyPr>
          <a:lstStyle/>
          <a:p>
            <a:pPr algn="l">
              <a:lnSpc>
                <a:spcPct val="124000"/>
              </a:lnSpc>
              <a:spcAft>
                <a:spcPts val="500"/>
              </a:spcAft>
            </a:pPr>
            <a:r>
              <a:rPr sz="1000" b="0">
                <a:solidFill>
                  <a:srgbClr val="4A5566"/>
                </a:solidFill>
                <a:latin typeface="맑은 고딕"/>
                <a:ea typeface="맑은 고딕"/>
                <a:cs typeface="맑은 고딕"/>
              </a:rPr>
              <a:t>·  1. 출고서류 자동 생성 (출하 승인 시점 거래명세서·출하증명서·품질성적서 3종) (EO, 가중치 5 FP)</a:t>
            </a:r>
          </a:p>
          <a:p>
            <a:pPr algn="l">
              <a:lnSpc>
                <a:spcPct val="124000"/>
              </a:lnSpc>
              <a:spcAft>
                <a:spcPts val="500"/>
              </a:spcAft>
            </a:pPr>
            <a:r>
              <a:rPr sz="1000" b="0">
                <a:solidFill>
                  <a:srgbClr val="4A5566"/>
                </a:solidFill>
                <a:latin typeface="맑은 고딕"/>
                <a:ea typeface="맑은 고딕"/>
                <a:cs typeface="맑은 고딕"/>
              </a:rPr>
              <a:t>·  2. 출고서류 발행이력 조회·재발행 (PDF 다운로드 / 인쇄 / 이메일 발송) (EQ, 가중치 4 FP)</a:t>
            </a:r>
          </a:p>
        </p:txBody>
      </p:sp>
      <p:sp>
        <p:nvSpPr>
          <p:cNvPr id="19" name="TextBox 18"/>
          <p:cNvSpPr txBox="1"/>
          <p:nvPr/>
        </p:nvSpPr>
        <p:spPr>
          <a:xfrm>
            <a:off x="557784" y="3383788"/>
            <a:ext cx="6528633" cy="201168"/>
          </a:xfrm>
          <a:prstGeom prst="rect">
            <a:avLst/>
          </a:prstGeom>
          <a:noFill/>
        </p:spPr>
        <p:txBody>
          <a:bodyPr wrap="square" lIns="0" rIns="0" tIns="0" bIns="0" anchor="t">
            <a:spAutoFit/>
          </a:bodyPr>
          <a:lstStyle/>
          <a:p>
            <a:pPr algn="l">
              <a:spcAft>
                <a:spcPts val="0"/>
              </a:spcAft>
            </a:pPr>
            <a:r>
              <a:rPr sz="1000" b="1">
                <a:solidFill>
                  <a:srgbClr val="162848"/>
                </a:solidFill>
                <a:latin typeface="맑은 고딕"/>
                <a:ea typeface="맑은 고딕"/>
                <a:cs typeface="맑은 고딕"/>
              </a:rPr>
              <a:t>제약사항</a:t>
            </a:r>
          </a:p>
        </p:txBody>
      </p:sp>
      <p:sp>
        <p:nvSpPr>
          <p:cNvPr id="20" name="TextBox 19"/>
          <p:cNvSpPr txBox="1"/>
          <p:nvPr/>
        </p:nvSpPr>
        <p:spPr>
          <a:xfrm>
            <a:off x="557784" y="3639820"/>
            <a:ext cx="6528633" cy="2706116"/>
          </a:xfrm>
          <a:prstGeom prst="rect">
            <a:avLst/>
          </a:prstGeom>
          <a:noFill/>
        </p:spPr>
        <p:txBody>
          <a:bodyPr wrap="square" lIns="0" rIns="0" tIns="0" bIns="0" anchor="t">
            <a:spAutoFit/>
          </a:bodyPr>
          <a:lstStyle/>
          <a:p>
            <a:pPr algn="l">
              <a:lnSpc>
                <a:spcPct val="128000"/>
              </a:lnSpc>
              <a:spcAft>
                <a:spcPts val="0"/>
              </a:spcAft>
            </a:pPr>
            <a:r>
              <a:rPr sz="950" b="0">
                <a:solidFill>
                  <a:srgbClr val="4A5566"/>
                </a:solidFill>
                <a:latin typeface="맑은 고딕"/>
                <a:ea typeface="맑은 고딕"/>
                <a:cs typeface="맑은 고딕"/>
              </a:rPr>
              <a:t>발행 대상은 거래명세서·출하증명서·품질성적서 3종, 발행 방식은 PDF 다운로드를 기본으로 하고 인쇄·이메일 발송을 함께 제공한다(킥오프 논의 '내용(안)' 반영). 서류 양식은 기존 ERP 양식을 재사용하는 것을 전제로 하므로 ERP 연계 방식(MES-AD2-059) 확정이 선행 과제이며, 확정 전까지 양식·항목은 잠정이다. 품질성적서는 검사결과관리(MES-AD2-016), 중량·바코드는 포장 데이터가 등록되어야 채워진다. 현행 출하 정보는 수기·Excel로 관리되는 것으로 파악된다.</a:t>
            </a:r>
          </a:p>
        </p:txBody>
      </p:sp>
      <p:sp>
        <p:nvSpPr>
          <p:cNvPr id="21" name="Rectangle 20"/>
          <p:cNvSpPr/>
          <p:nvPr/>
        </p:nvSpPr>
        <p:spPr>
          <a:xfrm>
            <a:off x="7415601" y="1645920"/>
            <a:ext cx="4364614" cy="2331720"/>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15601" y="1645920"/>
            <a:ext cx="4364614"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15601" y="1645920"/>
            <a:ext cx="45720" cy="2331720"/>
          </a:xfrm>
          <a:prstGeom prst="rect">
            <a:avLst/>
          </a:prstGeom>
          <a:solidFill>
            <a:srgbClr val="2F6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43617" y="1696212"/>
            <a:ext cx="4108582"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요구사항 정보</a:t>
            </a:r>
          </a:p>
        </p:txBody>
      </p:sp>
      <p:sp>
        <p:nvSpPr>
          <p:cNvPr id="25" name="TextBox 24"/>
          <p:cNvSpPr txBox="1"/>
          <p:nvPr/>
        </p:nvSpPr>
        <p:spPr>
          <a:xfrm>
            <a:off x="7561905" y="2029968"/>
            <a:ext cx="105156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요구사항ID</a:t>
            </a:r>
          </a:p>
        </p:txBody>
      </p:sp>
      <p:sp>
        <p:nvSpPr>
          <p:cNvPr id="26" name="TextBox 25"/>
          <p:cNvSpPr txBox="1"/>
          <p:nvPr/>
        </p:nvSpPr>
        <p:spPr>
          <a:xfrm>
            <a:off x="8659185" y="2029968"/>
            <a:ext cx="2974726" cy="329184"/>
          </a:xfrm>
          <a:prstGeom prst="rect">
            <a:avLst/>
          </a:prstGeom>
          <a:noFill/>
        </p:spPr>
        <p:txBody>
          <a:bodyPr wrap="square" lIns="0" rIns="0" tIns="0" bIns="0" anchor="t">
            <a:spAutoFit/>
          </a:bodyPr>
          <a:lstStyle/>
          <a:p>
            <a:pPr algn="l">
              <a:lnSpc>
                <a:spcPct val="120000"/>
              </a:lnSpc>
              <a:spcAft>
                <a:spcPts val="0"/>
              </a:spcAft>
            </a:pPr>
            <a:r>
              <a:rPr sz="950" b="1">
                <a:solidFill>
                  <a:srgbClr val="1F3864"/>
                </a:solidFill>
                <a:latin typeface="맑은 고딕"/>
                <a:ea typeface="맑은 고딕"/>
                <a:cs typeface="맑은 고딕"/>
              </a:rPr>
              <a:t>MES-AD2-065</a:t>
            </a:r>
          </a:p>
        </p:txBody>
      </p:sp>
      <p:sp>
        <p:nvSpPr>
          <p:cNvPr id="27" name="TextBox 26"/>
          <p:cNvSpPr txBox="1"/>
          <p:nvPr/>
        </p:nvSpPr>
        <p:spPr>
          <a:xfrm>
            <a:off x="7561905" y="2395728"/>
            <a:ext cx="105156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구분 (SF-AD3)</a:t>
            </a:r>
          </a:p>
        </p:txBody>
      </p:sp>
      <p:sp>
        <p:nvSpPr>
          <p:cNvPr id="28" name="TextBox 27"/>
          <p:cNvSpPr txBox="1"/>
          <p:nvPr/>
        </p:nvSpPr>
        <p:spPr>
          <a:xfrm>
            <a:off x="8659185" y="2395728"/>
            <a:ext cx="2974726" cy="329184"/>
          </a:xfrm>
          <a:prstGeom prst="rect">
            <a:avLst/>
          </a:prstGeom>
          <a:noFill/>
        </p:spPr>
        <p:txBody>
          <a:bodyPr wrap="square" lIns="0" rIns="0" tIns="0" bIns="0" anchor="t">
            <a:spAutoFit/>
          </a:bodyPr>
          <a:lstStyle/>
          <a:p>
            <a:pPr algn="l">
              <a:lnSpc>
                <a:spcPct val="120000"/>
              </a:lnSpc>
              <a:spcAft>
                <a:spcPts val="0"/>
              </a:spcAft>
            </a:pPr>
            <a:r>
              <a:rPr sz="950" b="1">
                <a:solidFill>
                  <a:srgbClr val="1F3864"/>
                </a:solidFill>
                <a:latin typeface="맑은 고딕"/>
                <a:ea typeface="맑은 고딕"/>
                <a:cs typeface="맑은 고딕"/>
              </a:rPr>
              <a:t>변경</a:t>
            </a:r>
          </a:p>
        </p:txBody>
      </p:sp>
      <p:sp>
        <p:nvSpPr>
          <p:cNvPr id="29" name="TextBox 28"/>
          <p:cNvSpPr txBox="1"/>
          <p:nvPr/>
        </p:nvSpPr>
        <p:spPr>
          <a:xfrm>
            <a:off x="7561905" y="2761488"/>
            <a:ext cx="105156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업무영역</a:t>
            </a:r>
          </a:p>
        </p:txBody>
      </p:sp>
      <p:sp>
        <p:nvSpPr>
          <p:cNvPr id="30" name="TextBox 29"/>
          <p:cNvSpPr txBox="1"/>
          <p:nvPr/>
        </p:nvSpPr>
        <p:spPr>
          <a:xfrm>
            <a:off x="8659185" y="2761488"/>
            <a:ext cx="2974726" cy="329184"/>
          </a:xfrm>
          <a:prstGeom prst="rect">
            <a:avLst/>
          </a:prstGeom>
          <a:noFill/>
        </p:spPr>
        <p:txBody>
          <a:bodyPr wrap="square" lIns="0" rIns="0" tIns="0" bIns="0" anchor="t">
            <a:spAutoFit/>
          </a:bodyPr>
          <a:lstStyle/>
          <a:p>
            <a:pPr algn="l">
              <a:lnSpc>
                <a:spcPct val="120000"/>
              </a:lnSpc>
              <a:spcAft>
                <a:spcPts val="0"/>
              </a:spcAft>
            </a:pPr>
            <a:r>
              <a:rPr sz="950" b="0">
                <a:solidFill>
                  <a:srgbClr val="4A5566"/>
                </a:solidFill>
                <a:latin typeface="맑은 고딕"/>
                <a:ea typeface="맑은 고딕"/>
                <a:cs typeface="맑은 고딕"/>
              </a:rPr>
              <a:t>포장출하관리</a:t>
            </a:r>
          </a:p>
        </p:txBody>
      </p:sp>
      <p:sp>
        <p:nvSpPr>
          <p:cNvPr id="31" name="TextBox 30"/>
          <p:cNvSpPr txBox="1"/>
          <p:nvPr/>
        </p:nvSpPr>
        <p:spPr>
          <a:xfrm>
            <a:off x="7561905" y="3127248"/>
            <a:ext cx="105156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연계 모듈</a:t>
            </a:r>
          </a:p>
        </p:txBody>
      </p:sp>
      <p:sp>
        <p:nvSpPr>
          <p:cNvPr id="32" name="TextBox 31"/>
          <p:cNvSpPr txBox="1"/>
          <p:nvPr/>
        </p:nvSpPr>
        <p:spPr>
          <a:xfrm>
            <a:off x="8659185" y="3127248"/>
            <a:ext cx="2974726" cy="329184"/>
          </a:xfrm>
          <a:prstGeom prst="rect">
            <a:avLst/>
          </a:prstGeom>
          <a:noFill/>
        </p:spPr>
        <p:txBody>
          <a:bodyPr wrap="square" lIns="0" rIns="0" tIns="0" bIns="0" anchor="t">
            <a:spAutoFit/>
          </a:bodyPr>
          <a:lstStyle/>
          <a:p>
            <a:pPr algn="l">
              <a:lnSpc>
                <a:spcPct val="120000"/>
              </a:lnSpc>
              <a:spcAft>
                <a:spcPts val="0"/>
              </a:spcAft>
            </a:pPr>
            <a:r>
              <a:rPr sz="950" b="0">
                <a:solidFill>
                  <a:srgbClr val="4A5566"/>
                </a:solidFill>
                <a:latin typeface="맑은 고딕"/>
                <a:ea typeface="맑은 고딕"/>
                <a:cs typeface="맑은 고딕"/>
              </a:rPr>
              <a:t>포장출하관리(기능 확장) · 데이터허브관리 · 시스템 연계(ERP 연계 인터페이스)</a:t>
            </a:r>
          </a:p>
        </p:txBody>
      </p:sp>
      <p:sp>
        <p:nvSpPr>
          <p:cNvPr id="33" name="TextBox 32"/>
          <p:cNvSpPr txBox="1"/>
          <p:nvPr/>
        </p:nvSpPr>
        <p:spPr>
          <a:xfrm>
            <a:off x="7561905" y="3493008"/>
            <a:ext cx="105156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담당자</a:t>
            </a:r>
          </a:p>
        </p:txBody>
      </p:sp>
      <p:sp>
        <p:nvSpPr>
          <p:cNvPr id="34" name="TextBox 33"/>
          <p:cNvSpPr txBox="1"/>
          <p:nvPr/>
        </p:nvSpPr>
        <p:spPr>
          <a:xfrm>
            <a:off x="8659185" y="3493008"/>
            <a:ext cx="2974726" cy="329184"/>
          </a:xfrm>
          <a:prstGeom prst="rect">
            <a:avLst/>
          </a:prstGeom>
          <a:noFill/>
        </p:spPr>
        <p:txBody>
          <a:bodyPr wrap="square" lIns="0" rIns="0" tIns="0" bIns="0" anchor="t">
            <a:spAutoFit/>
          </a:bodyPr>
          <a:lstStyle/>
          <a:p>
            <a:pPr algn="l">
              <a:lnSpc>
                <a:spcPct val="120000"/>
              </a:lnSpc>
              <a:spcAft>
                <a:spcPts val="0"/>
              </a:spcAft>
            </a:pPr>
            <a:r>
              <a:rPr sz="950" b="0">
                <a:solidFill>
                  <a:srgbClr val="4A5566"/>
                </a:solidFill>
                <a:latin typeface="맑은 고딕"/>
                <a:ea typeface="맑은 고딕"/>
                <a:cs typeface="맑은 고딕"/>
              </a:rPr>
              <a:t>미확인 — 담당자 확인 필요    (서명)</a:t>
            </a:r>
          </a:p>
        </p:txBody>
      </p:sp>
      <p:sp>
        <p:nvSpPr>
          <p:cNvPr id="35" name="Rectangle 34"/>
          <p:cNvSpPr/>
          <p:nvPr/>
        </p:nvSpPr>
        <p:spPr>
          <a:xfrm>
            <a:off x="7415601" y="4160520"/>
            <a:ext cx="4364614" cy="1152144"/>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415601" y="4160520"/>
            <a:ext cx="4364614"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15601" y="4160520"/>
            <a:ext cx="45720" cy="1152144"/>
          </a:xfrm>
          <a:prstGeom prst="rect">
            <a:avLst/>
          </a:prstGeom>
          <a:solidFill>
            <a:srgbClr val="7A85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43617" y="4210812"/>
            <a:ext cx="4108582"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비고</a:t>
            </a:r>
          </a:p>
        </p:txBody>
      </p:sp>
      <p:sp>
        <p:nvSpPr>
          <p:cNvPr id="39" name="TextBox 38"/>
          <p:cNvSpPr txBox="1"/>
          <p:nvPr/>
        </p:nvSpPr>
        <p:spPr>
          <a:xfrm>
            <a:off x="7561905" y="4544568"/>
            <a:ext cx="4072006" cy="621792"/>
          </a:xfrm>
          <a:prstGeom prst="rect">
            <a:avLst/>
          </a:prstGeom>
          <a:noFill/>
        </p:spPr>
        <p:txBody>
          <a:bodyPr wrap="square" lIns="0" rIns="0" tIns="0" bIns="0" anchor="t">
            <a:spAutoFit/>
          </a:bodyPr>
          <a:lstStyle/>
          <a:p>
            <a:pPr algn="l">
              <a:lnSpc>
                <a:spcPct val="128000"/>
              </a:lnSpc>
              <a:spcAft>
                <a:spcPts val="0"/>
              </a:spcAft>
            </a:pPr>
            <a:r>
              <a:rPr sz="900" b="0">
                <a:solidFill>
                  <a:srgbClr val="4A5566"/>
                </a:solidFill>
                <a:latin typeface="맑은 고딕"/>
                <a:ea typeface="맑은 고딕"/>
                <a:cs typeface="맑은 고딕"/>
              </a:rPr>
              <a:t>킥오프 신규 요구사항 REQ-03. 기존 출하관리(MES-AD2-014) 범위를 서류 발행까지 넓히는 확장이므로 기능대비표 구분 '변경'. 연계 모듈: 포장출하관리(확장)·데이터허브관리·시스템 연계(ERP 연계 인터페이스). FP 9점(단위프로세스 2건)은 산정(안)이며 ERP 연계 방식 확정에 따라 달라질 수 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3. 출고서류 발행</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개선업무 (AS-IS → TO-BE)</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킥오프 회의 논의</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932688"/>
            <a:ext cx="5592927" cy="1287271"/>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932688"/>
            <a:ext cx="5592927"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932688"/>
            <a:ext cx="45720" cy="1287271"/>
          </a:xfrm>
          <a:prstGeom prst="rect">
            <a:avLst/>
          </a:prstGeom>
          <a:solidFill>
            <a:srgbClr val="7A85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9496" y="982980"/>
            <a:ext cx="5336895"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AS-IS · 현재</a:t>
            </a:r>
          </a:p>
        </p:txBody>
      </p:sp>
      <p:sp>
        <p:nvSpPr>
          <p:cNvPr id="12" name="TextBox 11"/>
          <p:cNvSpPr txBox="1"/>
          <p:nvPr/>
        </p:nvSpPr>
        <p:spPr>
          <a:xfrm>
            <a:off x="557784" y="1316736"/>
            <a:ext cx="5300319" cy="756919"/>
          </a:xfrm>
          <a:prstGeom prst="rect">
            <a:avLst/>
          </a:prstGeom>
          <a:noFill/>
        </p:spPr>
        <p:txBody>
          <a:bodyPr wrap="square" lIns="0" rIns="0" tIns="0" bIns="0" anchor="t">
            <a:spAutoFit/>
          </a:bodyPr>
          <a:lstStyle/>
          <a:p>
            <a:pPr algn="l">
              <a:lnSpc>
                <a:spcPct val="124000"/>
              </a:lnSpc>
              <a:spcAft>
                <a:spcPts val="500"/>
              </a:spcAft>
            </a:pPr>
            <a:r>
              <a:rPr sz="1000" b="0">
                <a:solidFill>
                  <a:srgbClr val="4A5566"/>
                </a:solidFill>
                <a:latin typeface="맑은 고딕"/>
                <a:ea typeface="맑은 고딕"/>
                <a:cs typeface="맑은 고딕"/>
              </a:rPr>
              <a:t>·  출하 정보는 수기·Excel로 관리되며, 출고서류도 수작업으로 작성되는 것으로 추정된다(확인 필요).</a:t>
            </a:r>
          </a:p>
          <a:p>
            <a:pPr algn="l">
              <a:lnSpc>
                <a:spcPct val="124000"/>
              </a:lnSpc>
              <a:spcAft>
                <a:spcPts val="500"/>
              </a:spcAft>
            </a:pPr>
            <a:r>
              <a:rPr sz="1000" b="0">
                <a:solidFill>
                  <a:srgbClr val="4A5566"/>
                </a:solidFill>
                <a:latin typeface="맑은 고딕"/>
                <a:ea typeface="맑은 고딕"/>
                <a:cs typeface="맑은 고딕"/>
              </a:rPr>
              <a:t>·  ERP 연계 방식(API/DB연동/Excel)이 아직 미확정 — 서류 자동화와 직결되는 선행 사안이다.</a:t>
            </a:r>
          </a:p>
        </p:txBody>
      </p:sp>
      <p:sp>
        <p:nvSpPr>
          <p:cNvPr id="13" name="Rectangle 12"/>
          <p:cNvSpPr/>
          <p:nvPr/>
        </p:nvSpPr>
        <p:spPr>
          <a:xfrm>
            <a:off x="6187287" y="932688"/>
            <a:ext cx="5592927" cy="1287271"/>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87287" y="932688"/>
            <a:ext cx="5592927"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7287" y="932688"/>
            <a:ext cx="45720" cy="1287271"/>
          </a:xfrm>
          <a:prstGeom prst="rect">
            <a:avLst/>
          </a:prstGeom>
          <a:solidFill>
            <a:srgbClr val="4E8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15303" y="982980"/>
            <a:ext cx="5336895"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TO-BE · 개선 후</a:t>
            </a:r>
          </a:p>
        </p:txBody>
      </p:sp>
      <p:sp>
        <p:nvSpPr>
          <p:cNvPr id="17" name="TextBox 16"/>
          <p:cNvSpPr txBox="1"/>
          <p:nvPr/>
        </p:nvSpPr>
        <p:spPr>
          <a:xfrm>
            <a:off x="6333591" y="1316736"/>
            <a:ext cx="5300319" cy="756919"/>
          </a:xfrm>
          <a:prstGeom prst="rect">
            <a:avLst/>
          </a:prstGeom>
          <a:noFill/>
        </p:spPr>
        <p:txBody>
          <a:bodyPr wrap="square" lIns="0" rIns="0" tIns="0" bIns="0" anchor="t">
            <a:spAutoFit/>
          </a:bodyPr>
          <a:lstStyle/>
          <a:p>
            <a:pPr algn="l">
              <a:lnSpc>
                <a:spcPct val="124000"/>
              </a:lnSpc>
              <a:spcAft>
                <a:spcPts val="500"/>
              </a:spcAft>
            </a:pPr>
            <a:r>
              <a:rPr sz="1000" b="0">
                <a:solidFill>
                  <a:srgbClr val="4A5566"/>
                </a:solidFill>
                <a:latin typeface="맑은 고딕"/>
                <a:ea typeface="맑은 고딕"/>
                <a:cs typeface="맑은 고딕"/>
              </a:rPr>
              <a:t>·  출하 승인이 완료되는 시점에 시스템이 출고서류를 자동 생성한다.</a:t>
            </a:r>
          </a:p>
          <a:p>
            <a:pPr algn="l">
              <a:lnSpc>
                <a:spcPct val="124000"/>
              </a:lnSpc>
              <a:spcAft>
                <a:spcPts val="500"/>
              </a:spcAft>
            </a:pPr>
            <a:r>
              <a:rPr sz="1000" b="0">
                <a:solidFill>
                  <a:srgbClr val="4A5566"/>
                </a:solidFill>
                <a:latin typeface="맑은 고딕"/>
                <a:ea typeface="맑은 고딕"/>
                <a:cs typeface="맑은 고딕"/>
              </a:rPr>
              <a:t>·  포장 시점의 바코드·중량 데이터가 출고서류에 자동 반영되는 구조를 지향한다.</a:t>
            </a:r>
          </a:p>
        </p:txBody>
      </p:sp>
      <p:sp>
        <p:nvSpPr>
          <p:cNvPr id="18" name="Rectangle 17"/>
          <p:cNvSpPr/>
          <p:nvPr/>
        </p:nvSpPr>
        <p:spPr>
          <a:xfrm>
            <a:off x="5885535" y="1448307"/>
            <a:ext cx="237744" cy="256032"/>
          </a:xfrm>
          <a:prstGeom prst="rect">
            <a:avLst/>
          </a:prstGeom>
          <a:solidFill>
            <a:srgbClr val="2F6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85535" y="1484883"/>
            <a:ext cx="237744" cy="182880"/>
          </a:xfrm>
          <a:prstGeom prst="rect">
            <a:avLst/>
          </a:prstGeom>
          <a:noFill/>
        </p:spPr>
        <p:txBody>
          <a:bodyPr wrap="square" lIns="0" rIns="0" tIns="0" bIns="0" anchor="t">
            <a:spAutoFit/>
          </a:bodyPr>
          <a:lstStyle/>
          <a:p>
            <a:pPr algn="ctr">
              <a:spcAft>
                <a:spcPts val="0"/>
              </a:spcAft>
            </a:pPr>
            <a:r>
              <a:rPr sz="1100" b="1">
                <a:solidFill>
                  <a:srgbClr val="FFFFFF"/>
                </a:solidFill>
                <a:latin typeface="맑은 고딕"/>
                <a:ea typeface="맑은 고딕"/>
                <a:cs typeface="맑은 고딕"/>
              </a:rPr>
              <a:t>▶</a:t>
            </a:r>
          </a:p>
        </p:txBody>
      </p:sp>
      <p:sp>
        <p:nvSpPr>
          <p:cNvPr id="20" name="Rectangle 19"/>
          <p:cNvSpPr/>
          <p:nvPr/>
        </p:nvSpPr>
        <p:spPr>
          <a:xfrm>
            <a:off x="411480" y="2421128"/>
            <a:ext cx="11368735" cy="1611122"/>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 y="2421128"/>
            <a:ext cx="11368735"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2421128"/>
            <a:ext cx="45720" cy="161112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9496" y="2471420"/>
            <a:ext cx="11112703"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설계로 풀어낸 방식</a:t>
            </a:r>
          </a:p>
        </p:txBody>
      </p:sp>
      <p:sp>
        <p:nvSpPr>
          <p:cNvPr id="24" name="TextBox 23"/>
          <p:cNvSpPr txBox="1"/>
          <p:nvPr/>
        </p:nvSpPr>
        <p:spPr>
          <a:xfrm>
            <a:off x="557784" y="2805176"/>
            <a:ext cx="11076127" cy="1080770"/>
          </a:xfrm>
          <a:prstGeom prst="rect">
            <a:avLst/>
          </a:prstGeom>
          <a:noFill/>
        </p:spPr>
        <p:txBody>
          <a:bodyPr wrap="square" lIns="0" rIns="0" tIns="0" bIns="0" anchor="t">
            <a:spAutoFit/>
          </a:bodyPr>
          <a:lstStyle/>
          <a:p>
            <a:pPr algn="l">
              <a:lnSpc>
                <a:spcPct val="124000"/>
              </a:lnSpc>
              <a:spcAft>
                <a:spcPts val="500"/>
              </a:spcAft>
            </a:pPr>
            <a:r>
              <a:rPr sz="1050" b="0">
                <a:solidFill>
                  <a:srgbClr val="4A5566"/>
                </a:solidFill>
                <a:latin typeface="맑은 고딕"/>
                <a:ea typeface="맑은 고딕"/>
                <a:cs typeface="맑은 고딕"/>
              </a:rPr>
              <a:t>·  양식과 발행이력을 나눴다 — SHP_DOCUMENT_TEMPLATES가 서류 종류별 양식과 포함 항목 매핑(FIELD_MAP)을 들고, SHP_DOCUMENTS가 발행 건별 이력을 쌓는다. 양식이 바뀌어도 과거 발행분은 그대로 남는다.</a:t>
            </a:r>
          </a:p>
          <a:p>
            <a:pPr algn="l">
              <a:lnSpc>
                <a:spcPct val="124000"/>
              </a:lnSpc>
              <a:spcAft>
                <a:spcPts val="500"/>
              </a:spcAft>
            </a:pPr>
            <a:r>
              <a:rPr sz="1050" b="0">
                <a:solidFill>
                  <a:srgbClr val="4A5566"/>
                </a:solidFill>
                <a:latin typeface="맑은 고딕"/>
                <a:ea typeface="맑은 고딕"/>
                <a:cs typeface="맑은 고딕"/>
              </a:rPr>
              <a:t>·  '바코드·중량 자동 반영'은 SHP_DOCUMENTS의 TOTAL_WEIGHT·BARCODE_NO가 포장 시점 SHP_PACKINGS에서 채워지는 구조로 잡았다.</a:t>
            </a:r>
          </a:p>
          <a:p>
            <a:pPr algn="l">
              <a:lnSpc>
                <a:spcPct val="124000"/>
              </a:lnSpc>
              <a:spcAft>
                <a:spcPts val="500"/>
              </a:spcAft>
            </a:pPr>
            <a:r>
              <a:rPr sz="1050" b="0">
                <a:solidFill>
                  <a:srgbClr val="4A5566"/>
                </a:solidFill>
                <a:latin typeface="맑은 고딕"/>
                <a:ea typeface="맑은 고딕"/>
                <a:cs typeface="맑은 고딕"/>
              </a:rPr>
              <a:t>·  품질성적서는 SHP_INSPECTIONS(검사결과관리)가, 거래명세서는 SHP_SHIPMENT_ITEMS가 근거가 된다 — 해당 데이터가 등록되지 않으면 그 서류는 발행되지 않는다.</a:t>
            </a:r>
          </a:p>
          <a:p>
            <a:pPr algn="l">
              <a:lnSpc>
                <a:spcPct val="124000"/>
              </a:lnSpc>
              <a:spcAft>
                <a:spcPts val="500"/>
              </a:spcAft>
            </a:pPr>
            <a:r>
              <a:rPr sz="1050" b="0">
                <a:solidFill>
                  <a:srgbClr val="4A5566"/>
                </a:solidFill>
                <a:latin typeface="맑은 고딕"/>
                <a:ea typeface="맑은 고딕"/>
                <a:cs typeface="맑은 고딕"/>
              </a:rPr>
              <a:t>·  기존 출하관리(MES-AD2-014)의 범위를 넓히는 것이므로 기능대비표 구분은 '추가'가 아니라 '변경'으로 판정했다.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3. 출고서류 발행</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화면 · 프로그램</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SF-TD3 화면설계서 / SF-TD4</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932688"/>
            <a:ext cx="6991772" cy="3401568"/>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d3-MES-TD3-045.png"/>
          <p:cNvPicPr>
            <a:picLocks noChangeAspect="1"/>
          </p:cNvPicPr>
          <p:nvPr/>
        </p:nvPicPr>
        <p:blipFill>
          <a:blip r:embed="rId2"/>
          <a:stretch>
            <a:fillRect/>
          </a:stretch>
        </p:blipFill>
        <p:spPr>
          <a:xfrm>
            <a:off x="990545" y="987552"/>
            <a:ext cx="5833640" cy="3291840"/>
          </a:xfrm>
          <a:prstGeom prst="rect">
            <a:avLst/>
          </a:prstGeom>
        </p:spPr>
      </p:pic>
      <p:sp>
        <p:nvSpPr>
          <p:cNvPr id="10" name="TextBox 9"/>
          <p:cNvSpPr txBox="1"/>
          <p:nvPr/>
        </p:nvSpPr>
        <p:spPr>
          <a:xfrm>
            <a:off x="411480" y="4389120"/>
            <a:ext cx="6991772" cy="219456"/>
          </a:xfrm>
          <a:prstGeom prst="rect">
            <a:avLst/>
          </a:prstGeom>
          <a:noFill/>
        </p:spPr>
        <p:txBody>
          <a:bodyPr wrap="square" lIns="0" rIns="0" tIns="0" bIns="0" anchor="t">
            <a:spAutoFit/>
          </a:bodyPr>
          <a:lstStyle/>
          <a:p>
            <a:pPr algn="l">
              <a:spcAft>
                <a:spcPts val="0"/>
              </a:spcAft>
            </a:pPr>
            <a:r>
              <a:rPr sz="850" b="0">
                <a:solidFill>
                  <a:srgbClr val="7A8598"/>
                </a:solidFill>
                <a:latin typeface="맑은 고딕"/>
                <a:ea typeface="맑은 고딕"/>
                <a:cs typeface="맑은 고딕"/>
              </a:rPr>
              <a:t>MES-TD3-045 출고서류 발행 화면 목업 — 설계 기준 와이어프레임이며 그리드·차트 수치는 예시값이다</a:t>
            </a:r>
          </a:p>
        </p:txBody>
      </p:sp>
      <p:sp>
        <p:nvSpPr>
          <p:cNvPr id="11" name="Rectangle 10"/>
          <p:cNvSpPr/>
          <p:nvPr/>
        </p:nvSpPr>
        <p:spPr>
          <a:xfrm>
            <a:off x="7586132" y="932688"/>
            <a:ext cx="4194083" cy="2103120"/>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586132" y="932688"/>
            <a:ext cx="4194083"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6132" y="932688"/>
            <a:ext cx="45720" cy="21031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14148" y="982980"/>
            <a:ext cx="3938051"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화면 정보</a:t>
            </a:r>
          </a:p>
        </p:txBody>
      </p:sp>
      <p:sp>
        <p:nvSpPr>
          <p:cNvPr id="15" name="TextBox 14"/>
          <p:cNvSpPr txBox="1"/>
          <p:nvPr/>
        </p:nvSpPr>
        <p:spPr>
          <a:xfrm>
            <a:off x="7732436" y="1316736"/>
            <a:ext cx="86868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화면ID</a:t>
            </a:r>
          </a:p>
        </p:txBody>
      </p:sp>
      <p:sp>
        <p:nvSpPr>
          <p:cNvPr id="16" name="TextBox 15"/>
          <p:cNvSpPr txBox="1"/>
          <p:nvPr/>
        </p:nvSpPr>
        <p:spPr>
          <a:xfrm>
            <a:off x="8646836" y="1316736"/>
            <a:ext cx="2987075" cy="530352"/>
          </a:xfrm>
          <a:prstGeom prst="rect">
            <a:avLst/>
          </a:prstGeom>
          <a:noFill/>
        </p:spPr>
        <p:txBody>
          <a:bodyPr wrap="square" lIns="0" rIns="0" tIns="0" bIns="0" anchor="t">
            <a:spAutoFit/>
          </a:bodyPr>
          <a:lstStyle/>
          <a:p>
            <a:pPr algn="l">
              <a:lnSpc>
                <a:spcPct val="122000"/>
              </a:lnSpc>
              <a:spcAft>
                <a:spcPts val="0"/>
              </a:spcAft>
            </a:pPr>
            <a:r>
              <a:rPr sz="950" b="1">
                <a:solidFill>
                  <a:srgbClr val="1F3864"/>
                </a:solidFill>
                <a:latin typeface="맑은 고딕"/>
                <a:ea typeface="맑은 고딕"/>
                <a:cs typeface="맑은 고딕"/>
              </a:rPr>
              <a:t>MES-TD3-045</a:t>
            </a:r>
          </a:p>
        </p:txBody>
      </p:sp>
      <p:sp>
        <p:nvSpPr>
          <p:cNvPr id="17" name="TextBox 16"/>
          <p:cNvSpPr txBox="1"/>
          <p:nvPr/>
        </p:nvSpPr>
        <p:spPr>
          <a:xfrm>
            <a:off x="7732436" y="1883664"/>
            <a:ext cx="86868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화면 경로</a:t>
            </a:r>
          </a:p>
        </p:txBody>
      </p:sp>
      <p:sp>
        <p:nvSpPr>
          <p:cNvPr id="18" name="TextBox 17"/>
          <p:cNvSpPr txBox="1"/>
          <p:nvPr/>
        </p:nvSpPr>
        <p:spPr>
          <a:xfrm>
            <a:off x="8646836" y="1883664"/>
            <a:ext cx="2987075" cy="530352"/>
          </a:xfrm>
          <a:prstGeom prst="rect">
            <a:avLst/>
          </a:prstGeom>
          <a:noFill/>
        </p:spPr>
        <p:txBody>
          <a:bodyPr wrap="square" lIns="0" rIns="0" tIns="0" bIns="0" anchor="t">
            <a:spAutoFit/>
          </a:bodyPr>
          <a:lstStyle/>
          <a:p>
            <a:pPr algn="l">
              <a:lnSpc>
                <a:spcPct val="122000"/>
              </a:lnSpc>
              <a:spcAft>
                <a:spcPts val="0"/>
              </a:spcAft>
            </a:pPr>
            <a:r>
              <a:rPr sz="950" b="0">
                <a:solidFill>
                  <a:srgbClr val="4A5566"/>
                </a:solidFill>
                <a:latin typeface="맑은 고딕"/>
                <a:ea typeface="맑은 고딕"/>
                <a:cs typeface="맑은 고딕"/>
              </a:rPr>
              <a:t>로그인 &gt; 포장출하관리 &gt; 출고서류 발행</a:t>
            </a:r>
          </a:p>
        </p:txBody>
      </p:sp>
      <p:sp>
        <p:nvSpPr>
          <p:cNvPr id="19" name="TextBox 18"/>
          <p:cNvSpPr txBox="1"/>
          <p:nvPr/>
        </p:nvSpPr>
        <p:spPr>
          <a:xfrm>
            <a:off x="7732436" y="2450591"/>
            <a:ext cx="868680" cy="182880"/>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적용 채널</a:t>
            </a:r>
          </a:p>
        </p:txBody>
      </p:sp>
      <p:sp>
        <p:nvSpPr>
          <p:cNvPr id="20" name="TextBox 19"/>
          <p:cNvSpPr txBox="1"/>
          <p:nvPr/>
        </p:nvSpPr>
        <p:spPr>
          <a:xfrm>
            <a:off x="8646836" y="2450591"/>
            <a:ext cx="2987075" cy="530352"/>
          </a:xfrm>
          <a:prstGeom prst="rect">
            <a:avLst/>
          </a:prstGeom>
          <a:noFill/>
        </p:spPr>
        <p:txBody>
          <a:bodyPr wrap="square" lIns="0" rIns="0" tIns="0" bIns="0" anchor="t">
            <a:spAutoFit/>
          </a:bodyPr>
          <a:lstStyle/>
          <a:p>
            <a:pPr algn="l">
              <a:lnSpc>
                <a:spcPct val="122000"/>
              </a:lnSpc>
              <a:spcAft>
                <a:spcPts val="0"/>
              </a:spcAft>
            </a:pPr>
            <a:r>
              <a:rPr sz="950" b="0">
                <a:solidFill>
                  <a:srgbClr val="4A5566"/>
                </a:solidFill>
                <a:latin typeface="맑은 고딕"/>
                <a:ea typeface="맑은 고딕"/>
                <a:cs typeface="맑은 고딕"/>
              </a:rPr>
              <a:t>관리자 Web, 문서 프린터, 이메일 발송 / 출하·포장·검사 데이터, ERP 양식</a:t>
            </a:r>
          </a:p>
        </p:txBody>
      </p:sp>
      <p:sp>
        <p:nvSpPr>
          <p:cNvPr id="21" name="Rectangle 20"/>
          <p:cNvSpPr/>
          <p:nvPr/>
        </p:nvSpPr>
        <p:spPr>
          <a:xfrm>
            <a:off x="7586132" y="3218688"/>
            <a:ext cx="4194083" cy="3255264"/>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86132" y="3218688"/>
            <a:ext cx="4194083"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86132" y="3218688"/>
            <a:ext cx="45720" cy="3255264"/>
          </a:xfrm>
          <a:prstGeom prst="rect">
            <a:avLst/>
          </a:prstGeom>
          <a:solidFill>
            <a:srgbClr val="2F6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14148" y="3268980"/>
            <a:ext cx="3938051"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프로그램 MES-TD4-049</a:t>
            </a:r>
          </a:p>
        </p:txBody>
      </p:sp>
      <p:sp>
        <p:nvSpPr>
          <p:cNvPr id="25" name="TextBox 24"/>
          <p:cNvSpPr txBox="1"/>
          <p:nvPr/>
        </p:nvSpPr>
        <p:spPr>
          <a:xfrm>
            <a:off x="7732436" y="3602736"/>
            <a:ext cx="3901475" cy="182880"/>
          </a:xfrm>
          <a:prstGeom prst="rect">
            <a:avLst/>
          </a:prstGeom>
          <a:noFill/>
        </p:spPr>
        <p:txBody>
          <a:bodyPr wrap="square" lIns="0" rIns="0" tIns="0" bIns="0" anchor="t">
            <a:spAutoFit/>
          </a:bodyPr>
          <a:lstStyle/>
          <a:p>
            <a:pPr algn="l">
              <a:spcAft>
                <a:spcPts val="0"/>
              </a:spcAft>
            </a:pPr>
            <a:r>
              <a:rPr sz="950" b="1">
                <a:solidFill>
                  <a:srgbClr val="162848"/>
                </a:solidFill>
                <a:latin typeface="맑은 고딕"/>
                <a:ea typeface="맑은 고딕"/>
                <a:cs typeface="맑은 고딕"/>
              </a:rPr>
              <a:t>처리 흐름</a:t>
            </a:r>
          </a:p>
        </p:txBody>
      </p:sp>
      <p:sp>
        <p:nvSpPr>
          <p:cNvPr id="26" name="TextBox 25"/>
          <p:cNvSpPr txBox="1"/>
          <p:nvPr/>
        </p:nvSpPr>
        <p:spPr>
          <a:xfrm>
            <a:off x="7732436" y="3840480"/>
            <a:ext cx="3901475" cy="2468880"/>
          </a:xfrm>
          <a:prstGeom prst="rect">
            <a:avLst/>
          </a:prstGeom>
          <a:noFill/>
        </p:spPr>
        <p:txBody>
          <a:bodyPr wrap="square" lIns="0" rIns="0" tIns="0" bIns="0" anchor="t">
            <a:spAutoFit/>
          </a:bodyPr>
          <a:lstStyle/>
          <a:p>
            <a:pPr algn="l">
              <a:lnSpc>
                <a:spcPct val="126000"/>
              </a:lnSpc>
              <a:spcAft>
                <a:spcPts val="0"/>
              </a:spcAft>
            </a:pPr>
            <a:r>
              <a:rPr sz="900" b="0">
                <a:solidFill>
                  <a:srgbClr val="4A5566"/>
                </a:solidFill>
                <a:latin typeface="맑은 고딕"/>
                <a:ea typeface="맑은 고딕"/>
                <a:cs typeface="맑은 고딕"/>
              </a:rPr>
              <a:t>관리자 Web → 출고서류 API → SHP_SHIPMENTS 승인 상태 확인 → SHP_DOCUMENT_TEMPLATES 양식 선택 → SHP_SHIPMENT_ITEMS·SHP_PACKINGS(바코드·중량)·SHP_INSPECTIONS 병합 → PDF 생성 → SHP_DOCUMENTS 발행이력 기록 → 다운로드·인쇄·이메일 발송</a:t>
            </a:r>
          </a:p>
        </p:txBody>
      </p:sp>
      <p:sp>
        <p:nvSpPr>
          <p:cNvPr id="27" name="Rectangle 26"/>
          <p:cNvSpPr/>
          <p:nvPr/>
        </p:nvSpPr>
        <p:spPr>
          <a:xfrm>
            <a:off x="411480" y="4681727"/>
            <a:ext cx="6991772" cy="1234440"/>
          </a:xfrm>
          <a:prstGeom prst="rect">
            <a:avLst/>
          </a:prstGeom>
          <a:solidFill>
            <a:srgbClr val="FFFFFF"/>
          </a:solidFill>
          <a:ln w="9525">
            <a:solidFill>
              <a:srgbClr val="D5DA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 y="4681727"/>
            <a:ext cx="6991772" cy="27432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4681727"/>
            <a:ext cx="45720" cy="1234440"/>
          </a:xfrm>
          <a:prstGeom prst="rect">
            <a:avLst/>
          </a:prstGeom>
          <a:solidFill>
            <a:srgbClr val="4E8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9496" y="4732019"/>
            <a:ext cx="6735740" cy="182880"/>
          </a:xfrm>
          <a:prstGeom prst="rect">
            <a:avLst/>
          </a:prstGeom>
          <a:noFill/>
        </p:spPr>
        <p:txBody>
          <a:bodyPr wrap="square" lIns="0" rIns="0" tIns="0" bIns="0" anchor="t">
            <a:spAutoFit/>
          </a:bodyPr>
          <a:lstStyle/>
          <a:p>
            <a:pPr algn="l">
              <a:spcAft>
                <a:spcPts val="0"/>
              </a:spcAft>
            </a:pPr>
            <a:r>
              <a:rPr sz="1050" b="1">
                <a:solidFill>
                  <a:srgbClr val="162848"/>
                </a:solidFill>
                <a:latin typeface="맑은 고딕"/>
                <a:ea typeface="맑은 고딕"/>
                <a:cs typeface="맑은 고딕"/>
              </a:rPr>
              <a:t>화면 구성 · 처리 절차</a:t>
            </a:r>
          </a:p>
        </p:txBody>
      </p:sp>
      <p:sp>
        <p:nvSpPr>
          <p:cNvPr id="31" name="TextBox 30"/>
          <p:cNvSpPr txBox="1"/>
          <p:nvPr/>
        </p:nvSpPr>
        <p:spPr>
          <a:xfrm>
            <a:off x="557784" y="5065775"/>
            <a:ext cx="6699164" cy="704088"/>
          </a:xfrm>
          <a:prstGeom prst="rect">
            <a:avLst/>
          </a:prstGeom>
          <a:noFill/>
        </p:spPr>
        <p:txBody>
          <a:bodyPr wrap="square" lIns="0" rIns="0" tIns="0" bIns="0" anchor="t">
            <a:spAutoFit/>
          </a:bodyPr>
          <a:lstStyle/>
          <a:p>
            <a:pPr algn="l">
              <a:lnSpc>
                <a:spcPct val="126000"/>
              </a:lnSpc>
              <a:spcAft>
                <a:spcPts val="500"/>
              </a:spcAft>
            </a:pPr>
            <a:r>
              <a:rPr sz="900" b="0">
                <a:solidFill>
                  <a:srgbClr val="4A5566"/>
                </a:solidFill>
                <a:latin typeface="맑은 고딕"/>
                <a:ea typeface="맑은 고딕"/>
                <a:cs typeface="맑은 고딕"/>
              </a:rPr>
              <a:t>&lt;기존화면&gt; 수기·Excel 출고서류 작성 &lt;신규화면&gt; 상단 조회조건(출하일자·고객사·서류종류·발행상태), 중앙 발행이력 그리드, 우측 설명 패널로 구성. 출하 승인 시점에 자동 생성된 서류를 목록에서 내려받거나 재발행</a:t>
            </a:r>
          </a:p>
          <a:p>
            <a:pPr algn="l">
              <a:lnSpc>
                <a:spcPct val="126000"/>
              </a:lnSpc>
              <a:spcAft>
                <a:spcPts val="500"/>
              </a:spcAft>
            </a:pPr>
            <a:r>
              <a:rPr sz="900" b="0">
                <a:solidFill>
                  <a:srgbClr val="4A5566"/>
                </a:solidFill>
                <a:latin typeface="맑은 고딕"/>
                <a:ea typeface="맑은 고딕"/>
                <a:cs typeface="맑은 고딕"/>
              </a:rPr>
              <a:t>프로세스경로: 출하 승인 완료 감지 → 서류 양식 선택(거래명세서·출하증명서·품질성적서) → 출하·포장·검사 데이터 및 바코드·중량 자동 반영 → PDF 생성 → 발행이력 기록 → 다운로드·인쇄·이메일 발송</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3. 출고서류 발행</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필요데이터 — 테이블 목록</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SF-TD5 데이터베이스설계서</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411480" y="932688"/>
          <a:ext cx="11375136" cy="2169414"/>
        </p:xfrm>
        <a:graphic>
          <a:graphicData uri="http://schemas.openxmlformats.org/drawingml/2006/table">
            <a:tbl>
              <a:tblPr firstRow="1" bandRow="1">
                <a:tableStyleId>{5C22544A-7EE6-4342-B048-85BDC9FD1C3A}</a:tableStyleId>
              </a:tblPr>
              <a:tblGrid>
                <a:gridCol w="2651760"/>
                <a:gridCol w="1920240"/>
                <a:gridCol w="1737360"/>
                <a:gridCol w="777240"/>
                <a:gridCol w="731520"/>
                <a:gridCol w="3557016"/>
              </a:tblGrid>
              <a:tr h="310896">
                <a:tc>
                  <a:txBody>
                    <a:bodyPr wrap="square"/>
                    <a:lstStyle/>
                    <a:p>
                      <a:pPr algn="l"/>
                      <a:r>
                        <a:rPr sz="1050" b="1">
                          <a:solidFill>
                            <a:srgbClr val="1F3864"/>
                          </a:solidFill>
                          <a:latin typeface="맑은 고딕"/>
                          <a:ea typeface="맑은 고딕"/>
                          <a:cs typeface="맑은 고딕"/>
                        </a:rPr>
                        <a:t>테이블명</a:t>
                      </a:r>
                    </a:p>
                  </a:txBody>
                  <a:tcPr marL="54864" marR="54864" marT="18288" marB="18288" anchor="ctr">
                    <a:solidFill>
                      <a:srgbClr val="F2F5FA"/>
                    </a:solidFill>
                  </a:tcPr>
                </a:tc>
                <a:tc>
                  <a:txBody>
                    <a:bodyPr wrap="square"/>
                    <a:lstStyle/>
                    <a:p>
                      <a:pPr algn="l"/>
                      <a:r>
                        <a:rPr sz="1050" b="1">
                          <a:solidFill>
                            <a:srgbClr val="1F3864"/>
                          </a:solidFill>
                          <a:latin typeface="맑은 고딕"/>
                          <a:ea typeface="맑은 고딕"/>
                          <a:cs typeface="맑은 고딕"/>
                        </a:rPr>
                        <a:t>한글명</a:t>
                      </a:r>
                    </a:p>
                  </a:txBody>
                  <a:tcPr marL="54864" marR="54864" marT="18288" marB="18288" anchor="ctr">
                    <a:solidFill>
                      <a:srgbClr val="F2F5FA"/>
                    </a:solidFill>
                  </a:tcPr>
                </a:tc>
                <a:tc>
                  <a:txBody>
                    <a:bodyPr wrap="square"/>
                    <a:lstStyle/>
                    <a:p>
                      <a:pPr algn="l"/>
                      <a:r>
                        <a:rPr sz="1050" b="1">
                          <a:solidFill>
                            <a:srgbClr val="1F3864"/>
                          </a:solidFill>
                          <a:latin typeface="맑은 고딕"/>
                          <a:ea typeface="맑은 고딕"/>
                          <a:cs typeface="맑은 고딕"/>
                        </a:rPr>
                        <a:t>업무영역</a:t>
                      </a:r>
                    </a:p>
                  </a:txBody>
                  <a:tcPr marL="54864" marR="54864" marT="18288" marB="18288" anchor="ctr">
                    <a:solidFill>
                      <a:srgbClr val="F2F5FA"/>
                    </a:solidFill>
                  </a:tcPr>
                </a:tc>
                <a:tc>
                  <a:txBody>
                    <a:bodyPr wrap="square"/>
                    <a:lstStyle/>
                    <a:p>
                      <a:pPr algn="ctr"/>
                      <a:r>
                        <a:rPr sz="1050" b="1">
                          <a:solidFill>
                            <a:srgbClr val="1F3864"/>
                          </a:solidFill>
                          <a:latin typeface="맑은 고딕"/>
                          <a:ea typeface="맑은 고딕"/>
                          <a:cs typeface="맑은 고딕"/>
                        </a:rPr>
                        <a:t>구분</a:t>
                      </a:r>
                    </a:p>
                  </a:txBody>
                  <a:tcPr marL="54864" marR="54864" marT="18288" marB="18288" anchor="ctr">
                    <a:solidFill>
                      <a:srgbClr val="F2F5FA"/>
                    </a:solidFill>
                  </a:tcPr>
                </a:tc>
                <a:tc>
                  <a:txBody>
                    <a:bodyPr wrap="square"/>
                    <a:lstStyle/>
                    <a:p>
                      <a:pPr algn="ctr"/>
                      <a:r>
                        <a:rPr sz="1050" b="1">
                          <a:solidFill>
                            <a:srgbClr val="1F3864"/>
                          </a:solidFill>
                          <a:latin typeface="맑은 고딕"/>
                          <a:ea typeface="맑은 고딕"/>
                          <a:cs typeface="맑은 고딕"/>
                        </a:rPr>
                        <a:t>컬럼</a:t>
                      </a:r>
                    </a:p>
                  </a:txBody>
                  <a:tcPr marL="54864" marR="54864" marT="18288" marB="18288" anchor="ctr">
                    <a:solidFill>
                      <a:srgbClr val="F2F5FA"/>
                    </a:solidFill>
                  </a:tcPr>
                </a:tc>
                <a:tc>
                  <a:txBody>
                    <a:bodyPr wrap="square"/>
                    <a:lstStyle/>
                    <a:p>
                      <a:pPr algn="l"/>
                      <a:r>
                        <a:rPr sz="1050" b="1">
                          <a:solidFill>
                            <a:srgbClr val="1F3864"/>
                          </a:solidFill>
                          <a:latin typeface="맑은 고딕"/>
                          <a:ea typeface="맑은 고딕"/>
                          <a:cs typeface="맑은 고딕"/>
                        </a:rPr>
                        <a:t>비고</a:t>
                      </a:r>
                    </a:p>
                  </a:txBody>
                  <a:tcPr marL="54864" marR="54864" marT="18288" marB="18288" anchor="ctr">
                    <a:solidFill>
                      <a:srgbClr val="F2F5FA"/>
                    </a:solidFill>
                  </a:tcPr>
                </a:tc>
              </a:tr>
              <a:tr h="380619">
                <a:tc>
                  <a:txBody>
                    <a:bodyPr wrap="square"/>
                    <a:lstStyle/>
                    <a:p>
                      <a:pPr algn="l"/>
                      <a:r>
                        <a:rPr sz="950" b="1">
                          <a:solidFill>
                            <a:srgbClr val="1F3864"/>
                          </a:solidFill>
                          <a:latin typeface="맑은 고딕"/>
                          <a:ea typeface="맑은 고딕"/>
                          <a:cs typeface="맑은 고딕"/>
                        </a:rPr>
                        <a:t>SHP_DOCUMENTS</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출고서류발행</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포장출하관리</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신규</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16</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킥오프 신규 요구사항 MES-AD2-065 근거 / 참조 프로그램 1건</a:t>
                      </a:r>
                    </a:p>
                  </a:txBody>
                  <a:tcPr marL="54864" marR="54864" marT="18288" marB="18288" anchor="ctr">
                    <a:solidFill>
                      <a:srgbClr val="FFFFFF"/>
                    </a:solidFill>
                  </a:tcPr>
                </a:tc>
              </a:tr>
              <a:tr h="380619">
                <a:tc>
                  <a:txBody>
                    <a:bodyPr wrap="square"/>
                    <a:lstStyle/>
                    <a:p>
                      <a:pPr algn="l"/>
                      <a:r>
                        <a:rPr sz="950" b="1">
                          <a:solidFill>
                            <a:srgbClr val="1F3864"/>
                          </a:solidFill>
                          <a:latin typeface="맑은 고딕"/>
                          <a:ea typeface="맑은 고딕"/>
                          <a:cs typeface="맑은 고딕"/>
                        </a:rPr>
                        <a:t>SHP_DOCUMENT_TEMPLATES</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출고서류양식</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포장출하관리</a:t>
                      </a:r>
                    </a:p>
                  </a:txBody>
                  <a:tcPr marL="54864" marR="54864" marT="18288" marB="18288" anchor="ctr">
                    <a:solidFill>
                      <a:srgbClr val="FAFBFD"/>
                    </a:solidFill>
                  </a:tcPr>
                </a:tc>
                <a:tc>
                  <a:txBody>
                    <a:bodyPr wrap="square"/>
                    <a:lstStyle/>
                    <a:p>
                      <a:pPr algn="ctr"/>
                      <a:r>
                        <a:rPr sz="950" b="0">
                          <a:solidFill>
                            <a:srgbClr val="4A5566"/>
                          </a:solidFill>
                          <a:latin typeface="맑은 고딕"/>
                          <a:ea typeface="맑은 고딕"/>
                          <a:cs typeface="맑은 고딕"/>
                        </a:rPr>
                        <a:t>신규</a:t>
                      </a:r>
                    </a:p>
                  </a:txBody>
                  <a:tcPr marL="54864" marR="54864" marT="18288" marB="18288" anchor="ctr">
                    <a:solidFill>
                      <a:srgbClr val="FAFBFD"/>
                    </a:solidFill>
                  </a:tcPr>
                </a:tc>
                <a:tc>
                  <a:txBody>
                    <a:bodyPr wrap="square"/>
                    <a:lstStyle/>
                    <a:p>
                      <a:pPr algn="ctr"/>
                      <a:r>
                        <a:rPr sz="950" b="0">
                          <a:solidFill>
                            <a:srgbClr val="4A5566"/>
                          </a:solidFill>
                          <a:latin typeface="맑은 고딕"/>
                          <a:ea typeface="맑은 고딕"/>
                          <a:cs typeface="맑은 고딕"/>
                        </a:rPr>
                        <a:t>10</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킥오프 신규 요구사항 MES-AD2-065 근거 / 참조 프로그램 1건</a:t>
                      </a:r>
                    </a:p>
                  </a:txBody>
                  <a:tcPr marL="54864" marR="54864" marT="18288" marB="18288" anchor="ctr">
                    <a:solidFill>
                      <a:srgbClr val="FAFBFD"/>
                    </a:solidFill>
                  </a:tcPr>
                </a:tc>
              </a:tr>
              <a:tr h="274320">
                <a:tc>
                  <a:txBody>
                    <a:bodyPr wrap="square"/>
                    <a:lstStyle/>
                    <a:p>
                      <a:pPr algn="l"/>
                      <a:r>
                        <a:rPr sz="950" b="1">
                          <a:solidFill>
                            <a:srgbClr val="1F3864"/>
                          </a:solidFill>
                          <a:latin typeface="맑은 고딕"/>
                          <a:ea typeface="맑은 고딕"/>
                          <a:cs typeface="맑은 고딕"/>
                        </a:rPr>
                        <a:t>SHP_SHIPMENTS</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출하</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포장출하관리</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기존</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10</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기존 설계서에 정의됨 — 읽기 참조</a:t>
                      </a:r>
                    </a:p>
                  </a:txBody>
                  <a:tcPr marL="54864" marR="54864" marT="18288" marB="18288" anchor="ctr">
                    <a:solidFill>
                      <a:srgbClr val="FFFFFF"/>
                    </a:solidFill>
                  </a:tcPr>
                </a:tc>
              </a:tr>
              <a:tr h="274320">
                <a:tc>
                  <a:txBody>
                    <a:bodyPr wrap="square"/>
                    <a:lstStyle/>
                    <a:p>
                      <a:pPr algn="l"/>
                      <a:r>
                        <a:rPr sz="950" b="1">
                          <a:solidFill>
                            <a:srgbClr val="1F3864"/>
                          </a:solidFill>
                          <a:latin typeface="맑은 고딕"/>
                          <a:ea typeface="맑은 고딕"/>
                          <a:cs typeface="맑은 고딕"/>
                        </a:rPr>
                        <a:t>SHP_SHIPMENT_ITEMS</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출하품목</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포장출하관리</a:t>
                      </a:r>
                    </a:p>
                  </a:txBody>
                  <a:tcPr marL="54864" marR="54864" marT="18288" marB="18288" anchor="ctr">
                    <a:solidFill>
                      <a:srgbClr val="FAFBFD"/>
                    </a:solidFill>
                  </a:tcPr>
                </a:tc>
                <a:tc>
                  <a:txBody>
                    <a:bodyPr wrap="square"/>
                    <a:lstStyle/>
                    <a:p>
                      <a:pPr algn="ctr"/>
                      <a:r>
                        <a:rPr sz="950" b="0">
                          <a:solidFill>
                            <a:srgbClr val="4A5566"/>
                          </a:solidFill>
                          <a:latin typeface="맑은 고딕"/>
                          <a:ea typeface="맑은 고딕"/>
                          <a:cs typeface="맑은 고딕"/>
                        </a:rPr>
                        <a:t>기존</a:t>
                      </a:r>
                    </a:p>
                  </a:txBody>
                  <a:tcPr marL="54864" marR="54864" marT="18288" marB="18288" anchor="ctr">
                    <a:solidFill>
                      <a:srgbClr val="FAFBFD"/>
                    </a:solidFill>
                  </a:tcPr>
                </a:tc>
                <a:tc>
                  <a:txBody>
                    <a:bodyPr wrap="square"/>
                    <a:lstStyle/>
                    <a:p>
                      <a:pPr algn="ctr"/>
                      <a:r>
                        <a:rPr sz="950" b="0">
                          <a:solidFill>
                            <a:srgbClr val="4A5566"/>
                          </a:solidFill>
                          <a:latin typeface="맑은 고딕"/>
                          <a:ea typeface="맑은 고딕"/>
                          <a:cs typeface="맑은 고딕"/>
                        </a:rPr>
                        <a:t>8</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기존 설계서에 정의됨 — 읽기 참조</a:t>
                      </a:r>
                    </a:p>
                  </a:txBody>
                  <a:tcPr marL="54864" marR="54864" marT="18288" marB="18288" anchor="ctr">
                    <a:solidFill>
                      <a:srgbClr val="FAFBFD"/>
                    </a:solidFill>
                  </a:tcPr>
                </a:tc>
              </a:tr>
              <a:tr h="274320">
                <a:tc>
                  <a:txBody>
                    <a:bodyPr wrap="square"/>
                    <a:lstStyle/>
                    <a:p>
                      <a:pPr algn="l"/>
                      <a:r>
                        <a:rPr sz="950" b="1">
                          <a:solidFill>
                            <a:srgbClr val="1F3864"/>
                          </a:solidFill>
                          <a:latin typeface="맑은 고딕"/>
                          <a:ea typeface="맑은 고딕"/>
                          <a:cs typeface="맑은 고딕"/>
                        </a:rPr>
                        <a:t>SHP_PACKINGS</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포장</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포장출하관리</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기존</a:t>
                      </a:r>
                    </a:p>
                  </a:txBody>
                  <a:tcPr marL="54864" marR="54864" marT="18288" marB="18288" anchor="ctr">
                    <a:solidFill>
                      <a:srgbClr val="FFFFFF"/>
                    </a:solidFill>
                  </a:tcPr>
                </a:tc>
                <a:tc>
                  <a:txBody>
                    <a:bodyPr wrap="square"/>
                    <a:lstStyle/>
                    <a:p>
                      <a:pPr algn="ctr"/>
                      <a:r>
                        <a:rPr sz="950" b="0">
                          <a:solidFill>
                            <a:srgbClr val="4A5566"/>
                          </a:solidFill>
                          <a:latin typeface="맑은 고딕"/>
                          <a:ea typeface="맑은 고딕"/>
                          <a:cs typeface="맑은 고딕"/>
                        </a:rPr>
                        <a:t>9</a:t>
                      </a:r>
                    </a:p>
                  </a:txBody>
                  <a:tcPr marL="54864" marR="54864" marT="18288" marB="18288" anchor="ctr">
                    <a:solidFill>
                      <a:srgbClr val="FFFFFF"/>
                    </a:solidFill>
                  </a:tcPr>
                </a:tc>
                <a:tc>
                  <a:txBody>
                    <a:bodyPr wrap="square"/>
                    <a:lstStyle/>
                    <a:p>
                      <a:pPr algn="l"/>
                      <a:r>
                        <a:rPr sz="950" b="0">
                          <a:solidFill>
                            <a:srgbClr val="4A5566"/>
                          </a:solidFill>
                          <a:latin typeface="맑은 고딕"/>
                          <a:ea typeface="맑은 고딕"/>
                          <a:cs typeface="맑은 고딕"/>
                        </a:rPr>
                        <a:t>기존 설계서에 정의됨 — 읽기 참조</a:t>
                      </a:r>
                    </a:p>
                  </a:txBody>
                  <a:tcPr marL="54864" marR="54864" marT="18288" marB="18288" anchor="ctr">
                    <a:solidFill>
                      <a:srgbClr val="FFFFFF"/>
                    </a:solidFill>
                  </a:tcPr>
                </a:tc>
              </a:tr>
              <a:tr h="274320">
                <a:tc>
                  <a:txBody>
                    <a:bodyPr wrap="square"/>
                    <a:lstStyle/>
                    <a:p>
                      <a:pPr algn="l"/>
                      <a:r>
                        <a:rPr sz="950" b="1">
                          <a:solidFill>
                            <a:srgbClr val="1F3864"/>
                          </a:solidFill>
                          <a:latin typeface="맑은 고딕"/>
                          <a:ea typeface="맑은 고딕"/>
                          <a:cs typeface="맑은 고딕"/>
                        </a:rPr>
                        <a:t>SHP_INSPECTIONS</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검사결과</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포장출하관리</a:t>
                      </a:r>
                    </a:p>
                  </a:txBody>
                  <a:tcPr marL="54864" marR="54864" marT="18288" marB="18288" anchor="ctr">
                    <a:solidFill>
                      <a:srgbClr val="FAFBFD"/>
                    </a:solidFill>
                  </a:tcPr>
                </a:tc>
                <a:tc>
                  <a:txBody>
                    <a:bodyPr wrap="square"/>
                    <a:lstStyle/>
                    <a:p>
                      <a:pPr algn="ctr"/>
                      <a:r>
                        <a:rPr sz="950" b="0">
                          <a:solidFill>
                            <a:srgbClr val="4A5566"/>
                          </a:solidFill>
                          <a:latin typeface="맑은 고딕"/>
                          <a:ea typeface="맑은 고딕"/>
                          <a:cs typeface="맑은 고딕"/>
                        </a:rPr>
                        <a:t>기존</a:t>
                      </a:r>
                    </a:p>
                  </a:txBody>
                  <a:tcPr marL="54864" marR="54864" marT="18288" marB="18288" anchor="ctr">
                    <a:solidFill>
                      <a:srgbClr val="FAFBFD"/>
                    </a:solidFill>
                  </a:tcPr>
                </a:tc>
                <a:tc>
                  <a:txBody>
                    <a:bodyPr wrap="square"/>
                    <a:lstStyle/>
                    <a:p>
                      <a:pPr algn="ctr"/>
                      <a:r>
                        <a:rPr sz="950" b="0">
                          <a:solidFill>
                            <a:srgbClr val="4A5566"/>
                          </a:solidFill>
                          <a:latin typeface="맑은 고딕"/>
                          <a:ea typeface="맑은 고딕"/>
                          <a:cs typeface="맑은 고딕"/>
                        </a:rPr>
                        <a:t>11</a:t>
                      </a:r>
                    </a:p>
                  </a:txBody>
                  <a:tcPr marL="54864" marR="54864" marT="18288" marB="18288" anchor="ctr">
                    <a:solidFill>
                      <a:srgbClr val="FAFBFD"/>
                    </a:solidFill>
                  </a:tcPr>
                </a:tc>
                <a:tc>
                  <a:txBody>
                    <a:bodyPr wrap="square"/>
                    <a:lstStyle/>
                    <a:p>
                      <a:pPr algn="l"/>
                      <a:r>
                        <a:rPr sz="950" b="0">
                          <a:solidFill>
                            <a:srgbClr val="4A5566"/>
                          </a:solidFill>
                          <a:latin typeface="맑은 고딕"/>
                          <a:ea typeface="맑은 고딕"/>
                          <a:cs typeface="맑은 고딕"/>
                        </a:rPr>
                        <a:t>기존 설계서에 정의됨 — 읽기 참조</a:t>
                      </a:r>
                    </a:p>
                  </a:txBody>
                  <a:tcPr marL="54864" marR="54864" marT="18288" marB="18288" anchor="ctr">
                    <a:solidFill>
                      <a:srgbClr val="FAFBFD"/>
                    </a:solidFill>
                  </a:tcPr>
                </a:tc>
              </a:tr>
            </a:tbl>
          </a:graphicData>
        </a:graphic>
      </p:graphicFrame>
      <p:sp>
        <p:nvSpPr>
          <p:cNvPr id="9" name="TextBox 8"/>
          <p:cNvSpPr txBox="1"/>
          <p:nvPr/>
        </p:nvSpPr>
        <p:spPr>
          <a:xfrm>
            <a:off x="411480" y="3255264"/>
            <a:ext cx="11368735" cy="365760"/>
          </a:xfrm>
          <a:prstGeom prst="rect">
            <a:avLst/>
          </a:prstGeom>
          <a:noFill/>
        </p:spPr>
        <p:txBody>
          <a:bodyPr wrap="square" lIns="0" rIns="0" tIns="0" bIns="0" anchor="t">
            <a:spAutoFit/>
          </a:bodyPr>
          <a:lstStyle/>
          <a:p>
            <a:pPr algn="l">
              <a:spcAft>
                <a:spcPts val="0"/>
              </a:spcAft>
            </a:pPr>
            <a:r>
              <a:rPr sz="950" b="0">
                <a:solidFill>
                  <a:srgbClr val="7A8598"/>
                </a:solidFill>
                <a:latin typeface="맑은 고딕"/>
                <a:ea typeface="맑은 고딕"/>
                <a:cs typeface="맑은 고딕"/>
              </a:rPr>
              <a:t>이 화면이 쓰는 테이블 6종 중 신규 2종. 다음 장에 신규 테이블의 컬럼 정의를 싣는다 — 기존 테이블 정의는 SF-TD5 데이터베이스설계서를 따른다.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3. 출고서류 발행</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SHP_DOCUMENTS  출고서류발행</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신규 테이블</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411480" y="932688"/>
          <a:ext cx="11365992" cy="4700016"/>
        </p:xfrm>
        <a:graphic>
          <a:graphicData uri="http://schemas.openxmlformats.org/drawingml/2006/table">
            <a:tbl>
              <a:tblPr firstRow="1" bandRow="1">
                <a:tableStyleId>{5C22544A-7EE6-4342-B048-85BDC9FD1C3A}</a:tableStyleId>
              </a:tblPr>
              <a:tblGrid>
                <a:gridCol w="2103120"/>
                <a:gridCol w="2286000"/>
                <a:gridCol w="1554480"/>
                <a:gridCol w="566928"/>
                <a:gridCol w="566928"/>
                <a:gridCol w="658368"/>
                <a:gridCol w="3630168"/>
              </a:tblGrid>
              <a:tr h="310896">
                <a:tc>
                  <a:txBody>
                    <a:bodyPr wrap="square"/>
                    <a:lstStyle/>
                    <a:p>
                      <a:pPr algn="l"/>
                      <a:r>
                        <a:rPr sz="1000" b="1">
                          <a:solidFill>
                            <a:srgbClr val="1F3864"/>
                          </a:solidFill>
                          <a:latin typeface="맑은 고딕"/>
                          <a:ea typeface="맑은 고딕"/>
                          <a:cs typeface="맑은 고딕"/>
                        </a:rPr>
                        <a:t>항목명</a:t>
                      </a:r>
                    </a:p>
                  </a:txBody>
                  <a:tcPr marL="54864" marR="54864" marT="18288" marB="18288" anchor="ctr">
                    <a:solidFill>
                      <a:srgbClr val="F2F5FA"/>
                    </a:solidFill>
                  </a:tcPr>
                </a:tc>
                <a:tc>
                  <a:txBody>
                    <a:bodyPr wrap="square"/>
                    <a:lstStyle/>
                    <a:p>
                      <a:pPr algn="l"/>
                      <a:r>
                        <a:rPr sz="1000" b="1">
                          <a:solidFill>
                            <a:srgbClr val="1F3864"/>
                          </a:solidFill>
                          <a:latin typeface="맑은 고딕"/>
                          <a:ea typeface="맑은 고딕"/>
                          <a:cs typeface="맑은 고딕"/>
                        </a:rPr>
                        <a:t>컬럼명</a:t>
                      </a:r>
                    </a:p>
                  </a:txBody>
                  <a:tcPr marL="54864" marR="54864" marT="18288" marB="18288" anchor="ctr">
                    <a:solidFill>
                      <a:srgbClr val="F2F5FA"/>
                    </a:solidFill>
                  </a:tcPr>
                </a:tc>
                <a:tc>
                  <a:txBody>
                    <a:bodyPr wrap="square"/>
                    <a:lstStyle/>
                    <a:p>
                      <a:pPr algn="l"/>
                      <a:r>
                        <a:rPr sz="1000" b="1">
                          <a:solidFill>
                            <a:srgbClr val="1F3864"/>
                          </a:solidFill>
                          <a:latin typeface="맑은 고딕"/>
                          <a:ea typeface="맑은 고딕"/>
                          <a:cs typeface="맑은 고딕"/>
                        </a:rPr>
                        <a:t>타입</a:t>
                      </a:r>
                    </a:p>
                  </a:txBody>
                  <a:tcPr marL="54864" marR="54864" marT="18288" marB="18288" anchor="ctr">
                    <a:solidFill>
                      <a:srgbClr val="F2F5FA"/>
                    </a:solidFill>
                  </a:tcPr>
                </a:tc>
                <a:tc>
                  <a:txBody>
                    <a:bodyPr wrap="square"/>
                    <a:lstStyle/>
                    <a:p>
                      <a:pPr algn="ctr"/>
                      <a:r>
                        <a:rPr sz="1000" b="1">
                          <a:solidFill>
                            <a:srgbClr val="1F3864"/>
                          </a:solidFill>
                          <a:latin typeface="맑은 고딕"/>
                          <a:ea typeface="맑은 고딕"/>
                          <a:cs typeface="맑은 고딕"/>
                        </a:rPr>
                        <a:t>PK</a:t>
                      </a:r>
                    </a:p>
                  </a:txBody>
                  <a:tcPr marL="54864" marR="54864" marT="18288" marB="18288" anchor="ctr">
                    <a:solidFill>
                      <a:srgbClr val="F2F5FA"/>
                    </a:solidFill>
                  </a:tcPr>
                </a:tc>
                <a:tc>
                  <a:txBody>
                    <a:bodyPr wrap="square"/>
                    <a:lstStyle/>
                    <a:p>
                      <a:pPr algn="ctr"/>
                      <a:r>
                        <a:rPr sz="1000" b="1">
                          <a:solidFill>
                            <a:srgbClr val="1F3864"/>
                          </a:solidFill>
                          <a:latin typeface="맑은 고딕"/>
                          <a:ea typeface="맑은 고딕"/>
                          <a:cs typeface="맑은 고딕"/>
                        </a:rPr>
                        <a:t>FK</a:t>
                      </a:r>
                    </a:p>
                  </a:txBody>
                  <a:tcPr marL="54864" marR="54864" marT="18288" marB="18288" anchor="ctr">
                    <a:solidFill>
                      <a:srgbClr val="F2F5FA"/>
                    </a:solidFill>
                  </a:tcPr>
                </a:tc>
                <a:tc>
                  <a:txBody>
                    <a:bodyPr wrap="square"/>
                    <a:lstStyle/>
                    <a:p>
                      <a:pPr algn="ctr"/>
                      <a:r>
                        <a:rPr sz="1000" b="1">
                          <a:solidFill>
                            <a:srgbClr val="1F3864"/>
                          </a:solidFill>
                          <a:latin typeface="맑은 고딕"/>
                          <a:ea typeface="맑은 고딕"/>
                          <a:cs typeface="맑은 고딕"/>
                        </a:rPr>
                        <a:t>NULL</a:t>
                      </a:r>
                    </a:p>
                  </a:txBody>
                  <a:tcPr marL="54864" marR="54864" marT="18288" marB="18288" anchor="ctr">
                    <a:solidFill>
                      <a:srgbClr val="F2F5FA"/>
                    </a:solidFill>
                  </a:tcPr>
                </a:tc>
                <a:tc>
                  <a:txBody>
                    <a:bodyPr wrap="square"/>
                    <a:lstStyle/>
                    <a:p>
                      <a:pPr algn="l"/>
                      <a:r>
                        <a:rPr sz="1000" b="1">
                          <a:solidFill>
                            <a:srgbClr val="1F3864"/>
                          </a:solidFill>
                          <a:latin typeface="맑은 고딕"/>
                          <a:ea typeface="맑은 고딕"/>
                          <a:cs typeface="맑은 고딕"/>
                        </a:rPr>
                        <a:t>비고</a:t>
                      </a:r>
                    </a:p>
                  </a:txBody>
                  <a:tcPr marL="54864" marR="54864" marT="18288" marB="18288" anchor="ctr">
                    <a:solidFill>
                      <a:srgbClr val="F2F5FA"/>
                    </a:solidFill>
                  </a:tcPr>
                </a:tc>
              </a:tr>
              <a:tr h="274320">
                <a:tc>
                  <a:txBody>
                    <a:bodyPr wrap="square"/>
                    <a:lstStyle/>
                    <a:p>
                      <a:pPr algn="l"/>
                      <a:r>
                        <a:rPr sz="900" b="0">
                          <a:solidFill>
                            <a:srgbClr val="4A5566"/>
                          </a:solidFill>
                          <a:latin typeface="맑은 고딕"/>
                          <a:ea typeface="맑은 고딕"/>
                          <a:cs typeface="맑은 고딕"/>
                        </a:rPr>
                        <a:t>출고서류 ID</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SHP_DOCUMENT_ID</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BIGSERIAL</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발행번호</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DOCUMENT_NO</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VARCHAR(50)</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Unique, 채번 규칙 확정 필요</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출하 ID</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SHIPMENT_ID</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BIGINT</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FK: SHP_SHIPMENTS</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서류양식 ID</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DOC_TEMPLATE_ID</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BIGINT</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FK: SHP_DOCUMENT_TEMPLATES</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서류 종류</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DOC_TYPE</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VARCHAR(30)</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FK: BAS_COMMON_CODES (거래명세서/출하증명서/품질성적서)</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발행 일시</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ISSUED_DT</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TIMESTAMP</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출하 승인 완료 시점 자동 발행</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발행 방식</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ISSUE_METHOD</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VARCHAR(20)</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PDF/인쇄/이메일</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발행 상태</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ISSUE_STATUS</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VARCHAR(20)</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발행대기/발행완료/재발행/실패</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반영 총중량(kg)</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TOTAL_WEIGHT</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NUMERIC(14,3)</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포장 시점 중량 자동 반영</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반영 바코드 번호</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BARCODE_NO</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VARCHAR(100)</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포장 시점 바코드 자동 반영</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PDF 파일 경로</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FILE_PATH</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VARCHAR(500)</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수신 이메일</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RECIPIENT_EMAIL</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VARCHAR(200)</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마스킹 대상</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발행자 ID</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ISSUER_ID</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BIGINT</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FK: SYS_USERS</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ERP 연계 여부</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ERP_SYNC_YN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CHAR(1)</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기본값 N, 연계 방식 확정 후 적용</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등록 일시</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CREATED_DT</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TIMESTAMP</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수정 일시</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UPDATED_DT</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TIMESTAMP</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AFBFD"/>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3. 출고서류 발행</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SHP_DOCUMENT_TEMPLATES  출고서류양식</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신규 테이블</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411480" y="932688"/>
          <a:ext cx="11365992" cy="3143250"/>
        </p:xfrm>
        <a:graphic>
          <a:graphicData uri="http://schemas.openxmlformats.org/drawingml/2006/table">
            <a:tbl>
              <a:tblPr firstRow="1" bandRow="1">
                <a:tableStyleId>{5C22544A-7EE6-4342-B048-85BDC9FD1C3A}</a:tableStyleId>
              </a:tblPr>
              <a:tblGrid>
                <a:gridCol w="2103120"/>
                <a:gridCol w="2286000"/>
                <a:gridCol w="1554480"/>
                <a:gridCol w="566928"/>
                <a:gridCol w="566928"/>
                <a:gridCol w="658368"/>
                <a:gridCol w="3630168"/>
              </a:tblGrid>
              <a:tr h="310896">
                <a:tc>
                  <a:txBody>
                    <a:bodyPr wrap="square"/>
                    <a:lstStyle/>
                    <a:p>
                      <a:pPr algn="l"/>
                      <a:r>
                        <a:rPr sz="1000" b="1">
                          <a:solidFill>
                            <a:srgbClr val="1F3864"/>
                          </a:solidFill>
                          <a:latin typeface="맑은 고딕"/>
                          <a:ea typeface="맑은 고딕"/>
                          <a:cs typeface="맑은 고딕"/>
                        </a:rPr>
                        <a:t>항목명</a:t>
                      </a:r>
                    </a:p>
                  </a:txBody>
                  <a:tcPr marL="54864" marR="54864" marT="18288" marB="18288" anchor="ctr">
                    <a:solidFill>
                      <a:srgbClr val="F2F5FA"/>
                    </a:solidFill>
                  </a:tcPr>
                </a:tc>
                <a:tc>
                  <a:txBody>
                    <a:bodyPr wrap="square"/>
                    <a:lstStyle/>
                    <a:p>
                      <a:pPr algn="l"/>
                      <a:r>
                        <a:rPr sz="1000" b="1">
                          <a:solidFill>
                            <a:srgbClr val="1F3864"/>
                          </a:solidFill>
                          <a:latin typeface="맑은 고딕"/>
                          <a:ea typeface="맑은 고딕"/>
                          <a:cs typeface="맑은 고딕"/>
                        </a:rPr>
                        <a:t>컬럼명</a:t>
                      </a:r>
                    </a:p>
                  </a:txBody>
                  <a:tcPr marL="54864" marR="54864" marT="18288" marB="18288" anchor="ctr">
                    <a:solidFill>
                      <a:srgbClr val="F2F5FA"/>
                    </a:solidFill>
                  </a:tcPr>
                </a:tc>
                <a:tc>
                  <a:txBody>
                    <a:bodyPr wrap="square"/>
                    <a:lstStyle/>
                    <a:p>
                      <a:pPr algn="l"/>
                      <a:r>
                        <a:rPr sz="1000" b="1">
                          <a:solidFill>
                            <a:srgbClr val="1F3864"/>
                          </a:solidFill>
                          <a:latin typeface="맑은 고딕"/>
                          <a:ea typeface="맑은 고딕"/>
                          <a:cs typeface="맑은 고딕"/>
                        </a:rPr>
                        <a:t>타입</a:t>
                      </a:r>
                    </a:p>
                  </a:txBody>
                  <a:tcPr marL="54864" marR="54864" marT="18288" marB="18288" anchor="ctr">
                    <a:solidFill>
                      <a:srgbClr val="F2F5FA"/>
                    </a:solidFill>
                  </a:tcPr>
                </a:tc>
                <a:tc>
                  <a:txBody>
                    <a:bodyPr wrap="square"/>
                    <a:lstStyle/>
                    <a:p>
                      <a:pPr algn="ctr"/>
                      <a:r>
                        <a:rPr sz="1000" b="1">
                          <a:solidFill>
                            <a:srgbClr val="1F3864"/>
                          </a:solidFill>
                          <a:latin typeface="맑은 고딕"/>
                          <a:ea typeface="맑은 고딕"/>
                          <a:cs typeface="맑은 고딕"/>
                        </a:rPr>
                        <a:t>PK</a:t>
                      </a:r>
                    </a:p>
                  </a:txBody>
                  <a:tcPr marL="54864" marR="54864" marT="18288" marB="18288" anchor="ctr">
                    <a:solidFill>
                      <a:srgbClr val="F2F5FA"/>
                    </a:solidFill>
                  </a:tcPr>
                </a:tc>
                <a:tc>
                  <a:txBody>
                    <a:bodyPr wrap="square"/>
                    <a:lstStyle/>
                    <a:p>
                      <a:pPr algn="ctr"/>
                      <a:r>
                        <a:rPr sz="1000" b="1">
                          <a:solidFill>
                            <a:srgbClr val="1F3864"/>
                          </a:solidFill>
                          <a:latin typeface="맑은 고딕"/>
                          <a:ea typeface="맑은 고딕"/>
                          <a:cs typeface="맑은 고딕"/>
                        </a:rPr>
                        <a:t>FK</a:t>
                      </a:r>
                    </a:p>
                  </a:txBody>
                  <a:tcPr marL="54864" marR="54864" marT="18288" marB="18288" anchor="ctr">
                    <a:solidFill>
                      <a:srgbClr val="F2F5FA"/>
                    </a:solidFill>
                  </a:tcPr>
                </a:tc>
                <a:tc>
                  <a:txBody>
                    <a:bodyPr wrap="square"/>
                    <a:lstStyle/>
                    <a:p>
                      <a:pPr algn="ctr"/>
                      <a:r>
                        <a:rPr sz="1000" b="1">
                          <a:solidFill>
                            <a:srgbClr val="1F3864"/>
                          </a:solidFill>
                          <a:latin typeface="맑은 고딕"/>
                          <a:ea typeface="맑은 고딕"/>
                          <a:cs typeface="맑은 고딕"/>
                        </a:rPr>
                        <a:t>NULL</a:t>
                      </a:r>
                    </a:p>
                  </a:txBody>
                  <a:tcPr marL="54864" marR="54864" marT="18288" marB="18288" anchor="ctr">
                    <a:solidFill>
                      <a:srgbClr val="F2F5FA"/>
                    </a:solidFill>
                  </a:tcPr>
                </a:tc>
                <a:tc>
                  <a:txBody>
                    <a:bodyPr wrap="square"/>
                    <a:lstStyle/>
                    <a:p>
                      <a:pPr algn="l"/>
                      <a:r>
                        <a:rPr sz="1000" b="1">
                          <a:solidFill>
                            <a:srgbClr val="1F3864"/>
                          </a:solidFill>
                          <a:latin typeface="맑은 고딕"/>
                          <a:ea typeface="맑은 고딕"/>
                          <a:cs typeface="맑은 고딕"/>
                        </a:rPr>
                        <a:t>비고</a:t>
                      </a:r>
                    </a:p>
                  </a:txBody>
                  <a:tcPr marL="54864" marR="54864" marT="18288" marB="18288" anchor="ctr">
                    <a:solidFill>
                      <a:srgbClr val="F2F5FA"/>
                    </a:solidFill>
                  </a:tcPr>
                </a:tc>
              </a:tr>
              <a:tr h="274320">
                <a:tc>
                  <a:txBody>
                    <a:bodyPr wrap="square"/>
                    <a:lstStyle/>
                    <a:p>
                      <a:pPr algn="l"/>
                      <a:r>
                        <a:rPr sz="900" b="0">
                          <a:solidFill>
                            <a:srgbClr val="4A5566"/>
                          </a:solidFill>
                          <a:latin typeface="맑은 고딕"/>
                          <a:ea typeface="맑은 고딕"/>
                          <a:cs typeface="맑은 고딕"/>
                        </a:rPr>
                        <a:t>서류양식 ID</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DOC_TEMPLATE_ID</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BIGSERIAL</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서류 종류</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DOC_TYPE</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VARCHAR(30)</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FK: BAS_COMMON_CODES (거래명세서/출하증명서/품질성적서)</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양식명</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TEMPLATE_NAME</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VARCHAR(200)</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FFFFF"/>
                    </a:solidFill>
                  </a:tcPr>
                </a:tc>
              </a:tr>
              <a:tr h="363474">
                <a:tc>
                  <a:txBody>
                    <a:bodyPr wrap="square"/>
                    <a:lstStyle/>
                    <a:p>
                      <a:pPr algn="l"/>
                      <a:r>
                        <a:rPr sz="900" b="0">
                          <a:solidFill>
                            <a:srgbClr val="4A5566"/>
                          </a:solidFill>
                          <a:latin typeface="맑은 고딕"/>
                          <a:ea typeface="맑은 고딕"/>
                          <a:cs typeface="맑은 고딕"/>
                        </a:rPr>
                        <a:t>양식 출처</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TEMPLATE_SOURCE</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VARCHAR(50)</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ERP 양식 재사용/자체 양식 — ERP 연계 방식(MES-AD2-059) 확정 후 결정</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양식 파일 경로</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TEMPLATE_PATH</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VARCHAR(500)</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Data Lake 저장 경로</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포함 항목 정의</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FIELD_MAP</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JSONB</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서류 포함 데이터 항목 매핑(확정 전 잠정)</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버전</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TEMPLATE_VER</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VARCHAR(20)</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사용여부</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USE_YN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CHAR(1)</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기본값 Y</a:t>
                      </a:r>
                    </a:p>
                  </a:txBody>
                  <a:tcPr marL="54864" marR="54864" marT="18288" marB="18288" anchor="ctr">
                    <a:solidFill>
                      <a:srgbClr val="FAFBFD"/>
                    </a:solidFill>
                  </a:tcPr>
                </a:tc>
              </a:tr>
              <a:tr h="274320">
                <a:tc>
                  <a:txBody>
                    <a:bodyPr wrap="square"/>
                    <a:lstStyle/>
                    <a:p>
                      <a:pPr algn="l"/>
                      <a:r>
                        <a:rPr sz="900" b="0">
                          <a:solidFill>
                            <a:srgbClr val="4A5566"/>
                          </a:solidFill>
                          <a:latin typeface="맑은 고딕"/>
                          <a:ea typeface="맑은 고딕"/>
                          <a:cs typeface="맑은 고딕"/>
                        </a:rPr>
                        <a:t>등록 일시</a:t>
                      </a:r>
                    </a:p>
                  </a:txBody>
                  <a:tcPr marL="54864" marR="54864" marT="18288" marB="18288" anchor="ctr">
                    <a:solidFill>
                      <a:srgbClr val="FFFFFF"/>
                    </a:solidFill>
                  </a:tcPr>
                </a:tc>
                <a:tc>
                  <a:txBody>
                    <a:bodyPr wrap="square"/>
                    <a:lstStyle/>
                    <a:p>
                      <a:pPr algn="l"/>
                      <a:r>
                        <a:rPr sz="900" b="1">
                          <a:solidFill>
                            <a:srgbClr val="1F3864"/>
                          </a:solidFill>
                          <a:latin typeface="맑은 고딕"/>
                          <a:ea typeface="맑은 고딕"/>
                          <a:cs typeface="맑은 고딕"/>
                        </a:rPr>
                        <a:t>CREATED_DT</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TIMESTAMP</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FFFFF"/>
                    </a:solidFill>
                  </a:tcPr>
                </a:tc>
                <a:tc>
                  <a:txBody>
                    <a:bodyPr wrap="square"/>
                    <a:lstStyle/>
                    <a:p>
                      <a:pPr algn="ctr"/>
                      <a:r>
                        <a:rPr sz="900" b="0">
                          <a:solidFill>
                            <a:srgbClr val="4A5566"/>
                          </a:solidFill>
                          <a:latin typeface="맑은 고딕"/>
                          <a:ea typeface="맑은 고딕"/>
                          <a:cs typeface="맑은 고딕"/>
                        </a:rPr>
                        <a:t>N</a:t>
                      </a:r>
                    </a:p>
                  </a:txBody>
                  <a:tcPr marL="54864" marR="54864" marT="18288" marB="18288" anchor="ctr">
                    <a:solidFill>
                      <a:srgbClr val="FFFFFF"/>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FFFFF"/>
                    </a:solidFill>
                  </a:tcPr>
                </a:tc>
              </a:tr>
              <a:tr h="274320">
                <a:tc>
                  <a:txBody>
                    <a:bodyPr wrap="square"/>
                    <a:lstStyle/>
                    <a:p>
                      <a:pPr algn="l"/>
                      <a:r>
                        <a:rPr sz="900" b="0">
                          <a:solidFill>
                            <a:srgbClr val="4A5566"/>
                          </a:solidFill>
                          <a:latin typeface="맑은 고딕"/>
                          <a:ea typeface="맑은 고딕"/>
                          <a:cs typeface="맑은 고딕"/>
                        </a:rPr>
                        <a:t>수정 일시</a:t>
                      </a:r>
                    </a:p>
                  </a:txBody>
                  <a:tcPr marL="54864" marR="54864" marT="18288" marB="18288" anchor="ctr">
                    <a:solidFill>
                      <a:srgbClr val="FAFBFD"/>
                    </a:solidFill>
                  </a:tcPr>
                </a:tc>
                <a:tc>
                  <a:txBody>
                    <a:bodyPr wrap="square"/>
                    <a:lstStyle/>
                    <a:p>
                      <a:pPr algn="l"/>
                      <a:r>
                        <a:rPr sz="900" b="1">
                          <a:solidFill>
                            <a:srgbClr val="1F3864"/>
                          </a:solidFill>
                          <a:latin typeface="맑은 고딕"/>
                          <a:ea typeface="맑은 고딕"/>
                          <a:cs typeface="맑은 고딕"/>
                        </a:rPr>
                        <a:t>UPDATED_DT</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TIMESTAMP</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
                      </a:r>
                    </a:p>
                  </a:txBody>
                  <a:tcPr marL="54864" marR="54864" marT="18288" marB="18288" anchor="ctr">
                    <a:solidFill>
                      <a:srgbClr val="FAFBFD"/>
                    </a:solidFill>
                  </a:tcPr>
                </a:tc>
                <a:tc>
                  <a:txBody>
                    <a:bodyPr wrap="square"/>
                    <a:lstStyle/>
                    <a:p>
                      <a:pPr algn="ctr"/>
                      <a:r>
                        <a:rPr sz="900" b="0">
                          <a:solidFill>
                            <a:srgbClr val="4A5566"/>
                          </a:solidFill>
                          <a:latin typeface="맑은 고딕"/>
                          <a:ea typeface="맑은 고딕"/>
                          <a:cs typeface="맑은 고딕"/>
                        </a:rPr>
                        <a:t>Y</a:t>
                      </a:r>
                    </a:p>
                  </a:txBody>
                  <a:tcPr marL="54864" marR="54864" marT="18288" marB="18288" anchor="ctr">
                    <a:solidFill>
                      <a:srgbClr val="FAFBFD"/>
                    </a:solidFill>
                  </a:tcPr>
                </a:tc>
                <a:tc>
                  <a:txBody>
                    <a:bodyPr wrap="square"/>
                    <a:lstStyle/>
                    <a:p>
                      <a:pPr algn="l"/>
                      <a:r>
                        <a:rPr sz="900" b="0">
                          <a:solidFill>
                            <a:srgbClr val="4A5566"/>
                          </a:solidFill>
                          <a:latin typeface="맑은 고딕"/>
                          <a:ea typeface="맑은 고딕"/>
                          <a:cs typeface="맑은 고딕"/>
                        </a:rPr>
                        <a:t/>
                      </a:r>
                    </a:p>
                  </a:txBody>
                  <a:tcPr marL="54864" marR="54864" marT="18288" marB="18288" anchor="ctr">
                    <a:solidFill>
                      <a:srgbClr val="FAFBFD"/>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3. 출고서류 발행</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확인 · 결정 필요 사항</a:t>
            </a:r>
          </a:p>
        </p:txBody>
      </p:sp>
      <p:sp>
        <p:nvSpPr>
          <p:cNvPr id="6" name="TextBox 5"/>
          <p:cNvSpPr txBox="1"/>
          <p:nvPr/>
        </p:nvSpPr>
        <p:spPr>
          <a:xfrm>
            <a:off x="10088575" y="256032"/>
            <a:ext cx="1828800" cy="274320"/>
          </a:xfrm>
          <a:prstGeom prst="rect">
            <a:avLst/>
          </a:prstGeom>
          <a:noFill/>
        </p:spPr>
        <p:txBody>
          <a:bodyPr wrap="square" lIns="0" rIns="0" tIns="0" bIns="0" anchor="t">
            <a:spAutoFit/>
          </a:bodyPr>
          <a:lstStyle/>
          <a:p>
            <a:pPr algn="r">
              <a:spcAft>
                <a:spcPts val="0"/>
              </a:spcAft>
            </a:pPr>
            <a:r>
              <a:rPr sz="1000" b="0">
                <a:solidFill>
                  <a:srgbClr val="7A8598"/>
                </a:solidFill>
                <a:latin typeface="맑은 고딕"/>
                <a:ea typeface="맑은 고딕"/>
                <a:cs typeface="맑은 고딕"/>
              </a:rPr>
              <a:t>협의 후 확정</a:t>
            </a:r>
          </a:p>
        </p:txBody>
      </p:sp>
      <p:sp>
        <p:nvSpPr>
          <p:cNvPr id="7" name="Rectangle 6"/>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411480" y="932688"/>
          <a:ext cx="11365992" cy="1956816"/>
        </p:xfrm>
        <a:graphic>
          <a:graphicData uri="http://schemas.openxmlformats.org/drawingml/2006/table">
            <a:tbl>
              <a:tblPr firstRow="1" bandRow="1">
                <a:tableStyleId>{5C22544A-7EE6-4342-B048-85BDC9FD1C3A}</a:tableStyleId>
              </a:tblPr>
              <a:tblGrid>
                <a:gridCol w="2377440"/>
                <a:gridCol w="3657600"/>
                <a:gridCol w="5330952"/>
              </a:tblGrid>
              <a:tr h="310896">
                <a:tc>
                  <a:txBody>
                    <a:bodyPr wrap="square"/>
                    <a:lstStyle/>
                    <a:p>
                      <a:pPr algn="l"/>
                      <a:r>
                        <a:rPr sz="1100" b="1">
                          <a:solidFill>
                            <a:srgbClr val="1F3864"/>
                          </a:solidFill>
                          <a:latin typeface="맑은 고딕"/>
                          <a:ea typeface="맑은 고딕"/>
                          <a:cs typeface="맑은 고딕"/>
                        </a:rPr>
                        <a:t>항목</a:t>
                      </a:r>
                    </a:p>
                  </a:txBody>
                  <a:tcPr marL="54864" marR="54864" marT="18288" marB="18288" anchor="ctr">
                    <a:solidFill>
                      <a:srgbClr val="F2F5FA"/>
                    </a:solidFill>
                  </a:tcPr>
                </a:tc>
                <a:tc>
                  <a:txBody>
                    <a:bodyPr wrap="square"/>
                    <a:lstStyle/>
                    <a:p>
                      <a:pPr algn="l"/>
                      <a:r>
                        <a:rPr sz="1100" b="1">
                          <a:solidFill>
                            <a:srgbClr val="1F3864"/>
                          </a:solidFill>
                          <a:latin typeface="맑은 고딕"/>
                          <a:ea typeface="맑은 고딕"/>
                          <a:cs typeface="맑은 고딕"/>
                        </a:rPr>
                        <a:t>반영한 값</a:t>
                      </a:r>
                    </a:p>
                  </a:txBody>
                  <a:tcPr marL="54864" marR="54864" marT="18288" marB="18288" anchor="ctr">
                    <a:solidFill>
                      <a:srgbClr val="F2F5FA"/>
                    </a:solidFill>
                  </a:tcPr>
                </a:tc>
                <a:tc>
                  <a:txBody>
                    <a:bodyPr wrap="square"/>
                    <a:lstStyle/>
                    <a:p>
                      <a:pPr algn="l"/>
                      <a:r>
                        <a:rPr sz="1100" b="1">
                          <a:solidFill>
                            <a:srgbClr val="1F3864"/>
                          </a:solidFill>
                          <a:latin typeface="맑은 고딕"/>
                          <a:ea typeface="맑은 고딕"/>
                          <a:cs typeface="맑은 고딕"/>
                        </a:rPr>
                        <a:t>상태</a:t>
                      </a:r>
                    </a:p>
                  </a:txBody>
                  <a:tcPr marL="54864" marR="54864" marT="18288" marB="18288" anchor="ctr">
                    <a:solidFill>
                      <a:srgbClr val="F2F5FA"/>
                    </a:solidFill>
                  </a:tcPr>
                </a:tc>
              </a:tr>
              <a:tr h="274320">
                <a:tc>
                  <a:txBody>
                    <a:bodyPr wrap="square"/>
                    <a:lstStyle/>
                    <a:p>
                      <a:pPr algn="l"/>
                      <a:r>
                        <a:rPr sz="1000" b="1">
                          <a:solidFill>
                            <a:srgbClr val="1C2430"/>
                          </a:solidFill>
                          <a:latin typeface="맑은 고딕"/>
                          <a:ea typeface="맑은 고딕"/>
                          <a:cs typeface="맑은 고딕"/>
                        </a:rPr>
                        <a:t>출고서류 종류</a:t>
                      </a:r>
                    </a:p>
                  </a:txBody>
                  <a:tcPr marL="54864" marR="54864" marT="18288" marB="18288" anchor="ctr">
                    <a:solidFill>
                      <a:srgbClr val="FFFFFF"/>
                    </a:solidFill>
                  </a:tcPr>
                </a:tc>
                <a:tc>
                  <a:txBody>
                    <a:bodyPr wrap="square"/>
                    <a:lstStyle/>
                    <a:p>
                      <a:pPr algn="l"/>
                      <a:r>
                        <a:rPr sz="1000" b="0">
                          <a:solidFill>
                            <a:srgbClr val="4A5566"/>
                          </a:solidFill>
                          <a:latin typeface="맑은 고딕"/>
                          <a:ea typeface="맑은 고딕"/>
                          <a:cs typeface="맑은 고딕"/>
                        </a:rPr>
                        <a:t>거래명세서 / 출하증명서 / 품질성적서 3종</a:t>
                      </a:r>
                    </a:p>
                  </a:txBody>
                  <a:tcPr marL="54864" marR="54864" marT="18288" marB="18288" anchor="ctr">
                    <a:solidFill>
                      <a:srgbClr val="FFFFFF"/>
                    </a:solidFill>
                  </a:tcPr>
                </a:tc>
                <a:tc>
                  <a:txBody>
                    <a:bodyPr wrap="square"/>
                    <a:lstStyle/>
                    <a:p>
                      <a:pPr algn="l"/>
                      <a:r>
                        <a:rPr sz="1000" b="0">
                          <a:solidFill>
                            <a:srgbClr val="4A5566"/>
                          </a:solidFill>
                          <a:latin typeface="맑은 고딕"/>
                          <a:ea typeface="맑은 고딕"/>
                          <a:cs typeface="맑은 고딕"/>
                        </a:rPr>
                        <a:t>킥오프 '내용(안)' 채택 — 확정 필요</a:t>
                      </a:r>
                    </a:p>
                  </a:txBody>
                  <a:tcPr marL="54864" marR="54864" marT="18288" marB="18288" anchor="ctr">
                    <a:solidFill>
                      <a:srgbClr val="FFFFFF"/>
                    </a:solidFill>
                  </a:tcPr>
                </a:tc>
              </a:tr>
              <a:tr h="274320">
                <a:tc>
                  <a:txBody>
                    <a:bodyPr wrap="square"/>
                    <a:lstStyle/>
                    <a:p>
                      <a:pPr algn="l"/>
                      <a:r>
                        <a:rPr sz="1000" b="1">
                          <a:solidFill>
                            <a:srgbClr val="1C2430"/>
                          </a:solidFill>
                          <a:latin typeface="맑은 고딕"/>
                          <a:ea typeface="맑은 고딕"/>
                          <a:cs typeface="맑은 고딕"/>
                        </a:rPr>
                        <a:t>서류 양식</a:t>
                      </a:r>
                    </a:p>
                  </a:txBody>
                  <a:tcPr marL="54864" marR="54864" marT="18288" marB="18288" anchor="ctr">
                    <a:solidFill>
                      <a:srgbClr val="FAFBFD"/>
                    </a:solidFill>
                  </a:tcPr>
                </a:tc>
                <a:tc>
                  <a:txBody>
                    <a:bodyPr wrap="square"/>
                    <a:lstStyle/>
                    <a:p>
                      <a:pPr algn="l"/>
                      <a:r>
                        <a:rPr sz="1000" b="0">
                          <a:solidFill>
                            <a:srgbClr val="4A5566"/>
                          </a:solidFill>
                          <a:latin typeface="맑은 고딕"/>
                          <a:ea typeface="맑은 고딕"/>
                          <a:cs typeface="맑은 고딕"/>
                        </a:rPr>
                        <a:t>기존 ERP 양식 재사용 전제</a:t>
                      </a:r>
                    </a:p>
                  </a:txBody>
                  <a:tcPr marL="54864" marR="54864" marT="18288" marB="18288" anchor="ctr">
                    <a:solidFill>
                      <a:srgbClr val="FAFBFD"/>
                    </a:solidFill>
                  </a:tcPr>
                </a:tc>
                <a:tc>
                  <a:txBody>
                    <a:bodyPr wrap="square"/>
                    <a:lstStyle/>
                    <a:p>
                      <a:pPr algn="l"/>
                      <a:r>
                        <a:rPr sz="1000" b="0">
                          <a:solidFill>
                            <a:srgbClr val="4A5566"/>
                          </a:solidFill>
                          <a:latin typeface="맑은 고딕"/>
                          <a:ea typeface="맑은 고딕"/>
                          <a:cs typeface="맑은 고딕"/>
                        </a:rPr>
                        <a:t>ERP 연계 방식 확정이 선행 과제 — 확정 전까지 양식·항목 잠정</a:t>
                      </a:r>
                    </a:p>
                  </a:txBody>
                  <a:tcPr marL="54864" marR="54864" marT="18288" marB="18288" anchor="ctr">
                    <a:solidFill>
                      <a:srgbClr val="FAFBFD"/>
                    </a:solidFill>
                  </a:tcPr>
                </a:tc>
              </a:tr>
              <a:tr h="274320">
                <a:tc>
                  <a:txBody>
                    <a:bodyPr wrap="square"/>
                    <a:lstStyle/>
                    <a:p>
                      <a:pPr algn="l"/>
                      <a:r>
                        <a:rPr sz="1000" b="1">
                          <a:solidFill>
                            <a:srgbClr val="1C2430"/>
                          </a:solidFill>
                          <a:latin typeface="맑은 고딕"/>
                          <a:ea typeface="맑은 고딕"/>
                          <a:cs typeface="맑은 고딕"/>
                        </a:rPr>
                        <a:t>발행 방식</a:t>
                      </a:r>
                    </a:p>
                  </a:txBody>
                  <a:tcPr marL="54864" marR="54864" marT="18288" marB="18288" anchor="ctr">
                    <a:solidFill>
                      <a:srgbClr val="FFFFFF"/>
                    </a:solidFill>
                  </a:tcPr>
                </a:tc>
                <a:tc>
                  <a:txBody>
                    <a:bodyPr wrap="square"/>
                    <a:lstStyle/>
                    <a:p>
                      <a:pPr algn="l"/>
                      <a:r>
                        <a:rPr sz="1000" b="0">
                          <a:solidFill>
                            <a:srgbClr val="4A5566"/>
                          </a:solidFill>
                          <a:latin typeface="맑은 고딕"/>
                          <a:ea typeface="맑은 고딕"/>
                          <a:cs typeface="맑은 고딕"/>
                        </a:rPr>
                        <a:t>PDF 다운로드 기본 + 인쇄 + 이메일 발송</a:t>
                      </a:r>
                    </a:p>
                  </a:txBody>
                  <a:tcPr marL="54864" marR="54864" marT="18288" marB="18288" anchor="ctr">
                    <a:solidFill>
                      <a:srgbClr val="FFFFFF"/>
                    </a:solidFill>
                  </a:tcPr>
                </a:tc>
                <a:tc>
                  <a:txBody>
                    <a:bodyPr wrap="square"/>
                    <a:lstStyle/>
                    <a:p>
                      <a:pPr algn="l"/>
                      <a:r>
                        <a:rPr sz="1000" b="0">
                          <a:solidFill>
                            <a:srgbClr val="4A5566"/>
                          </a:solidFill>
                          <a:latin typeface="맑은 고딕"/>
                          <a:ea typeface="맑은 고딕"/>
                          <a:cs typeface="맑은 고딕"/>
                        </a:rPr>
                        <a:t>킥오프 '내용(안)' 채택 — 확정 필요</a:t>
                      </a:r>
                    </a:p>
                  </a:txBody>
                  <a:tcPr marL="54864" marR="54864" marT="18288" marB="18288" anchor="ctr">
                    <a:solidFill>
                      <a:srgbClr val="FFFFFF"/>
                    </a:solidFill>
                  </a:tcPr>
                </a:tc>
              </a:tr>
              <a:tr h="274320">
                <a:tc>
                  <a:txBody>
                    <a:bodyPr wrap="square"/>
                    <a:lstStyle/>
                    <a:p>
                      <a:pPr algn="l"/>
                      <a:r>
                        <a:rPr sz="1000" b="1">
                          <a:solidFill>
                            <a:srgbClr val="1C2430"/>
                          </a:solidFill>
                          <a:latin typeface="맑은 고딕"/>
                          <a:ea typeface="맑은 고딕"/>
                          <a:cs typeface="맑은 고딕"/>
                        </a:rPr>
                        <a:t>바코드·중량 연동 범위</a:t>
                      </a:r>
                    </a:p>
                  </a:txBody>
                  <a:tcPr marL="54864" marR="54864" marT="18288" marB="18288" anchor="ctr">
                    <a:solidFill>
                      <a:srgbClr val="FAFBFD"/>
                    </a:solidFill>
                  </a:tcPr>
                </a:tc>
                <a:tc>
                  <a:txBody>
                    <a:bodyPr wrap="square"/>
                    <a:lstStyle/>
                    <a:p>
                      <a:pPr algn="l"/>
                      <a:r>
                        <a:rPr sz="1000" b="0">
                          <a:solidFill>
                            <a:srgbClr val="4A5566"/>
                          </a:solidFill>
                          <a:latin typeface="맑은 고딕"/>
                          <a:ea typeface="맑은 고딕"/>
                          <a:cs typeface="맑은 고딕"/>
                        </a:rPr>
                        <a:t>포장 시점 SHP_PACKINGS 데이터 자동 반영</a:t>
                      </a:r>
                    </a:p>
                  </a:txBody>
                  <a:tcPr marL="54864" marR="54864" marT="18288" marB="18288" anchor="ctr">
                    <a:solidFill>
                      <a:srgbClr val="FAFBFD"/>
                    </a:solidFill>
                  </a:tcPr>
                </a:tc>
                <a:tc>
                  <a:txBody>
                    <a:bodyPr wrap="square"/>
                    <a:lstStyle/>
                    <a:p>
                      <a:pPr algn="l"/>
                      <a:r>
                        <a:rPr sz="1000" b="0">
                          <a:solidFill>
                            <a:srgbClr val="4A5566"/>
                          </a:solidFill>
                          <a:latin typeface="맑은 고딕"/>
                          <a:ea typeface="맑은 고딕"/>
                          <a:cs typeface="맑은 고딕"/>
                        </a:rPr>
                        <a:t>연동 항목 확정 필요</a:t>
                      </a:r>
                    </a:p>
                  </a:txBody>
                  <a:tcPr marL="54864" marR="54864" marT="18288" marB="18288" anchor="ctr">
                    <a:solidFill>
                      <a:srgbClr val="FAFBFD"/>
                    </a:solidFill>
                  </a:tcPr>
                </a:tc>
              </a:tr>
              <a:tr h="274320">
                <a:tc>
                  <a:txBody>
                    <a:bodyPr wrap="square"/>
                    <a:lstStyle/>
                    <a:p>
                      <a:pPr algn="l"/>
                      <a:r>
                        <a:rPr sz="1000" b="1">
                          <a:solidFill>
                            <a:srgbClr val="1C2430"/>
                          </a:solidFill>
                          <a:latin typeface="맑은 고딕"/>
                          <a:ea typeface="맑은 고딕"/>
                          <a:cs typeface="맑은 고딕"/>
                        </a:rPr>
                        <a:t>서류 포함 데이터 항목</a:t>
                      </a:r>
                    </a:p>
                  </a:txBody>
                  <a:tcPr marL="54864" marR="54864" marT="18288" marB="18288" anchor="ctr">
                    <a:solidFill>
                      <a:srgbClr val="FFFFFF"/>
                    </a:solidFill>
                  </a:tcPr>
                </a:tc>
                <a:tc>
                  <a:txBody>
                    <a:bodyPr wrap="square"/>
                    <a:lstStyle/>
                    <a:p>
                      <a:pPr algn="l"/>
                      <a:r>
                        <a:rPr sz="1000" b="0">
                          <a:solidFill>
                            <a:srgbClr val="4A5566"/>
                          </a:solidFill>
                          <a:latin typeface="맑은 고딕"/>
                          <a:ea typeface="맑은 고딕"/>
                          <a:cs typeface="맑은 고딕"/>
                        </a:rPr>
                        <a:t>SHP_DOCUMENT_TEMPLATES.FIELD_MAP 으로 관리</a:t>
                      </a:r>
                    </a:p>
                  </a:txBody>
                  <a:tcPr marL="54864" marR="54864" marT="18288" marB="18288" anchor="ctr">
                    <a:solidFill>
                      <a:srgbClr val="FFFFFF"/>
                    </a:solidFill>
                  </a:tcPr>
                </a:tc>
                <a:tc>
                  <a:txBody>
                    <a:bodyPr wrap="square"/>
                    <a:lstStyle/>
                    <a:p>
                      <a:pPr algn="l"/>
                      <a:r>
                        <a:rPr sz="1000" b="0">
                          <a:solidFill>
                            <a:srgbClr val="4A5566"/>
                          </a:solidFill>
                          <a:latin typeface="맑은 고딕"/>
                          <a:ea typeface="맑은 고딕"/>
                          <a:cs typeface="맑은 고딕"/>
                        </a:rPr>
                        <a:t>미확정 — ERP 양식 확정 후 채움</a:t>
                      </a:r>
                    </a:p>
                  </a:txBody>
                  <a:tcPr marL="54864" marR="54864" marT="18288" marB="18288" anchor="ctr">
                    <a:solidFill>
                      <a:srgbClr val="FFFFFF"/>
                    </a:solidFill>
                  </a:tcPr>
                </a:tc>
              </a:tr>
              <a:tr h="274320">
                <a:tc>
                  <a:txBody>
                    <a:bodyPr wrap="square"/>
                    <a:lstStyle/>
                    <a:p>
                      <a:pPr algn="l"/>
                      <a:r>
                        <a:rPr sz="1000" b="1">
                          <a:solidFill>
                            <a:srgbClr val="1C2430"/>
                          </a:solidFill>
                          <a:latin typeface="맑은 고딕"/>
                          <a:ea typeface="맑은 고딕"/>
                          <a:cs typeface="맑은 고딕"/>
                        </a:rPr>
                        <a:t>FP 산정 반영</a:t>
                      </a:r>
                    </a:p>
                  </a:txBody>
                  <a:tcPr marL="54864" marR="54864" marT="18288" marB="18288" anchor="ctr">
                    <a:solidFill>
                      <a:srgbClr val="FAFBFD"/>
                    </a:solidFill>
                  </a:tcPr>
                </a:tc>
                <a:tc>
                  <a:txBody>
                    <a:bodyPr wrap="square"/>
                    <a:lstStyle/>
                    <a:p>
                      <a:pPr algn="l"/>
                      <a:r>
                        <a:rPr sz="1000" b="0">
                          <a:solidFill>
                            <a:srgbClr val="4A5566"/>
                          </a:solidFill>
                          <a:latin typeface="맑은 고딕"/>
                          <a:ea typeface="맑은 고딕"/>
                          <a:cs typeface="맑은 고딕"/>
                        </a:rPr>
                        <a:t>9점(안) · 단위프로세스 2건</a:t>
                      </a:r>
                    </a:p>
                  </a:txBody>
                  <a:tcPr marL="54864" marR="54864" marT="18288" marB="18288" anchor="ctr">
                    <a:solidFill>
                      <a:srgbClr val="FAFBFD"/>
                    </a:solidFill>
                  </a:tcPr>
                </a:tc>
                <a:tc>
                  <a:txBody>
                    <a:bodyPr wrap="square"/>
                    <a:lstStyle/>
                    <a:p>
                      <a:pPr algn="l"/>
                      <a:r>
                        <a:rPr sz="1000" b="0">
                          <a:solidFill>
                            <a:srgbClr val="4A5566"/>
                          </a:solidFill>
                          <a:latin typeface="맑은 고딕"/>
                          <a:ea typeface="맑은 고딕"/>
                          <a:cs typeface="맑은 고딕"/>
                        </a:rPr>
                        <a:t>ERP 연계 방식에 따라 변동 가능</a:t>
                      </a:r>
                    </a:p>
                  </a:txBody>
                  <a:tcPr marL="54864" marR="54864" marT="18288" marB="18288" anchor="ctr">
                    <a:solidFill>
                      <a:srgbClr val="FAFBFD"/>
                    </a:solidFill>
                  </a:tcPr>
                </a:tc>
              </a:tr>
            </a:tbl>
          </a:graphicData>
        </a:graphic>
      </p:graphicFrame>
      <p:sp>
        <p:nvSpPr>
          <p:cNvPr id="9" name="TextBox 8"/>
          <p:cNvSpPr txBox="1"/>
          <p:nvPr/>
        </p:nvSpPr>
        <p:spPr>
          <a:xfrm>
            <a:off x="411480" y="3145536"/>
            <a:ext cx="11368735" cy="365760"/>
          </a:xfrm>
          <a:prstGeom prst="rect">
            <a:avLst/>
          </a:prstGeom>
          <a:noFill/>
        </p:spPr>
        <p:txBody>
          <a:bodyPr wrap="square" lIns="0" rIns="0" tIns="0" bIns="0" anchor="t">
            <a:spAutoFit/>
          </a:bodyPr>
          <a:lstStyle/>
          <a:p>
            <a:pPr algn="l">
              <a:spcAft>
                <a:spcPts val="0"/>
              </a:spcAft>
            </a:pPr>
            <a:r>
              <a:rPr sz="950" b="0">
                <a:solidFill>
                  <a:srgbClr val="7A8598"/>
                </a:solidFill>
                <a:latin typeface="맑은 고딕"/>
                <a:ea typeface="맑은 고딕"/>
                <a:cs typeface="맑은 고딕"/>
              </a:rPr>
              <a:t>‘반영한 값’은 킥오프 회의 자료의 ‘내용(안)’을 채택한 것이다. 확정 근거가 없는 항목은 기존 산출물 관례대로 미확정으로 두었다.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13232"/>
          </a:xfrm>
          <a:prstGeom prst="rect">
            <a:avLst/>
          </a:prstGeom>
          <a:solidFill>
            <a:srgbClr val="16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7132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82296"/>
            <a:ext cx="8229600" cy="201168"/>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신규 요구사항 상세설명서</a:t>
            </a:r>
          </a:p>
        </p:txBody>
      </p:sp>
      <p:sp>
        <p:nvSpPr>
          <p:cNvPr id="5" name="TextBox 4"/>
          <p:cNvSpPr txBox="1"/>
          <p:nvPr/>
        </p:nvSpPr>
        <p:spPr>
          <a:xfrm>
            <a:off x="219456" y="274320"/>
            <a:ext cx="8229600" cy="365760"/>
          </a:xfrm>
          <a:prstGeom prst="rect">
            <a:avLst/>
          </a:prstGeom>
          <a:noFill/>
        </p:spPr>
        <p:txBody>
          <a:bodyPr wrap="square" lIns="0" rIns="0" tIns="0" bIns="0" anchor="t">
            <a:spAutoFit/>
          </a:bodyPr>
          <a:lstStyle/>
          <a:p>
            <a:pPr algn="l">
              <a:spcAft>
                <a:spcPts val="0"/>
              </a:spcAft>
            </a:pPr>
            <a:r>
              <a:rPr sz="1700" b="1">
                <a:solidFill>
                  <a:srgbClr val="FFFFFF"/>
                </a:solidFill>
                <a:latin typeface="맑은 고딕"/>
                <a:ea typeface="맑은 고딕"/>
                <a:cs typeface="맑은 고딕"/>
              </a:rPr>
              <a:t>다음 단계</a:t>
            </a:r>
          </a:p>
        </p:txBody>
      </p:sp>
      <p:sp>
        <p:nvSpPr>
          <p:cNvPr id="6" name="Rectangle 5"/>
          <p:cNvSpPr/>
          <p:nvPr/>
        </p:nvSpPr>
        <p:spPr>
          <a:xfrm>
            <a:off x="0" y="6583680"/>
            <a:ext cx="12191695" cy="13716"/>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024128"/>
            <a:ext cx="402336" cy="40233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106424"/>
            <a:ext cx="402336" cy="237744"/>
          </a:xfrm>
          <a:prstGeom prst="rect">
            <a:avLst/>
          </a:prstGeom>
          <a:noFill/>
        </p:spPr>
        <p:txBody>
          <a:bodyPr wrap="square" lIns="0" rIns="0" tIns="0" bIns="0" anchor="t">
            <a:spAutoFit/>
          </a:bodyPr>
          <a:lstStyle/>
          <a:p>
            <a:pPr algn="ctr">
              <a:spcAft>
                <a:spcPts val="0"/>
              </a:spcAft>
            </a:pPr>
            <a:r>
              <a:rPr sz="1300" b="1">
                <a:solidFill>
                  <a:srgbClr val="FFFFFF"/>
                </a:solidFill>
                <a:latin typeface="맑은 고딕"/>
                <a:ea typeface="맑은 고딕"/>
                <a:cs typeface="맑은 고딕"/>
              </a:rPr>
              <a:t>1</a:t>
            </a:r>
          </a:p>
        </p:txBody>
      </p:sp>
      <p:sp>
        <p:nvSpPr>
          <p:cNvPr id="9" name="TextBox 8"/>
          <p:cNvSpPr txBox="1"/>
          <p:nvPr/>
        </p:nvSpPr>
        <p:spPr>
          <a:xfrm>
            <a:off x="978408" y="1042416"/>
            <a:ext cx="10801807" cy="256032"/>
          </a:xfrm>
          <a:prstGeom prst="rect">
            <a:avLst/>
          </a:prstGeom>
          <a:noFill/>
        </p:spPr>
        <p:txBody>
          <a:bodyPr wrap="square" lIns="0" rIns="0" tIns="0" bIns="0" anchor="t">
            <a:spAutoFit/>
          </a:bodyPr>
          <a:lstStyle/>
          <a:p>
            <a:pPr algn="l">
              <a:spcAft>
                <a:spcPts val="0"/>
              </a:spcAft>
            </a:pPr>
            <a:r>
              <a:rPr sz="1250" b="1">
                <a:solidFill>
                  <a:srgbClr val="1C2430"/>
                </a:solidFill>
                <a:latin typeface="맑은 고딕"/>
                <a:ea typeface="맑은 고딕"/>
                <a:cs typeface="맑은 고딕"/>
              </a:rPr>
              <a:t>‘확인 필요’ 항목을 고려솔더·공급기업 협의로 확정</a:t>
            </a:r>
          </a:p>
        </p:txBody>
      </p:sp>
      <p:sp>
        <p:nvSpPr>
          <p:cNvPr id="10" name="TextBox 9"/>
          <p:cNvSpPr txBox="1"/>
          <p:nvPr/>
        </p:nvSpPr>
        <p:spPr>
          <a:xfrm>
            <a:off x="978408" y="1316736"/>
            <a:ext cx="10801807" cy="402336"/>
          </a:xfrm>
          <a:prstGeom prst="rect">
            <a:avLst/>
          </a:prstGeom>
          <a:noFill/>
        </p:spPr>
        <p:txBody>
          <a:bodyPr wrap="square" lIns="0" rIns="0" tIns="0" bIns="0" anchor="t">
            <a:spAutoFit/>
          </a:bodyPr>
          <a:lstStyle/>
          <a:p>
            <a:pPr algn="l">
              <a:lnSpc>
                <a:spcPct val="126000"/>
              </a:lnSpc>
              <a:spcAft>
                <a:spcPts val="0"/>
              </a:spcAft>
            </a:pPr>
            <a:r>
              <a:rPr sz="950" b="0">
                <a:solidFill>
                  <a:srgbClr val="4A5566"/>
                </a:solidFill>
                <a:latin typeface="맑은 고딕"/>
                <a:ea typeface="맑은 고딕"/>
                <a:cs typeface="맑은 고딕"/>
              </a:rPr>
              <a:t>특히 원자재별 안전재고 기준 수량과 ERP 연계 방식 — 이 둘이 정해져야 REQ-01 경고와 REQ-02 자동생성·REQ-03 양식이 성립한다</a:t>
            </a:r>
          </a:p>
        </p:txBody>
      </p:sp>
      <p:sp>
        <p:nvSpPr>
          <p:cNvPr id="11" name="Rectangle 10"/>
          <p:cNvSpPr/>
          <p:nvPr/>
        </p:nvSpPr>
        <p:spPr>
          <a:xfrm>
            <a:off x="411480" y="2103120"/>
            <a:ext cx="402336" cy="40233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2185415"/>
            <a:ext cx="402336" cy="237744"/>
          </a:xfrm>
          <a:prstGeom prst="rect">
            <a:avLst/>
          </a:prstGeom>
          <a:noFill/>
        </p:spPr>
        <p:txBody>
          <a:bodyPr wrap="square" lIns="0" rIns="0" tIns="0" bIns="0" anchor="t">
            <a:spAutoFit/>
          </a:bodyPr>
          <a:lstStyle/>
          <a:p>
            <a:pPr algn="ctr">
              <a:spcAft>
                <a:spcPts val="0"/>
              </a:spcAft>
            </a:pPr>
            <a:r>
              <a:rPr sz="1300" b="1">
                <a:solidFill>
                  <a:srgbClr val="FFFFFF"/>
                </a:solidFill>
                <a:latin typeface="맑은 고딕"/>
                <a:ea typeface="맑은 고딕"/>
                <a:cs typeface="맑은 고딕"/>
              </a:rPr>
              <a:t>2</a:t>
            </a:r>
          </a:p>
        </p:txBody>
      </p:sp>
      <p:sp>
        <p:nvSpPr>
          <p:cNvPr id="13" name="TextBox 12"/>
          <p:cNvSpPr txBox="1"/>
          <p:nvPr/>
        </p:nvSpPr>
        <p:spPr>
          <a:xfrm>
            <a:off x="978408" y="2121408"/>
            <a:ext cx="10801807" cy="256032"/>
          </a:xfrm>
          <a:prstGeom prst="rect">
            <a:avLst/>
          </a:prstGeom>
          <a:noFill/>
        </p:spPr>
        <p:txBody>
          <a:bodyPr wrap="square" lIns="0" rIns="0" tIns="0" bIns="0" anchor="t">
            <a:spAutoFit/>
          </a:bodyPr>
          <a:lstStyle/>
          <a:p>
            <a:pPr algn="l">
              <a:spcAft>
                <a:spcPts val="0"/>
              </a:spcAft>
            </a:pPr>
            <a:r>
              <a:rPr sz="1250" b="1">
                <a:solidFill>
                  <a:srgbClr val="1C2430"/>
                </a:solidFill>
                <a:latin typeface="맑은 고딕"/>
                <a:ea typeface="맑은 고딕"/>
                <a:cs typeface="맑은 고딕"/>
              </a:rPr>
              <a:t>확정 내용을 SF-AD2 요구사항정의서에 신규 요구사항으로 추가</a:t>
            </a:r>
          </a:p>
        </p:txBody>
      </p:sp>
      <p:sp>
        <p:nvSpPr>
          <p:cNvPr id="14" name="TextBox 13"/>
          <p:cNvSpPr txBox="1"/>
          <p:nvPr/>
        </p:nvSpPr>
        <p:spPr>
          <a:xfrm>
            <a:off x="978408" y="2395727"/>
            <a:ext cx="10801807" cy="402336"/>
          </a:xfrm>
          <a:prstGeom prst="rect">
            <a:avLst/>
          </a:prstGeom>
          <a:noFill/>
        </p:spPr>
        <p:txBody>
          <a:bodyPr wrap="square" lIns="0" rIns="0" tIns="0" bIns="0" anchor="t">
            <a:spAutoFit/>
          </a:bodyPr>
          <a:lstStyle/>
          <a:p>
            <a:pPr algn="l">
              <a:lnSpc>
                <a:spcPct val="126000"/>
              </a:lnSpc>
              <a:spcAft>
                <a:spcPts val="0"/>
              </a:spcAft>
            </a:pPr>
            <a:r>
              <a:rPr sz="950" b="0">
                <a:solidFill>
                  <a:srgbClr val="4A5566"/>
                </a:solidFill>
                <a:latin typeface="맑은 고딕"/>
                <a:ea typeface="맑은 고딕"/>
                <a:cs typeface="맑은 고딕"/>
              </a:rPr>
              <a:t>편입 시점의 번호 체계를 다시 확인한다 — 현행 063~075는 비기능 요구사항이 쓰고 있다</a:t>
            </a:r>
          </a:p>
        </p:txBody>
      </p:sp>
      <p:sp>
        <p:nvSpPr>
          <p:cNvPr id="15" name="Rectangle 14"/>
          <p:cNvSpPr/>
          <p:nvPr/>
        </p:nvSpPr>
        <p:spPr>
          <a:xfrm>
            <a:off x="411480" y="3182111"/>
            <a:ext cx="402336" cy="40233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3264407"/>
            <a:ext cx="402336" cy="237744"/>
          </a:xfrm>
          <a:prstGeom prst="rect">
            <a:avLst/>
          </a:prstGeom>
          <a:noFill/>
        </p:spPr>
        <p:txBody>
          <a:bodyPr wrap="square" lIns="0" rIns="0" tIns="0" bIns="0" anchor="t">
            <a:spAutoFit/>
          </a:bodyPr>
          <a:lstStyle/>
          <a:p>
            <a:pPr algn="ctr">
              <a:spcAft>
                <a:spcPts val="0"/>
              </a:spcAft>
            </a:pPr>
            <a:r>
              <a:rPr sz="1300" b="1">
                <a:solidFill>
                  <a:srgbClr val="FFFFFF"/>
                </a:solidFill>
                <a:latin typeface="맑은 고딕"/>
                <a:ea typeface="맑은 고딕"/>
                <a:cs typeface="맑은 고딕"/>
              </a:rPr>
              <a:t>3</a:t>
            </a:r>
          </a:p>
        </p:txBody>
      </p:sp>
      <p:sp>
        <p:nvSpPr>
          <p:cNvPr id="17" name="TextBox 16"/>
          <p:cNvSpPr txBox="1"/>
          <p:nvPr/>
        </p:nvSpPr>
        <p:spPr>
          <a:xfrm>
            <a:off x="978408" y="3200399"/>
            <a:ext cx="10801807" cy="256032"/>
          </a:xfrm>
          <a:prstGeom prst="rect">
            <a:avLst/>
          </a:prstGeom>
          <a:noFill/>
        </p:spPr>
        <p:txBody>
          <a:bodyPr wrap="square" lIns="0" rIns="0" tIns="0" bIns="0" anchor="t">
            <a:spAutoFit/>
          </a:bodyPr>
          <a:lstStyle/>
          <a:p>
            <a:pPr algn="l">
              <a:spcAft>
                <a:spcPts val="0"/>
              </a:spcAft>
            </a:pPr>
            <a:r>
              <a:rPr sz="1250" b="1">
                <a:solidFill>
                  <a:srgbClr val="1C2430"/>
                </a:solidFill>
                <a:latin typeface="맑은 고딕"/>
                <a:ea typeface="맑은 고딕"/>
                <a:cs typeface="맑은 고딕"/>
              </a:rPr>
              <a:t>SF-AD3 기능대비표에 신규·변경 항목 반영</a:t>
            </a:r>
          </a:p>
        </p:txBody>
      </p:sp>
      <p:sp>
        <p:nvSpPr>
          <p:cNvPr id="18" name="TextBox 17"/>
          <p:cNvSpPr txBox="1"/>
          <p:nvPr/>
        </p:nvSpPr>
        <p:spPr>
          <a:xfrm>
            <a:off x="978408" y="3474719"/>
            <a:ext cx="10801807" cy="402336"/>
          </a:xfrm>
          <a:prstGeom prst="rect">
            <a:avLst/>
          </a:prstGeom>
          <a:noFill/>
        </p:spPr>
        <p:txBody>
          <a:bodyPr wrap="square" lIns="0" rIns="0" tIns="0" bIns="0" anchor="t">
            <a:spAutoFit/>
          </a:bodyPr>
          <a:lstStyle/>
          <a:p>
            <a:pPr algn="l">
              <a:lnSpc>
                <a:spcPct val="126000"/>
              </a:lnSpc>
              <a:spcAft>
                <a:spcPts val="0"/>
              </a:spcAft>
            </a:pPr>
            <a:r>
              <a:rPr sz="950" b="0">
                <a:solidFill>
                  <a:srgbClr val="4A5566"/>
                </a:solidFill>
                <a:latin typeface="맑은 고딕"/>
                <a:ea typeface="맑은 고딕"/>
                <a:cs typeface="맑은 고딕"/>
              </a:rPr>
              <a:t>구분 판정 — 배합·재고 현황판 추가 / 작업지시관리 추가 / 출고서류 발행 변경</a:t>
            </a:r>
          </a:p>
        </p:txBody>
      </p:sp>
      <p:sp>
        <p:nvSpPr>
          <p:cNvPr id="19" name="Rectangle 18"/>
          <p:cNvSpPr/>
          <p:nvPr/>
        </p:nvSpPr>
        <p:spPr>
          <a:xfrm>
            <a:off x="411480" y="4261103"/>
            <a:ext cx="402336" cy="402336"/>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4343399"/>
            <a:ext cx="402336" cy="237744"/>
          </a:xfrm>
          <a:prstGeom prst="rect">
            <a:avLst/>
          </a:prstGeom>
          <a:noFill/>
        </p:spPr>
        <p:txBody>
          <a:bodyPr wrap="square" lIns="0" rIns="0" tIns="0" bIns="0" anchor="t">
            <a:spAutoFit/>
          </a:bodyPr>
          <a:lstStyle/>
          <a:p>
            <a:pPr algn="ctr">
              <a:spcAft>
                <a:spcPts val="0"/>
              </a:spcAft>
            </a:pPr>
            <a:r>
              <a:rPr sz="1300" b="1">
                <a:solidFill>
                  <a:srgbClr val="FFFFFF"/>
                </a:solidFill>
                <a:latin typeface="맑은 고딕"/>
                <a:ea typeface="맑은 고딕"/>
                <a:cs typeface="맑은 고딕"/>
              </a:rPr>
              <a:t>4</a:t>
            </a:r>
          </a:p>
        </p:txBody>
      </p:sp>
      <p:sp>
        <p:nvSpPr>
          <p:cNvPr id="21" name="TextBox 20"/>
          <p:cNvSpPr txBox="1"/>
          <p:nvPr/>
        </p:nvSpPr>
        <p:spPr>
          <a:xfrm>
            <a:off x="978408" y="4279391"/>
            <a:ext cx="10801807" cy="256032"/>
          </a:xfrm>
          <a:prstGeom prst="rect">
            <a:avLst/>
          </a:prstGeom>
          <a:noFill/>
        </p:spPr>
        <p:txBody>
          <a:bodyPr wrap="square" lIns="0" rIns="0" tIns="0" bIns="0" anchor="t">
            <a:spAutoFit/>
          </a:bodyPr>
          <a:lstStyle/>
          <a:p>
            <a:pPr algn="l">
              <a:spcAft>
                <a:spcPts val="0"/>
              </a:spcAft>
            </a:pPr>
            <a:r>
              <a:rPr sz="1250" b="1">
                <a:solidFill>
                  <a:srgbClr val="1C2430"/>
                </a:solidFill>
                <a:latin typeface="맑은 고딕"/>
                <a:ea typeface="맑은 고딕"/>
                <a:cs typeface="맑은 고딕"/>
              </a:rPr>
              <a:t>추가 FP 산정 및 사업비 영향 협의</a:t>
            </a:r>
          </a:p>
        </p:txBody>
      </p:sp>
      <p:sp>
        <p:nvSpPr>
          <p:cNvPr id="22" name="TextBox 21"/>
          <p:cNvSpPr txBox="1"/>
          <p:nvPr/>
        </p:nvSpPr>
        <p:spPr>
          <a:xfrm>
            <a:off x="978408" y="4553712"/>
            <a:ext cx="10801807" cy="402336"/>
          </a:xfrm>
          <a:prstGeom prst="rect">
            <a:avLst/>
          </a:prstGeom>
          <a:noFill/>
        </p:spPr>
        <p:txBody>
          <a:bodyPr wrap="square" lIns="0" rIns="0" tIns="0" bIns="0" anchor="t">
            <a:spAutoFit/>
          </a:bodyPr>
          <a:lstStyle/>
          <a:p>
            <a:pPr algn="l">
              <a:lnSpc>
                <a:spcPct val="126000"/>
              </a:lnSpc>
              <a:spcAft>
                <a:spcPts val="0"/>
              </a:spcAft>
            </a:pPr>
            <a:r>
              <a:rPr sz="950" b="0">
                <a:solidFill>
                  <a:srgbClr val="4A5566"/>
                </a:solidFill>
                <a:latin typeface="맑은 고딕"/>
                <a:ea typeface="맑은 고딕"/>
                <a:cs typeface="맑은 고딕"/>
              </a:rPr>
              <a:t>REQ-02(작업지시관리) 영향이 가장 크다 — 11점(안) · 단위프로세스 3건</a:t>
            </a:r>
          </a:p>
        </p:txBody>
      </p:sp>
      <p:sp>
        <p:nvSpPr>
          <p:cNvPr id="23" name="Rectangle 22"/>
          <p:cNvSpPr/>
          <p:nvPr/>
        </p:nvSpPr>
        <p:spPr>
          <a:xfrm>
            <a:off x="411480" y="5907024"/>
            <a:ext cx="11368735" cy="18288"/>
          </a:xfrm>
          <a:prstGeom prst="rect">
            <a:avLst/>
          </a:prstGeom>
          <a:solidFill>
            <a:srgbClr val="D5DA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6035040"/>
            <a:ext cx="11368735" cy="219456"/>
          </a:xfrm>
          <a:prstGeom prst="rect">
            <a:avLst/>
          </a:prstGeom>
          <a:noFill/>
        </p:spPr>
        <p:txBody>
          <a:bodyPr wrap="square" lIns="0" rIns="0" tIns="0" bIns="0" anchor="t">
            <a:spAutoFit/>
          </a:bodyPr>
          <a:lstStyle/>
          <a:p>
            <a:pPr algn="l">
              <a:spcAft>
                <a:spcPts val="0"/>
              </a:spcAft>
            </a:pPr>
            <a:r>
              <a:rPr sz="900" b="0">
                <a:solidFill>
                  <a:srgbClr val="7A8598"/>
                </a:solidFill>
                <a:latin typeface="맑은 고딕"/>
                <a:ea typeface="맑은 고딕"/>
                <a:cs typeface="맑은 고딕"/>
              </a:rPr>
              <a:t>근거 : 고려솔더_신규요구사항_3건_1.pptx (2026-08 킥오프 회의 논의) · 킥오프 회의록 4-3 / 5장(5-1~5-3)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